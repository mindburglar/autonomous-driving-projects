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3"/>
    <p:sldMasterId id="2147483660" r:id="rId4"/>
  </p:sldMasterIdLst>
  <p:notesMasterIdLst>
    <p:notesMasterId r:id="rId8"/>
  </p:notesMasterIdLst>
  <p:sldIdLst>
    <p:sldId id="256" r:id="rId5"/>
    <p:sldId id="257" r:id="rId6"/>
    <p:sldId id="258" r:id="rId7"/>
    <p:sldId id="299" r:id="rId9"/>
    <p:sldId id="259" r:id="rId10"/>
    <p:sldId id="301" r:id="rId11"/>
    <p:sldId id="286" r:id="rId12"/>
    <p:sldId id="302" r:id="rId13"/>
    <p:sldId id="309" r:id="rId14"/>
    <p:sldId id="304" r:id="rId15"/>
    <p:sldId id="305" r:id="rId16"/>
    <p:sldId id="306" r:id="rId17"/>
    <p:sldId id="315" r:id="rId18"/>
    <p:sldId id="307" r:id="rId19"/>
    <p:sldId id="308" r:id="rId20"/>
    <p:sldId id="290" r:id="rId21"/>
    <p:sldId id="316" r:id="rId22"/>
    <p:sldId id="317" r:id="rId23"/>
    <p:sldId id="318" r:id="rId24"/>
    <p:sldId id="319" r:id="rId25"/>
    <p:sldId id="320" r:id="rId26"/>
    <p:sldId id="321" r:id="rId27"/>
    <p:sldId id="322" r:id="rId28"/>
    <p:sldId id="323" r:id="rId29"/>
    <p:sldId id="329" r:id="rId30"/>
    <p:sldId id="324" r:id="rId31"/>
    <p:sldId id="325" r:id="rId32"/>
    <p:sldId id="296" r:id="rId33"/>
    <p:sldId id="326" r:id="rId34"/>
    <p:sldId id="327" r:id="rId35"/>
    <p:sldId id="330" r:id="rId36"/>
    <p:sldId id="328" r:id="rId37"/>
    <p:sldId id="260" r:id="rId38"/>
  </p:sldIdLst>
  <p:sldSz cx="12192000" cy="6858000"/>
  <p:notesSz cx="6858000" cy="9144000"/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20" userDrawn="1">
          <p15:clr>
            <a:srgbClr val="A4A3A4"/>
          </p15:clr>
        </p15:guide>
        <p15:guide id="2" pos="7254" userDrawn="1">
          <p15:clr>
            <a:srgbClr val="A4A3A4"/>
          </p15:clr>
        </p15:guide>
        <p15:guide id="4" orient="horz" pos="654" userDrawn="1">
          <p15:clr>
            <a:srgbClr val="A4A3A4"/>
          </p15:clr>
        </p15:guide>
        <p15:guide id="6" orient="horz" pos="37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85BD"/>
    <a:srgbClr val="CBDAEE"/>
    <a:srgbClr val="0F1D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335" autoAdjust="0"/>
  </p:normalViewPr>
  <p:slideViewPr>
    <p:cSldViewPr snapToGrid="0" showGuides="1">
      <p:cViewPr>
        <p:scale>
          <a:sx n="90" d="100"/>
          <a:sy n="90" d="100"/>
        </p:scale>
        <p:origin x="-1356" y="-660"/>
      </p:cViewPr>
      <p:guideLst>
        <p:guide pos="420"/>
        <p:guide pos="7254"/>
        <p:guide orient="horz" pos="654"/>
        <p:guide orient="horz" pos="37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2" Type="http://schemas.openxmlformats.org/officeDocument/2006/relationships/tags" Target="tags/tag184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Master" Target="slideMasters/slideMaster3.xml"/><Relationship Id="rId39" Type="http://schemas.openxmlformats.org/officeDocument/2006/relationships/presProps" Target="presProps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9A9838-C669-4CFC-BC3F-3E7AFBE90D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1578E-9792-4C27-9B38-4288BB9C376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模板来自于：第一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D1578E-9792-4C27-9B38-4288BB9C37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本次汇报基于六篇核心文献展开。Milestones Part II是全局主线综述，为我们提供了感知与规划整体演进的框架。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在感知侧，我们选取了三篇代表性工作：Faster R-CNN奠定了2D目标检测的范式，BEVFormer代表了多模态BEV感知的当前主流方向，UniAD则展示了端到端感知规划一体化的前沿探索。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在规划侧，DRL Survey梳理了强化学习在自动驾驶中的应用全貌，Frenet Frame则是局部轨迹规划的经典方法。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简单来说，综述定框架，五篇补关键节点，共同构成我们对技术演进脉络的完整理解。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这张时间轴展示了感知与规划两大模块的整体演进脉络。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在感知侧，经历了从单传感器时代，到多传感器融合，再到BEV统一表示、Occupancy细粒度建模，发展到今天的4D时序感知和世界模型方向。Faster R-CNN是2D检测的奠基之作，BEVFormer代表了当前BEV多模态融合的主流，UniAD则展示了端到端感知规划一体化的前沿。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在规划侧，从早期的规则方法和图搜索算法，发展到基于最优控制的轨迹生成方法，再到基于强化学习和模仿学习的学习型决策，当前正在向端到端规划的方向演进。Frenet Frame是最优控制轨迹生成的经典代表，DRL Survey梳理了学习型决策的全貌，UniAD则是端到端规划的里程碑工作。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可以看到，两条主线都在向"统一表示、数据驱动、端到端"的方向收敛。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D1578E-9792-4C27-9B38-4288BB9C37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感知模块是自动驾驶的"眼睛和耳朵"，包含五大子任务：定位、检测、场景理解、预测和跟踪。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在传感器层面，各种传感器各有优劣：GNSS+IMU提供全局定位但城市峡谷易受干扰；视觉相机语义丰富成本低但受光照影响；LiDAR几何精度高但缺乏语义信息；雷达和超声波作为特定场景的补充。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没有任何单一传感器能完美覆盖所有场景，因此多传感器融合成为必然趋势，但标定和时间同步也带来了复杂度。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在定位方面，技术路线从早期的GNSS/IMU组合导航，发展到视觉SLAM、LiDAR SLAM，再到今天的多传感器融合SLAM，精度和鲁棒性不断提升。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环境模型的表示方式经历了五次重要演进：从最初的2D图像和检测框，到加入深度信息的深度图和视差图，再到3D体素和点云表示，然后发展到BEV鸟瞰图统一表示，最新的方向是Occupancy占用网格。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BEV表示之所以成为当前主流，核心在于三个优势：统一空间、传感器无关、便于与规划模块对接。它把不同传感器的数据投影到同一个鸟瞰视角下，天然解决了多传感器融合的坐标系问题。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Occupancy占用网格则进一步突破了BEV的局限：它以体素为单位进行细粒度建模，能够覆盖异形障碍物和未见过的物体类别，同时保留实例信息，还支持做未来时序的预测。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这一演进的总体趋势是：从像素到3D，从检测框到稠密占用，从静态到动态时序。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BEVFormer是BEV感知领域的里程碑工作，解决了多传感器视角不同、语义不一致的融合难题。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它的核心是四个组件：BEV Queries作为可学习的鸟瞰图查询向量，空间交叉注意力实现相机特征与BEV空间的交互，时序自注意力融合历史BEV特征，可变形注意力降低计算复杂度。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在nuScenes测试集上达到了74.1%的NDS，纯视觉方案达到了SOTA水平。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BEVFormer的学术意义在于：它建立了统一的BEV表示框架，一个框架同时支持检测、分割、跟踪、占用预测等多个任务，开创了时空融合的新范式，也为后来的UniAD等端到端工作奠定了表示基础。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Faster R-CNN是2D目标检测领域的奠基性工作，发表于2015年。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它的核心创新有四点：第一，提出RPN区域提议网络，替代了之前慢速的选择性搜索方法；第二，设计了多尺度、多比例的Anchor Boxes先验框；第三，提议网络和检测网络共享卷积特征，大幅提升速度；第四，通过四步交替训练实现联合优化。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Faster R-CNN对自动驾驶检测领域影响深远：它奠定了"深度检测+区域提议"的范式，后来的3D检测工作如VoxelNet、PointPillars都继承了区域提议的思想，多尺度Anchor的设计也启发了3D Anchor的维度设计，共享特征提取更是成为多任务检测的基础。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3D检测是自动驾驶感知的核心任务，经历了三条技术路线的并行发展。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第一条是视觉3D检测路线，从单目3D到双目3D，再到深度估计辅助，优势是成本低、部署容易，但精度受限于深度估计的准确性。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第二条是LiDAR 3D检测路线，分为体素法如VoxelNet和PointPillars，以及直接处理点云的点法如PointRCNN和VoteNet，优势是几何精度高，但LiDAR成本昂贵且缺乏语义信息。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第三条是当前的主流方向——融合BEV检测，包括纯相机BEV方法如BEVFormer、DETR3D、PETR，以及相机加LiDAR、多传感器融合的方案。BEV统一表示成为当前的主流范式，未来方向是时序融合和Occupancy占用预测。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多目标跟踪和场景理解是感知模块的另外两个重要组成部分。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跟踪技术方面，经历了三代演进：从早期的传统方法，包括卡尔曼滤波、图搜索和匈牙利匹配；到神经网络方法，用CNN提取特征、RNN/LSTM建模时序；再到今天的端到端跟踪，如MOTR、TrackFormer，以及UniAD中的TrackFormer，实现了检测和跟踪的端到端联合优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在场景理解方面，包含语义分割、实例分割、全景分割、深度估计、光流和场景流等任务。这些任务为检测、跟踪和规划提供像素级和点级的语义支撑。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整体趋势是：从单任务走向多任务统一，从2D表示走向BEV 3D表示，从静态理解走向动态时序建模。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总结一下感知模块的技术演进。从四个维度来看：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传感器方面，从单传感器发展到多传感器，再到现在的多模态融合，各传感器互补增强，但标定和时间同步的复杂度也在上升。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环境模型方面，从2D图像框到3D体素点云，再到BEV统一表示，最新方向是Occupancy占用网格，表示方式越来越统一、越来越稠密。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目标检测方面，Faster R-CNN奠定了2D检测的范式，然后发展到3D检测，再到BEV检测，最新的方向是时空融合。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跟踪方面，从传统的卡尔曼滤波和匈牙利匹配，发展到神经网络方法，再到端到端的检测跟踪一体化。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总体来看，感知模块的演进趋势是：统一表示、时序融合、多任务协同、端到端。感知不再是一个独立模块，而是与预测、规划深度耦合，向"规划导向"的方向演进，这一点在UniAD中体现得尤为明显。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模板来自于：第一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D1578E-9792-4C27-9B38-4288BB9C37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规划模块是自动驾驶的"决策中枢"，通常分为三个层次。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最上层是全局路径规划，负责从起点到终点的道路级大方向，使用Dijkstra、A*等图搜索算法，以及分层导航方法。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中间层是局部行为规划，决定具体的驾驶行为：跟车、变道、超车、让行、汇入等。这一层经历了从规则方法到概率方法，再到学习型方法的演进。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最下层是局部轨迹规划，生成短期的、舒适安全的行驶轨迹。这一层的方法包括基于Frenet坐标的最优控制方法，以及最新的学习型和端到端方法。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规划输出的轨迹最终交给控制器，由PID或MPC等控制器完成精确的轨迹跟踪。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全局路径规划解决的问题是：在有向图路网中，寻找从起点到终点的最小代价路径。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方法主要分为四类：目标导向的搜索方法，如Dijkstra、A*、D*等；分隔法，把连续空间划分为网格或路网；分层法，高层用粗粒度路网，底层做细化，大幅提升效率；以及有界跳法，在有限邻域内跳跃搜索。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经典算法中，Dijkstra是最基础的最短路径算法，完备但速度较慢。A*算法加入了启发式函数，大幅提升了搜索效率，是实际系统中最常用的方法。RRT是基于采样的方法，更适合高维空间的路径规划。分层规划则是当前城市路网导航的工业标准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行为决策是规划模块的中间层，决定车辆的具体驾驶行为。早期的行为决策主要有两类方法：规则式和概率式。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规则式决策包括有限状态机和决策树、行为树。有限状态机通过离散的状态跳转来组织驾驶行为，工程实现简单。决策树和行为树则用层级化的方式组织复杂的驾驶行为逻辑。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概率式决策以MDP和POMDP为代表。MDP是马尔可夫决策过程，在已知环境状态下求最优决策策略。POMDP则是部分可观测的MDP，能够处理环境不确定性和传感器部分观测的问题。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这两类方法的共同优势是可解释性强、易于调试、安全可控。但它们的共同局限是：难以覆盖复杂的动态交互场景，对长尾场景的处理能力很弱。这也是为什么后来学习型方法兴起的原因。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深度强化学习是行为决策领域的重要发展方向。DRL的基本框架基于MDP，包含策略、值函数和Q函数等核心概念。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关键算法可以分为三类：值函数方法以DQN为代表；策略梯度方法包括DDPG、A3C、A2C；以及结合两者的Actor-Critic方法，如SAC和PPO，其中PPO是当前自动驾驶领域最常用的算法之一。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DRL在自动驾驶中的应用场景非常广泛：从车道保持、自适应巡航，到变道决策、匝道汇入，再到超车、交叉口通行，以及更底层的运动规划和轨迹优化。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DRL的优势在于可以减少大量人工规则设计，适应复杂多变的驾驶场景。但它也面临三大挑战：样本效率低、训练代价高；安全验证困难，难以保证决策的安全性；以及仿真到现实的差距问题，Sim-to-Real Gap。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Frenet Frame方法是局部轨迹规划的经典代表，2010年由Werling等人提出，至今仍是很多自动驾驶系统的工业级方案。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它的核心思想是坐标解耦：在Frenet坐标系下，以参考线为基准，纵向用s坐标表示沿道路的位置，横向用d坐标表示偏离参考线的距离。这样横向和纵向的轨迹生成可以独立进行，大幅降低了问题复杂度。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横向轨迹用五次多项式来优化，以jerk（加加速度）最小为目标，保证乘坐舒适性。纵向轨迹则根据不同场景生成：跟车用恒定时间间隔法则，汇入和停车有专门的优化目标，速度保持用四次多项式。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整个流程是：先生成一组候选轨迹，然后做碰撞检测和可行性检查，最后计算成本函数，从可行轨迹集中选择成本最低的一条作为最终规划结果。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规划模块输出的参考轨迹，最终要交给控制器来执行。这就是规划与控制的接口。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控制器接收规划模块输出的参考轨迹，包括位置、航向角、速度等信息，然后计算出前轮转角、油门和制动指令，控制车辆精确跟踪这条轨迹。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经典的控制方法主要有三种：PID控制，结构简单、鲁棒性强，是工业界最常用的方案；MPC模型预测控制，能够处理车辆动力学约束，预测未来状态，精度更高；以及LQR线性二次调节器，是最优控制理论的经典方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规划和控制的分工很明确：规划负责"去哪"，是决策层；控制负责"怎么走"，是执行层。两者紧密配合，才能完成安全舒适的自动驾驶。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UniAD是端到端自动驾驶规划的里程碑工作，发表于CVPR 2023。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传统的模块化pipeline存在两大问题：一是上游模块的误差会逐层累积传播，二是多个任务独立优化会产生负迁移问题。UniAD的核心思想是规划导向设计——所有感知、预测任务都服务于最终的规划目标。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整个框架包含五大任务：跟踪、建图、运动预测、占用预测、规划，五个任务串联成一个完整的端到端流程，通过统一的Query接口实现特征共享。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在nuScenes数据集上，UniAD取得了SOTA性能：跟踪AMOTA达到0.359，运动预测minADE为0.71米，规划平均L2误差仅1.03米，碰撞率低至0.31%。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UniAD证明了端到端、规划导向的范式是可行的，为自动驾驶的发展指明了新方向。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总结一下规划模块的技术演进，同样从四个维度来看。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全局路径规划方面，从早期的图搜索算法如Dijkstra、A*，发展到分层法和有界跳法，搜索效率不断提升。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行为决策方面，经历了从规则方法如有限状态机，到概率方法如MDP/POMDP，再到学习型方法如深度强化学习，最新方向是端到端规划。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局部轨迹规划方面，从早期的参数化方法，发展到基于最优控制的方法如Frenet Frame，最新方向是学习型和端到端方法。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轨迹跟踪与控制方面，PID和MPC仍然是工业界的主流方案，成熟稳定，是规划与执行之间可靠的桥梁。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总体趋势和感知模块一致：规划导向、端到端、多任务协同。规划不再是一个孤立模块，而是与感知、预测深度耦合，向规划导向的端到端范式演进，UniAD就是这个方向的代表。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模板来自于：第一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D1578E-9792-4C27-9B38-4288BB9C37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尽管感知和规划技术取得了很大进展，但仍然面临诸多挑战。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感知侧，主要有四大挑战：第一，环境变化，包括各种光照条件、恶劣天气、遮挡和夜间场景；第二，传感器故障，LiDAR或相机失效、外参漂移带来的问题；第三，多传感器的标定与时间同步，这是工程落地的难点；第四，数据长尾问题，罕见场景、遮挡目标等Corner Case仍然是检测的短板。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规划侧，同样面临四大挑战：第一，交通拥堵场景下的密集交互和博弈，多智能体之间的决策很难建模；第二，动态场景中其他车辆和行人的意图不确定；第三，长尾场景，如施工区、事故现场、异形车辆等；第四，安全与舒适的平衡，如何在保证安全的同时，让乘坐体验舒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除了模块层面的挑战，系统级和安全验证层面也面临很多问题。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系统级挑战主要有五个：第一，误差累积，模块化pipeline中上游模块的误差会逐层向下传播；第二，负迁移，多任务学习中不同任务之间会相互干扰；第三，Sim-to-Real Gap，仿真环境训练的模型到真实世界性能会下降；第四，样本效率，强化学习需要大量样本，训练代价很高；第五，计算资源，BEV、Transformer、占用预测等大模型对算力的需求非常大。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安全与验证方面，首先是RL的安全性问题，需要通过约束MDP、安全策略、负向避让函数等方法来保证；其次是可解释性问题，端到端的黑盒模型很难解释和调试；第三是闭环测试，需要CARLA、nuPlan这样的仿真测试平台来验证；最后是对抗场景，需要自动生成失败场景做回归测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模板来自于：第一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D1578E-9792-4C27-9B38-4288BB9C37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展望未来，感知和规划技术都将向更高水平发展。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感知方面，BEV加Transformer已经成为当前的主流范式；多模态融合会越来越深，LiDAR、相机、雷达的融合将更加紧密；Occupancy占用网格和4D时序感知将实现更细粒度的动态环境建模；而最前沿的方向是大模型、世界模型和自监督学习，有望解决数据依赖问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规划方面，端到端规划以UniAD为代表的范式将持续演进；规划导向设计将成为主流，所有感知、预测任务都服务于规划目标；安全强化学习，包括约束RL和多目标RL，将解决RL的安全性问题；此外，多智能体协同，包括V2X和车路协同，也是重要的发展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除了技术本身的进步，我们还需要更安全的驾驶环境，以及更广泛的应用场景。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安全方面，首先需要冗余感知与失败恢复机制，多传感器冗余设计，单个传感器失效时系统仍能安全运行；其次是形式化验证与安全保证，用数学方法证明系统的安全性；第三是闭环仿真与场景测试，通过大规模仿真场景来验证系统；最后是可解释性与人机共驾，让系统可解释、人机能够协作，建立相互信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应用场景方面，自动驾驶技术将从城市道路的Robotaxi、智能公交，扩展到园区物流、仓储、港口等封闭场景；再到智能矿山、农业自动化等特种场景；甚至包括野生动物救援、隧道搜索等特殊任务场景。自动驾驶技术的应用边界正在不断拓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模板来自于：第一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D1578E-9792-4C27-9B38-4288BB9C37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最后做一个简单总结。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感知模块的演进脉络是：从单传感器，到多模态融合，到BEV统一表示，再到Occupancy占用预测，最终走向端到端。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规划模块的演进脉络是：从规则和图搜索方法，到最优控制方法，到学习型决策方法，最终走向端到端规划。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当前面临的挑战包括环境变化、交通拥堵、传感器故障、安全验证等多个方面。未来的发展方向是更高级的感知技术、更安全的规划系统、以及更广泛的应用场景。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以上就是本次汇报的全部内容，感谢各位老师同学的聆听，欢迎大家提问交流。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1651940" y="-2023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1651940" y="-2023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4" Type="http://schemas.openxmlformats.org/officeDocument/2006/relationships/slideLayout" Target="../slideLayouts/slideLayout2.xml"/><Relationship Id="rId83" Type="http://schemas.openxmlformats.org/officeDocument/2006/relationships/tags" Target="../tags/tag81.xml"/><Relationship Id="rId82" Type="http://schemas.openxmlformats.org/officeDocument/2006/relationships/tags" Target="../tags/tag80.xml"/><Relationship Id="rId81" Type="http://schemas.openxmlformats.org/officeDocument/2006/relationships/tags" Target="../tags/tag79.xml"/><Relationship Id="rId80" Type="http://schemas.openxmlformats.org/officeDocument/2006/relationships/tags" Target="../tags/tag78.xml"/><Relationship Id="rId8" Type="http://schemas.openxmlformats.org/officeDocument/2006/relationships/tags" Target="../tags/tag6.xml"/><Relationship Id="rId79" Type="http://schemas.openxmlformats.org/officeDocument/2006/relationships/tags" Target="../tags/tag77.xml"/><Relationship Id="rId78" Type="http://schemas.openxmlformats.org/officeDocument/2006/relationships/tags" Target="../tags/tag76.xml"/><Relationship Id="rId77" Type="http://schemas.openxmlformats.org/officeDocument/2006/relationships/tags" Target="../tags/tag75.xml"/><Relationship Id="rId76" Type="http://schemas.openxmlformats.org/officeDocument/2006/relationships/tags" Target="../tags/tag74.xml"/><Relationship Id="rId75" Type="http://schemas.openxmlformats.org/officeDocument/2006/relationships/tags" Target="../tags/tag73.xml"/><Relationship Id="rId74" Type="http://schemas.openxmlformats.org/officeDocument/2006/relationships/tags" Target="../tags/tag72.xml"/><Relationship Id="rId73" Type="http://schemas.openxmlformats.org/officeDocument/2006/relationships/tags" Target="../tags/tag71.xml"/><Relationship Id="rId72" Type="http://schemas.openxmlformats.org/officeDocument/2006/relationships/tags" Target="../tags/tag70.xml"/><Relationship Id="rId71" Type="http://schemas.openxmlformats.org/officeDocument/2006/relationships/tags" Target="../tags/tag69.xml"/><Relationship Id="rId70" Type="http://schemas.openxmlformats.org/officeDocument/2006/relationships/tags" Target="../tags/tag68.xml"/><Relationship Id="rId7" Type="http://schemas.openxmlformats.org/officeDocument/2006/relationships/tags" Target="../tags/tag5.xml"/><Relationship Id="rId69" Type="http://schemas.openxmlformats.org/officeDocument/2006/relationships/tags" Target="../tags/tag67.xml"/><Relationship Id="rId68" Type="http://schemas.openxmlformats.org/officeDocument/2006/relationships/tags" Target="../tags/tag66.xml"/><Relationship Id="rId67" Type="http://schemas.openxmlformats.org/officeDocument/2006/relationships/tags" Target="../tags/tag65.xml"/><Relationship Id="rId66" Type="http://schemas.openxmlformats.org/officeDocument/2006/relationships/tags" Target="../tags/tag64.xml"/><Relationship Id="rId65" Type="http://schemas.openxmlformats.org/officeDocument/2006/relationships/tags" Target="../tags/tag63.xml"/><Relationship Id="rId64" Type="http://schemas.openxmlformats.org/officeDocument/2006/relationships/tags" Target="../tags/tag62.xml"/><Relationship Id="rId63" Type="http://schemas.openxmlformats.org/officeDocument/2006/relationships/tags" Target="../tags/tag61.xml"/><Relationship Id="rId62" Type="http://schemas.openxmlformats.org/officeDocument/2006/relationships/tags" Target="../tags/tag60.xml"/><Relationship Id="rId61" Type="http://schemas.openxmlformats.org/officeDocument/2006/relationships/tags" Target="../tags/tag59.xml"/><Relationship Id="rId60" Type="http://schemas.openxmlformats.org/officeDocument/2006/relationships/tags" Target="../tags/tag58.xml"/><Relationship Id="rId6" Type="http://schemas.openxmlformats.org/officeDocument/2006/relationships/tags" Target="../tags/tag4.xml"/><Relationship Id="rId59" Type="http://schemas.openxmlformats.org/officeDocument/2006/relationships/tags" Target="../tags/tag57.xml"/><Relationship Id="rId58" Type="http://schemas.openxmlformats.org/officeDocument/2006/relationships/tags" Target="../tags/tag56.xml"/><Relationship Id="rId57" Type="http://schemas.openxmlformats.org/officeDocument/2006/relationships/tags" Target="../tags/tag55.xml"/><Relationship Id="rId56" Type="http://schemas.openxmlformats.org/officeDocument/2006/relationships/tags" Target="../tags/tag54.xml"/><Relationship Id="rId55" Type="http://schemas.openxmlformats.org/officeDocument/2006/relationships/tags" Target="../tags/tag53.xml"/><Relationship Id="rId54" Type="http://schemas.openxmlformats.org/officeDocument/2006/relationships/tags" Target="../tags/tag52.xml"/><Relationship Id="rId53" Type="http://schemas.openxmlformats.org/officeDocument/2006/relationships/tags" Target="../tags/tag51.xml"/><Relationship Id="rId52" Type="http://schemas.openxmlformats.org/officeDocument/2006/relationships/tags" Target="../tags/tag50.xml"/><Relationship Id="rId51" Type="http://schemas.openxmlformats.org/officeDocument/2006/relationships/tags" Target="../tags/tag49.xml"/><Relationship Id="rId50" Type="http://schemas.openxmlformats.org/officeDocument/2006/relationships/tags" Target="../tags/tag48.xml"/><Relationship Id="rId5" Type="http://schemas.openxmlformats.org/officeDocument/2006/relationships/tags" Target="../tags/tag3.xml"/><Relationship Id="rId49" Type="http://schemas.openxmlformats.org/officeDocument/2006/relationships/tags" Target="../tags/tag47.xml"/><Relationship Id="rId48" Type="http://schemas.openxmlformats.org/officeDocument/2006/relationships/tags" Target="../tags/tag46.xml"/><Relationship Id="rId47" Type="http://schemas.openxmlformats.org/officeDocument/2006/relationships/tags" Target="../tags/tag45.xml"/><Relationship Id="rId46" Type="http://schemas.openxmlformats.org/officeDocument/2006/relationships/tags" Target="../tags/tag44.xml"/><Relationship Id="rId45" Type="http://schemas.openxmlformats.org/officeDocument/2006/relationships/tags" Target="../tags/tag43.xml"/><Relationship Id="rId44" Type="http://schemas.openxmlformats.org/officeDocument/2006/relationships/tags" Target="../tags/tag42.xml"/><Relationship Id="rId43" Type="http://schemas.openxmlformats.org/officeDocument/2006/relationships/tags" Target="../tags/tag41.xml"/><Relationship Id="rId42" Type="http://schemas.openxmlformats.org/officeDocument/2006/relationships/tags" Target="../tags/tag40.xml"/><Relationship Id="rId41" Type="http://schemas.openxmlformats.org/officeDocument/2006/relationships/tags" Target="../tags/tag39.xml"/><Relationship Id="rId40" Type="http://schemas.openxmlformats.org/officeDocument/2006/relationships/tags" Target="../tags/tag38.xml"/><Relationship Id="rId4" Type="http://schemas.openxmlformats.org/officeDocument/2006/relationships/tags" Target="../tags/tag2.xml"/><Relationship Id="rId39" Type="http://schemas.openxmlformats.org/officeDocument/2006/relationships/tags" Target="../tags/tag37.xml"/><Relationship Id="rId38" Type="http://schemas.openxmlformats.org/officeDocument/2006/relationships/tags" Target="../tags/tag36.xml"/><Relationship Id="rId37" Type="http://schemas.openxmlformats.org/officeDocument/2006/relationships/tags" Target="../tags/tag35.xml"/><Relationship Id="rId36" Type="http://schemas.openxmlformats.org/officeDocument/2006/relationships/tags" Target="../tags/tag34.xml"/><Relationship Id="rId35" Type="http://schemas.openxmlformats.org/officeDocument/2006/relationships/tags" Target="../tags/tag33.xml"/><Relationship Id="rId34" Type="http://schemas.openxmlformats.org/officeDocument/2006/relationships/tags" Target="../tags/tag32.xml"/><Relationship Id="rId33" Type="http://schemas.openxmlformats.org/officeDocument/2006/relationships/tags" Target="../tags/tag31.xml"/><Relationship Id="rId32" Type="http://schemas.openxmlformats.org/officeDocument/2006/relationships/tags" Target="../tags/tag30.xml"/><Relationship Id="rId31" Type="http://schemas.openxmlformats.org/officeDocument/2006/relationships/tags" Target="../tags/tag29.xml"/><Relationship Id="rId30" Type="http://schemas.openxmlformats.org/officeDocument/2006/relationships/tags" Target="../tags/tag28.xml"/><Relationship Id="rId3" Type="http://schemas.openxmlformats.org/officeDocument/2006/relationships/tags" Target="../tags/tag1.xml"/><Relationship Id="rId29" Type="http://schemas.openxmlformats.org/officeDocument/2006/relationships/tags" Target="../tags/tag27.xml"/><Relationship Id="rId28" Type="http://schemas.openxmlformats.org/officeDocument/2006/relationships/tags" Target="../tags/tag26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microsoft.com/office/2007/relationships/hdphoto" Target="../media/image3.wdp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6" Type="http://schemas.openxmlformats.org/officeDocument/2006/relationships/slideLayout" Target="../slideLayouts/slideLayout4.xml"/><Relationship Id="rId25" Type="http://schemas.openxmlformats.org/officeDocument/2006/relationships/tags" Target="../tags/tag106.xml"/><Relationship Id="rId24" Type="http://schemas.openxmlformats.org/officeDocument/2006/relationships/tags" Target="../tags/tag105.xml"/><Relationship Id="rId23" Type="http://schemas.openxmlformats.org/officeDocument/2006/relationships/tags" Target="../tags/tag104.xml"/><Relationship Id="rId22" Type="http://schemas.openxmlformats.org/officeDocument/2006/relationships/tags" Target="../tags/tag103.xml"/><Relationship Id="rId21" Type="http://schemas.openxmlformats.org/officeDocument/2006/relationships/tags" Target="../tags/tag102.xml"/><Relationship Id="rId20" Type="http://schemas.openxmlformats.org/officeDocument/2006/relationships/tags" Target="../tags/tag101.xml"/><Relationship Id="rId2" Type="http://schemas.openxmlformats.org/officeDocument/2006/relationships/tags" Target="../tags/tag83.xml"/><Relationship Id="rId19" Type="http://schemas.openxmlformats.org/officeDocument/2006/relationships/tags" Target="../tags/tag100.xml"/><Relationship Id="rId18" Type="http://schemas.openxmlformats.org/officeDocument/2006/relationships/tags" Target="../tags/tag99.xml"/><Relationship Id="rId17" Type="http://schemas.openxmlformats.org/officeDocument/2006/relationships/tags" Target="../tags/tag98.xml"/><Relationship Id="rId16" Type="http://schemas.openxmlformats.org/officeDocument/2006/relationships/tags" Target="../tags/tag97.xml"/><Relationship Id="rId15" Type="http://schemas.openxmlformats.org/officeDocument/2006/relationships/tags" Target="../tags/tag96.xml"/><Relationship Id="rId14" Type="http://schemas.openxmlformats.org/officeDocument/2006/relationships/tags" Target="../tags/tag95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tags" Target="../tags/tag8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image" Target="../media/image4.png"/><Relationship Id="rId19" Type="http://schemas.openxmlformats.org/officeDocument/2006/relationships/slideLayout" Target="../slideLayouts/slideLayout4.xml"/><Relationship Id="rId18" Type="http://schemas.openxmlformats.org/officeDocument/2006/relationships/image" Target="../media/image5.png"/><Relationship Id="rId17" Type="http://schemas.openxmlformats.org/officeDocument/2006/relationships/tags" Target="../tags/tag122.xml"/><Relationship Id="rId16" Type="http://schemas.openxmlformats.org/officeDocument/2006/relationships/tags" Target="../tags/tag121.xml"/><Relationship Id="rId15" Type="http://schemas.openxmlformats.org/officeDocument/2006/relationships/tags" Target="../tags/tag120.xml"/><Relationship Id="rId14" Type="http://schemas.openxmlformats.org/officeDocument/2006/relationships/tags" Target="../tags/tag119.xml"/><Relationship Id="rId13" Type="http://schemas.openxmlformats.org/officeDocument/2006/relationships/tags" Target="../tags/tag118.xml"/><Relationship Id="rId12" Type="http://schemas.openxmlformats.org/officeDocument/2006/relationships/tags" Target="../tags/tag117.xml"/><Relationship Id="rId11" Type="http://schemas.openxmlformats.org/officeDocument/2006/relationships/tags" Target="../tags/tag116.xml"/><Relationship Id="rId10" Type="http://schemas.openxmlformats.org/officeDocument/2006/relationships/tags" Target="../tags/tag115.xml"/><Relationship Id="rId1" Type="http://schemas.openxmlformats.org/officeDocument/2006/relationships/tags" Target="../tags/tag107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27.xml"/><Relationship Id="rId4" Type="http://schemas.openxmlformats.org/officeDocument/2006/relationships/tags" Target="../tags/tag126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36.xml"/><Relationship Id="rId8" Type="http://schemas.openxmlformats.org/officeDocument/2006/relationships/tags" Target="../tags/tag135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3" Type="http://schemas.openxmlformats.org/officeDocument/2006/relationships/notesSlide" Target="../notesSlides/notesSlide13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38.xml"/><Relationship Id="rId10" Type="http://schemas.openxmlformats.org/officeDocument/2006/relationships/tags" Target="../tags/tag137.xml"/><Relationship Id="rId1" Type="http://schemas.openxmlformats.org/officeDocument/2006/relationships/tags" Target="../tags/tag12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tags" Target="../tags/tag15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160.xml"/><Relationship Id="rId8" Type="http://schemas.openxmlformats.org/officeDocument/2006/relationships/tags" Target="../tags/tag159.xml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4" Type="http://schemas.openxmlformats.org/officeDocument/2006/relationships/notesSlide" Target="../notesSlides/notesSlide19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63.xml"/><Relationship Id="rId11" Type="http://schemas.openxmlformats.org/officeDocument/2006/relationships/tags" Target="../tags/tag162.xml"/><Relationship Id="rId10" Type="http://schemas.openxmlformats.org/officeDocument/2006/relationships/tags" Target="../tags/tag161.xml"/><Relationship Id="rId1" Type="http://schemas.openxmlformats.org/officeDocument/2006/relationships/tags" Target="../tags/tag152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71.xml"/><Relationship Id="rId7" Type="http://schemas.openxmlformats.org/officeDocument/2006/relationships/tags" Target="../tags/tag170.xml"/><Relationship Id="rId6" Type="http://schemas.openxmlformats.org/officeDocument/2006/relationships/tags" Target="../tags/tag169.xml"/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0" Type="http://schemas.openxmlformats.org/officeDocument/2006/relationships/notesSlide" Target="../notesSlides/notesSlide20.xml"/><Relationship Id="rId1" Type="http://schemas.openxmlformats.org/officeDocument/2006/relationships/tags" Target="../tags/tag16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jpeg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6" Type="http://schemas.openxmlformats.org/officeDocument/2006/relationships/notesSlide" Target="../notesSlides/notesSlide22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jpeg"/><Relationship Id="rId1" Type="http://schemas.openxmlformats.org/officeDocument/2006/relationships/tags" Target="../tags/tag17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6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tags" Target="../tags/tag17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蓝色的高楼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5" name="任意多边形: 形状 14"/>
          <p:cNvSpPr/>
          <p:nvPr/>
        </p:nvSpPr>
        <p:spPr>
          <a:xfrm>
            <a:off x="2" y="0"/>
            <a:ext cx="12191999" cy="6858000"/>
          </a:xfrm>
          <a:custGeom>
            <a:avLst/>
            <a:gdLst>
              <a:gd name="connsiteX0" fmla="*/ 9083451 w 12276171"/>
              <a:gd name="connsiteY0" fmla="*/ 0 h 6858000"/>
              <a:gd name="connsiteX1" fmla="*/ 12276171 w 12276171"/>
              <a:gd name="connsiteY1" fmla="*/ 0 h 6858000"/>
              <a:gd name="connsiteX2" fmla="*/ 12276171 w 12276171"/>
              <a:gd name="connsiteY2" fmla="*/ 6858000 h 6858000"/>
              <a:gd name="connsiteX3" fmla="*/ 9083453 w 12276171"/>
              <a:gd name="connsiteY3" fmla="*/ 6858000 h 6858000"/>
              <a:gd name="connsiteX4" fmla="*/ 9154685 w 12276171"/>
              <a:gd name="connsiteY4" fmla="*/ 6796298 h 6858000"/>
              <a:gd name="connsiteX5" fmla="*/ 10645060 w 12276171"/>
              <a:gd name="connsiteY5" fmla="*/ 3429001 h 6858000"/>
              <a:gd name="connsiteX6" fmla="*/ 9154685 w 12276171"/>
              <a:gd name="connsiteY6" fmla="*/ 61705 h 6858000"/>
              <a:gd name="connsiteX7" fmla="*/ 0 w 12276171"/>
              <a:gd name="connsiteY7" fmla="*/ 0 h 6858000"/>
              <a:gd name="connsiteX8" fmla="*/ 3108549 w 12276171"/>
              <a:gd name="connsiteY8" fmla="*/ 0 h 6858000"/>
              <a:gd name="connsiteX9" fmla="*/ 3037315 w 12276171"/>
              <a:gd name="connsiteY9" fmla="*/ 61705 h 6858000"/>
              <a:gd name="connsiteX10" fmla="*/ 1546940 w 12276171"/>
              <a:gd name="connsiteY10" fmla="*/ 3429001 h 6858000"/>
              <a:gd name="connsiteX11" fmla="*/ 3037315 w 12276171"/>
              <a:gd name="connsiteY11" fmla="*/ 6796298 h 6858000"/>
              <a:gd name="connsiteX12" fmla="*/ 3108547 w 12276171"/>
              <a:gd name="connsiteY12" fmla="*/ 6858000 h 6858000"/>
              <a:gd name="connsiteX13" fmla="*/ 0 w 12276171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76171" h="6858000">
                <a:moveTo>
                  <a:pt x="9083451" y="0"/>
                </a:moveTo>
                <a:lnTo>
                  <a:pt x="12276171" y="0"/>
                </a:lnTo>
                <a:lnTo>
                  <a:pt x="12276171" y="6858000"/>
                </a:lnTo>
                <a:lnTo>
                  <a:pt x="9083453" y="6858000"/>
                </a:lnTo>
                <a:lnTo>
                  <a:pt x="9154685" y="6796298"/>
                </a:lnTo>
                <a:cubicBezTo>
                  <a:pt x="10070254" y="5964148"/>
                  <a:pt x="10645060" y="4763701"/>
                  <a:pt x="10645060" y="3429001"/>
                </a:cubicBezTo>
                <a:cubicBezTo>
                  <a:pt x="10645060" y="2094301"/>
                  <a:pt x="10070254" y="893855"/>
                  <a:pt x="9154685" y="61705"/>
                </a:cubicBezTo>
                <a:close/>
                <a:moveTo>
                  <a:pt x="0" y="0"/>
                </a:moveTo>
                <a:lnTo>
                  <a:pt x="3108549" y="0"/>
                </a:lnTo>
                <a:lnTo>
                  <a:pt x="3037315" y="61705"/>
                </a:lnTo>
                <a:cubicBezTo>
                  <a:pt x="2121747" y="893855"/>
                  <a:pt x="1546940" y="2094301"/>
                  <a:pt x="1546940" y="3429001"/>
                </a:cubicBezTo>
                <a:cubicBezTo>
                  <a:pt x="1546940" y="4763701"/>
                  <a:pt x="2121747" y="5964148"/>
                  <a:pt x="3037315" y="6796298"/>
                </a:cubicBezTo>
                <a:lnTo>
                  <a:pt x="3108547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3306000" y="639000"/>
            <a:ext cx="5580000" cy="5580000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44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/>
          <p:cNvSpPr/>
          <p:nvPr/>
        </p:nvSpPr>
        <p:spPr>
          <a:xfrm>
            <a:off x="4272280" y="4176395"/>
            <a:ext cx="3648075" cy="533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088497" y="4258610"/>
            <a:ext cx="401373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汇报人：李甜甜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X</a:t>
            </a:r>
            <a:endParaRPr lang="zh-CN" altLang="en-US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673093" y="2278868"/>
            <a:ext cx="8895347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自动驾驶感知与规划模块</a:t>
            </a:r>
            <a:endParaRPr lang="zh-CN" altLang="en-US" sz="4800" dirty="0">
              <a:solidFill>
                <a:schemeClr val="bg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锐字奥运精神拼搏简免费-闪" panose="02010604000000000000" charset="-122"/>
              <a:ea typeface="锐字奥运精神拼搏简免费-闪" panose="02010604000000000000" charset="-122"/>
            </a:endParaRPr>
          </a:p>
          <a:p>
            <a:pPr algn="ctr"/>
            <a:r>
              <a:rPr lang="zh-CN" altLang="en-US" sz="4800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技术路线演进综述</a:t>
            </a:r>
            <a:endParaRPr lang="zh-CN" altLang="en-US" sz="4800" dirty="0">
              <a:solidFill>
                <a:schemeClr val="bg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锐字奥运精神拼搏简免费-闪" panose="02010604000000000000" charset="-122"/>
              <a:ea typeface="锐字奥运精神拼搏简免费-闪" panose="02010604000000000000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10894369" y="6060244"/>
            <a:ext cx="819753" cy="262630"/>
            <a:chOff x="10894368" y="6060244"/>
            <a:chExt cx="819753" cy="262630"/>
          </a:xfrm>
        </p:grpSpPr>
        <p:sp>
          <p:nvSpPr>
            <p:cNvPr id="27" name="半闭框 25"/>
            <p:cNvSpPr/>
            <p:nvPr/>
          </p:nvSpPr>
          <p:spPr>
            <a:xfrm rot="8100000">
              <a:off x="11451491" y="6060244"/>
              <a:ext cx="262630" cy="262630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半闭框 25"/>
            <p:cNvSpPr/>
            <p:nvPr/>
          </p:nvSpPr>
          <p:spPr>
            <a:xfrm rot="8100000">
              <a:off x="11172929" y="6060244"/>
              <a:ext cx="262630" cy="262630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半闭框 25"/>
            <p:cNvSpPr/>
            <p:nvPr/>
          </p:nvSpPr>
          <p:spPr>
            <a:xfrm rot="8100000">
              <a:off x="10894368" y="6060244"/>
              <a:ext cx="262630" cy="262630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AutoShape 3"/>
          <p:cNvSpPr/>
          <p:nvPr/>
        </p:nvSpPr>
        <p:spPr>
          <a:xfrm>
            <a:off x="260985" y="886460"/>
            <a:ext cx="762000" cy="38100"/>
          </a:xfrm>
          <a:prstGeom prst="roundRect">
            <a:avLst>
              <a:gd name="adj" fmla="val 0"/>
            </a:avLst>
          </a:prstGeom>
          <a:solidFill>
            <a:srgbClr val="5385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" name="AutoShape 4"/>
          <p:cNvSpPr txBox="1"/>
          <p:nvPr/>
        </p:nvSpPr>
        <p:spPr>
          <a:xfrm>
            <a:off x="260985" y="114046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Perception &amp; Planning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Evolution Survey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896" b="14541"/>
          <a:stretch>
            <a:fillRect/>
          </a:stretch>
        </p:blipFill>
        <p:spPr>
          <a:xfrm>
            <a:off x="0" y="1269326"/>
            <a:ext cx="12192000" cy="50038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70302" y="337278"/>
            <a:ext cx="39904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48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52201" y="687885"/>
            <a:ext cx="399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1">
                    <a:alpha val="37000"/>
                  </a:schemeClr>
                </a:solidFill>
                <a:latin typeface="+mj-ea"/>
                <a:ea typeface="+mj-ea"/>
              </a:rPr>
              <a:t>CONTENTS</a:t>
            </a:r>
            <a:endParaRPr lang="zh-CN" altLang="en-US" sz="2400" dirty="0">
              <a:solidFill>
                <a:schemeClr val="accent1">
                  <a:alpha val="37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2" name="组合 1"/>
          <p:cNvGrpSpPr/>
          <p:nvPr>
            <p:custDataLst>
              <p:tags r:id="rId3"/>
            </p:custDataLst>
          </p:nvPr>
        </p:nvGrpSpPr>
        <p:grpSpPr>
          <a:xfrm>
            <a:off x="321106" y="2139096"/>
            <a:ext cx="1812393" cy="2734415"/>
            <a:chOff x="660400" y="1740353"/>
            <a:chExt cx="2563200" cy="3867181"/>
          </a:xfrm>
        </p:grpSpPr>
        <p:sp>
          <p:nvSpPr>
            <p:cNvPr id="15" name="矩形: 圆角 14"/>
            <p:cNvSpPr/>
            <p:nvPr>
              <p:custDataLst>
                <p:tags r:id="rId4"/>
              </p:custDataLst>
            </p:nvPr>
          </p:nvSpPr>
          <p:spPr>
            <a:xfrm>
              <a:off x="660400" y="1740353"/>
              <a:ext cx="2563200" cy="3867181"/>
            </a:xfrm>
            <a:prstGeom prst="roundRect">
              <a:avLst>
                <a:gd name="adj" fmla="val 155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/>
            <p:nvPr>
              <p:custDataLst>
                <p:tags r:id="rId5"/>
              </p:custDataLst>
            </p:nvPr>
          </p:nvSpPr>
          <p:spPr>
            <a:xfrm>
              <a:off x="660400" y="1740353"/>
              <a:ext cx="2563200" cy="830997"/>
            </a:xfrm>
            <a:custGeom>
              <a:avLst/>
              <a:gdLst>
                <a:gd name="connsiteX0" fmla="*/ 350210 w 2563200"/>
                <a:gd name="connsiteY0" fmla="*/ 0 h 790741"/>
                <a:gd name="connsiteX1" fmla="*/ 2212990 w 2563200"/>
                <a:gd name="connsiteY1" fmla="*/ 0 h 790741"/>
                <a:gd name="connsiteX2" fmla="*/ 2563200 w 2563200"/>
                <a:gd name="connsiteY2" fmla="*/ 350210 h 790741"/>
                <a:gd name="connsiteX3" fmla="*/ 2563200 w 2563200"/>
                <a:gd name="connsiteY3" fmla="*/ 790741 h 790741"/>
                <a:gd name="connsiteX4" fmla="*/ 0 w 2563200"/>
                <a:gd name="connsiteY4" fmla="*/ 790741 h 790741"/>
                <a:gd name="connsiteX5" fmla="*/ 0 w 2563200"/>
                <a:gd name="connsiteY5" fmla="*/ 350210 h 790741"/>
                <a:gd name="connsiteX6" fmla="*/ 350210 w 2563200"/>
                <a:gd name="connsiteY6" fmla="*/ 0 h 790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3200" h="790741">
                  <a:moveTo>
                    <a:pt x="350210" y="0"/>
                  </a:moveTo>
                  <a:lnTo>
                    <a:pt x="2212990" y="0"/>
                  </a:lnTo>
                  <a:cubicBezTo>
                    <a:pt x="2406406" y="0"/>
                    <a:pt x="2563200" y="156794"/>
                    <a:pt x="2563200" y="350210"/>
                  </a:cubicBezTo>
                  <a:lnTo>
                    <a:pt x="2563200" y="790741"/>
                  </a:lnTo>
                  <a:lnTo>
                    <a:pt x="0" y="790741"/>
                  </a:lnTo>
                  <a:lnTo>
                    <a:pt x="0" y="350210"/>
                  </a:lnTo>
                  <a:cubicBezTo>
                    <a:pt x="0" y="156794"/>
                    <a:pt x="156794" y="0"/>
                    <a:pt x="350210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410845" y="2099945"/>
            <a:ext cx="930910" cy="6267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+mj-ea"/>
                <a:ea typeface="+mj-ea"/>
              </a:rPr>
              <a:t>01</a:t>
            </a:r>
            <a:endParaRPr lang="en-US" altLang="zh-CN" sz="3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22" name="组合 21"/>
          <p:cNvGrpSpPr/>
          <p:nvPr>
            <p:custDataLst>
              <p:tags r:id="rId7"/>
            </p:custDataLst>
          </p:nvPr>
        </p:nvGrpSpPr>
        <p:grpSpPr>
          <a:xfrm>
            <a:off x="1588506" y="2501806"/>
            <a:ext cx="440978" cy="148472"/>
            <a:chOff x="2444750" y="2049100"/>
            <a:chExt cx="623659" cy="209978"/>
          </a:xfrm>
        </p:grpSpPr>
        <p:sp>
          <p:nvSpPr>
            <p:cNvPr id="19" name="半闭框 25"/>
            <p:cNvSpPr/>
            <p:nvPr>
              <p:custDataLst>
                <p:tags r:id="rId8"/>
              </p:custDataLst>
            </p:nvPr>
          </p:nvSpPr>
          <p:spPr>
            <a:xfrm rot="8100000">
              <a:off x="2858431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半闭框 25"/>
            <p:cNvSpPr/>
            <p:nvPr>
              <p:custDataLst>
                <p:tags r:id="rId9"/>
              </p:custDataLst>
            </p:nvPr>
          </p:nvSpPr>
          <p:spPr>
            <a:xfrm rot="8100000">
              <a:off x="2651591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半闭框 25"/>
            <p:cNvSpPr/>
            <p:nvPr>
              <p:custDataLst>
                <p:tags r:id="rId10"/>
              </p:custDataLst>
            </p:nvPr>
          </p:nvSpPr>
          <p:spPr>
            <a:xfrm rot="8100000">
              <a:off x="2444750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文本框 22"/>
          <p:cNvSpPr txBox="1"/>
          <p:nvPr>
            <p:custDataLst>
              <p:tags r:id="rId11"/>
            </p:custDataLst>
          </p:nvPr>
        </p:nvSpPr>
        <p:spPr>
          <a:xfrm>
            <a:off x="321408" y="2922341"/>
            <a:ext cx="1839542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</a:rPr>
              <a:t>文献总览与系统框架</a:t>
            </a:r>
            <a:endParaRPr lang="zh-CN" altLang="en-US" sz="2400" b="1" dirty="0">
              <a:solidFill>
                <a:schemeClr val="accent1"/>
              </a:solidFill>
              <a:latin typeface="阿里巴巴普惠体 Heavy" pitchFamily="18" charset="-122"/>
              <a:ea typeface="阿里巴巴普惠体 Heavy" pitchFamily="18" charset="-122"/>
              <a:cs typeface="阿里巴巴普惠体 Heavy" pitchFamily="18" charset="-122"/>
            </a:endParaRPr>
          </a:p>
        </p:txBody>
      </p:sp>
      <p:grpSp>
        <p:nvGrpSpPr>
          <p:cNvPr id="26" name="组合 25"/>
          <p:cNvGrpSpPr/>
          <p:nvPr>
            <p:custDataLst>
              <p:tags r:id="rId12"/>
            </p:custDataLst>
          </p:nvPr>
        </p:nvGrpSpPr>
        <p:grpSpPr>
          <a:xfrm>
            <a:off x="431680" y="4517337"/>
            <a:ext cx="440978" cy="148472"/>
            <a:chOff x="2444750" y="2049100"/>
            <a:chExt cx="623659" cy="209978"/>
          </a:xfrm>
        </p:grpSpPr>
        <p:sp>
          <p:nvSpPr>
            <p:cNvPr id="27" name="半闭框 25"/>
            <p:cNvSpPr/>
            <p:nvPr>
              <p:custDataLst>
                <p:tags r:id="rId13"/>
              </p:custDataLst>
            </p:nvPr>
          </p:nvSpPr>
          <p:spPr>
            <a:xfrm rot="8100000">
              <a:off x="2858431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accent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半闭框 25"/>
            <p:cNvSpPr/>
            <p:nvPr>
              <p:custDataLst>
                <p:tags r:id="rId14"/>
              </p:custDataLst>
            </p:nvPr>
          </p:nvSpPr>
          <p:spPr>
            <a:xfrm rot="8100000">
              <a:off x="2651591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accent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半闭框 25"/>
            <p:cNvSpPr/>
            <p:nvPr>
              <p:custDataLst>
                <p:tags r:id="rId15"/>
              </p:custDataLst>
            </p:nvPr>
          </p:nvSpPr>
          <p:spPr>
            <a:xfrm rot="8100000">
              <a:off x="2444750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accent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>
            <p:custDataLst>
              <p:tags r:id="rId16"/>
            </p:custDataLst>
          </p:nvPr>
        </p:nvGrpSpPr>
        <p:grpSpPr>
          <a:xfrm>
            <a:off x="2270041" y="2139096"/>
            <a:ext cx="1812393" cy="2734415"/>
            <a:chOff x="3432871" y="1740353"/>
            <a:chExt cx="2563200" cy="3867181"/>
          </a:xfrm>
        </p:grpSpPr>
        <p:sp>
          <p:nvSpPr>
            <p:cNvPr id="33" name="矩形: 圆角 32"/>
            <p:cNvSpPr/>
            <p:nvPr>
              <p:custDataLst>
                <p:tags r:id="rId17"/>
              </p:custDataLst>
            </p:nvPr>
          </p:nvSpPr>
          <p:spPr>
            <a:xfrm>
              <a:off x="3432871" y="1740353"/>
              <a:ext cx="2563200" cy="3867181"/>
            </a:xfrm>
            <a:prstGeom prst="roundRect">
              <a:avLst>
                <a:gd name="adj" fmla="val 155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任意多边形: 形状 33"/>
            <p:cNvSpPr/>
            <p:nvPr>
              <p:custDataLst>
                <p:tags r:id="rId18"/>
              </p:custDataLst>
            </p:nvPr>
          </p:nvSpPr>
          <p:spPr>
            <a:xfrm>
              <a:off x="3432871" y="1740353"/>
              <a:ext cx="2563200" cy="830997"/>
            </a:xfrm>
            <a:custGeom>
              <a:avLst/>
              <a:gdLst>
                <a:gd name="connsiteX0" fmla="*/ 350210 w 2563200"/>
                <a:gd name="connsiteY0" fmla="*/ 0 h 790741"/>
                <a:gd name="connsiteX1" fmla="*/ 2212990 w 2563200"/>
                <a:gd name="connsiteY1" fmla="*/ 0 h 790741"/>
                <a:gd name="connsiteX2" fmla="*/ 2563200 w 2563200"/>
                <a:gd name="connsiteY2" fmla="*/ 350210 h 790741"/>
                <a:gd name="connsiteX3" fmla="*/ 2563200 w 2563200"/>
                <a:gd name="connsiteY3" fmla="*/ 790741 h 790741"/>
                <a:gd name="connsiteX4" fmla="*/ 0 w 2563200"/>
                <a:gd name="connsiteY4" fmla="*/ 790741 h 790741"/>
                <a:gd name="connsiteX5" fmla="*/ 0 w 2563200"/>
                <a:gd name="connsiteY5" fmla="*/ 350210 h 790741"/>
                <a:gd name="connsiteX6" fmla="*/ 350210 w 2563200"/>
                <a:gd name="connsiteY6" fmla="*/ 0 h 790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3200" h="790741">
                  <a:moveTo>
                    <a:pt x="350210" y="0"/>
                  </a:moveTo>
                  <a:lnTo>
                    <a:pt x="2212990" y="0"/>
                  </a:lnTo>
                  <a:cubicBezTo>
                    <a:pt x="2406406" y="0"/>
                    <a:pt x="2563200" y="156794"/>
                    <a:pt x="2563200" y="350210"/>
                  </a:cubicBezTo>
                  <a:lnTo>
                    <a:pt x="2563200" y="790741"/>
                  </a:lnTo>
                  <a:lnTo>
                    <a:pt x="0" y="790741"/>
                  </a:lnTo>
                  <a:lnTo>
                    <a:pt x="0" y="350210"/>
                  </a:lnTo>
                  <a:cubicBezTo>
                    <a:pt x="0" y="156794"/>
                    <a:pt x="156794" y="0"/>
                    <a:pt x="3502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35" name="文本框 34"/>
          <p:cNvSpPr txBox="1"/>
          <p:nvPr>
            <p:custDataLst>
              <p:tags r:id="rId19"/>
            </p:custDataLst>
          </p:nvPr>
        </p:nvSpPr>
        <p:spPr>
          <a:xfrm>
            <a:off x="2338251" y="2100066"/>
            <a:ext cx="123324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en-US" altLang="zh-CN" sz="3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36" name="组合 35"/>
          <p:cNvGrpSpPr/>
          <p:nvPr>
            <p:custDataLst>
              <p:tags r:id="rId20"/>
            </p:custDataLst>
          </p:nvPr>
        </p:nvGrpSpPr>
        <p:grpSpPr>
          <a:xfrm>
            <a:off x="3537441" y="2501806"/>
            <a:ext cx="440978" cy="148472"/>
            <a:chOff x="2444750" y="2049100"/>
            <a:chExt cx="623659" cy="209978"/>
          </a:xfrm>
        </p:grpSpPr>
        <p:sp>
          <p:nvSpPr>
            <p:cNvPr id="45" name="半闭框 25"/>
            <p:cNvSpPr/>
            <p:nvPr>
              <p:custDataLst>
                <p:tags r:id="rId21"/>
              </p:custDataLst>
            </p:nvPr>
          </p:nvSpPr>
          <p:spPr>
            <a:xfrm rot="8100000">
              <a:off x="2858431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半闭框 25"/>
            <p:cNvSpPr/>
            <p:nvPr>
              <p:custDataLst>
                <p:tags r:id="rId22"/>
              </p:custDataLst>
            </p:nvPr>
          </p:nvSpPr>
          <p:spPr>
            <a:xfrm rot="8100000">
              <a:off x="2651591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半闭框 25"/>
            <p:cNvSpPr/>
            <p:nvPr>
              <p:custDataLst>
                <p:tags r:id="rId23"/>
              </p:custDataLst>
            </p:nvPr>
          </p:nvSpPr>
          <p:spPr>
            <a:xfrm rot="8100000">
              <a:off x="2444750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7" name="文本框 36"/>
          <p:cNvSpPr txBox="1"/>
          <p:nvPr>
            <p:custDataLst>
              <p:tags r:id="rId24"/>
            </p:custDataLst>
          </p:nvPr>
        </p:nvSpPr>
        <p:spPr>
          <a:xfrm>
            <a:off x="2441115" y="2945201"/>
            <a:ext cx="1706639" cy="9038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 sz="4000">
                <a:solidFill>
                  <a:schemeClr val="accent1"/>
                </a:soli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</a:defRPr>
            </a:lvl1pPr>
          </a:lstStyle>
          <a:p>
            <a:r>
              <a:rPr lang="zh-CN" altLang="en-US" sz="2400" b="1" dirty="0"/>
              <a:t>感知模块技术路线演进</a:t>
            </a:r>
            <a:endParaRPr lang="zh-CN" altLang="en-US" sz="2400" b="1" dirty="0"/>
          </a:p>
          <a:p>
            <a:endParaRPr lang="zh-CN" altLang="en-US" sz="2400" b="1" dirty="0"/>
          </a:p>
        </p:txBody>
      </p:sp>
      <p:sp>
        <p:nvSpPr>
          <p:cNvPr id="39" name="文本框 38"/>
          <p:cNvSpPr txBox="1"/>
          <p:nvPr>
            <p:custDataLst>
              <p:tags r:id="rId25"/>
            </p:custDataLst>
          </p:nvPr>
        </p:nvSpPr>
        <p:spPr>
          <a:xfrm>
            <a:off x="2359840" y="3741833"/>
            <a:ext cx="1749596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bg1">
                    <a:lumMod val="75000"/>
                    <a:alpha val="37000"/>
                  </a:schemeClr>
                </a:solidFill>
                <a:latin typeface="+mn-ea"/>
              </a:rPr>
              <a:t>Lorem ipsum dolor sit amet, consectetuer</a:t>
            </a:r>
            <a:endParaRPr lang="zh-CN" altLang="en-US" sz="1500" dirty="0">
              <a:solidFill>
                <a:schemeClr val="bg1">
                  <a:lumMod val="75000"/>
                  <a:alpha val="37000"/>
                </a:schemeClr>
              </a:solidFill>
              <a:latin typeface="+mn-ea"/>
            </a:endParaRPr>
          </a:p>
        </p:txBody>
      </p:sp>
      <p:grpSp>
        <p:nvGrpSpPr>
          <p:cNvPr id="40" name="组合 39"/>
          <p:cNvGrpSpPr/>
          <p:nvPr>
            <p:custDataLst>
              <p:tags r:id="rId26"/>
            </p:custDataLst>
          </p:nvPr>
        </p:nvGrpSpPr>
        <p:grpSpPr>
          <a:xfrm>
            <a:off x="2380616" y="4517337"/>
            <a:ext cx="440978" cy="148472"/>
            <a:chOff x="2444750" y="2049100"/>
            <a:chExt cx="623659" cy="209978"/>
          </a:xfrm>
        </p:grpSpPr>
        <p:sp>
          <p:nvSpPr>
            <p:cNvPr id="42" name="半闭框 25"/>
            <p:cNvSpPr/>
            <p:nvPr>
              <p:custDataLst>
                <p:tags r:id="rId27"/>
              </p:custDataLst>
            </p:nvPr>
          </p:nvSpPr>
          <p:spPr>
            <a:xfrm rot="8100000">
              <a:off x="2858431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半闭框 25"/>
            <p:cNvSpPr/>
            <p:nvPr>
              <p:custDataLst>
                <p:tags r:id="rId28"/>
              </p:custDataLst>
            </p:nvPr>
          </p:nvSpPr>
          <p:spPr>
            <a:xfrm rot="8100000">
              <a:off x="2651591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半闭框 25"/>
            <p:cNvSpPr/>
            <p:nvPr>
              <p:custDataLst>
                <p:tags r:id="rId29"/>
              </p:custDataLst>
            </p:nvPr>
          </p:nvSpPr>
          <p:spPr>
            <a:xfrm rot="8100000">
              <a:off x="2444750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5" name="文本框 54"/>
          <p:cNvSpPr txBox="1"/>
          <p:nvPr>
            <p:custDataLst>
              <p:tags r:id="rId30"/>
            </p:custDataLst>
          </p:nvPr>
        </p:nvSpPr>
        <p:spPr>
          <a:xfrm>
            <a:off x="4405296" y="3741833"/>
            <a:ext cx="1749596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bg1">
                    <a:lumMod val="75000"/>
                    <a:alpha val="37000"/>
                  </a:schemeClr>
                </a:solidFill>
                <a:latin typeface="+mn-ea"/>
              </a:rPr>
              <a:t>Lorem ipsum dolor sit amet, consectetuer</a:t>
            </a:r>
            <a:endParaRPr lang="zh-CN" altLang="en-US" sz="1500" dirty="0">
              <a:solidFill>
                <a:schemeClr val="bg1">
                  <a:lumMod val="75000"/>
                  <a:alpha val="37000"/>
                </a:schemeClr>
              </a:solidFill>
              <a:latin typeface="+mn-ea"/>
            </a:endParaRPr>
          </a:p>
        </p:txBody>
      </p:sp>
      <p:sp>
        <p:nvSpPr>
          <p:cNvPr id="71" name="文本框 70"/>
          <p:cNvSpPr txBox="1"/>
          <p:nvPr>
            <p:custDataLst>
              <p:tags r:id="rId31"/>
            </p:custDataLst>
          </p:nvPr>
        </p:nvSpPr>
        <p:spPr>
          <a:xfrm>
            <a:off x="6280572" y="3741833"/>
            <a:ext cx="1749596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bg1">
                    <a:lumMod val="75000"/>
                    <a:alpha val="37000"/>
                  </a:schemeClr>
                </a:solidFill>
                <a:latin typeface="+mn-ea"/>
              </a:rPr>
              <a:t>Lorem ipsum dolor sit amet, consectetuer</a:t>
            </a:r>
            <a:endParaRPr lang="zh-CN" altLang="en-US" sz="1500" dirty="0">
              <a:solidFill>
                <a:schemeClr val="bg1">
                  <a:lumMod val="75000"/>
                  <a:alpha val="37000"/>
                </a:schemeClr>
              </a:solidFill>
              <a:latin typeface="+mn-ea"/>
            </a:endParaRPr>
          </a:p>
        </p:txBody>
      </p:sp>
      <p:sp>
        <p:nvSpPr>
          <p:cNvPr id="81" name="TextBox 3"/>
          <p:cNvSpPr txBox="1"/>
          <p:nvPr/>
        </p:nvSpPr>
        <p:spPr>
          <a:xfrm>
            <a:off x="0" y="0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模板 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>
            <p:custDataLst>
              <p:tags r:id="rId32"/>
            </p:custDataLst>
          </p:nvPr>
        </p:nvGrpSpPr>
        <p:grpSpPr>
          <a:xfrm>
            <a:off x="4213021" y="2151796"/>
            <a:ext cx="1812393" cy="2734415"/>
            <a:chOff x="660400" y="1740353"/>
            <a:chExt cx="2563200" cy="3867181"/>
          </a:xfrm>
        </p:grpSpPr>
        <p:sp>
          <p:nvSpPr>
            <p:cNvPr id="16" name="矩形: 圆角 14"/>
            <p:cNvSpPr/>
            <p:nvPr>
              <p:custDataLst>
                <p:tags r:id="rId33"/>
              </p:custDataLst>
            </p:nvPr>
          </p:nvSpPr>
          <p:spPr>
            <a:xfrm>
              <a:off x="660400" y="1740353"/>
              <a:ext cx="2563200" cy="3867181"/>
            </a:xfrm>
            <a:prstGeom prst="roundRect">
              <a:avLst>
                <a:gd name="adj" fmla="val 155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: 形状 9"/>
            <p:cNvSpPr/>
            <p:nvPr>
              <p:custDataLst>
                <p:tags r:id="rId34"/>
              </p:custDataLst>
            </p:nvPr>
          </p:nvSpPr>
          <p:spPr>
            <a:xfrm>
              <a:off x="660400" y="1740353"/>
              <a:ext cx="2563200" cy="830997"/>
            </a:xfrm>
            <a:custGeom>
              <a:avLst/>
              <a:gdLst>
                <a:gd name="connsiteX0" fmla="*/ 350210 w 2563200"/>
                <a:gd name="connsiteY0" fmla="*/ 0 h 790741"/>
                <a:gd name="connsiteX1" fmla="*/ 2212990 w 2563200"/>
                <a:gd name="connsiteY1" fmla="*/ 0 h 790741"/>
                <a:gd name="connsiteX2" fmla="*/ 2563200 w 2563200"/>
                <a:gd name="connsiteY2" fmla="*/ 350210 h 790741"/>
                <a:gd name="connsiteX3" fmla="*/ 2563200 w 2563200"/>
                <a:gd name="connsiteY3" fmla="*/ 790741 h 790741"/>
                <a:gd name="connsiteX4" fmla="*/ 0 w 2563200"/>
                <a:gd name="connsiteY4" fmla="*/ 790741 h 790741"/>
                <a:gd name="connsiteX5" fmla="*/ 0 w 2563200"/>
                <a:gd name="connsiteY5" fmla="*/ 350210 h 790741"/>
                <a:gd name="connsiteX6" fmla="*/ 350210 w 2563200"/>
                <a:gd name="connsiteY6" fmla="*/ 0 h 790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3200" h="790741">
                  <a:moveTo>
                    <a:pt x="350210" y="0"/>
                  </a:moveTo>
                  <a:lnTo>
                    <a:pt x="2212990" y="0"/>
                  </a:lnTo>
                  <a:cubicBezTo>
                    <a:pt x="2406406" y="0"/>
                    <a:pt x="2563200" y="156794"/>
                    <a:pt x="2563200" y="350210"/>
                  </a:cubicBezTo>
                  <a:lnTo>
                    <a:pt x="2563200" y="790741"/>
                  </a:lnTo>
                  <a:lnTo>
                    <a:pt x="0" y="790741"/>
                  </a:lnTo>
                  <a:lnTo>
                    <a:pt x="0" y="350210"/>
                  </a:lnTo>
                  <a:cubicBezTo>
                    <a:pt x="0" y="156794"/>
                    <a:pt x="156794" y="0"/>
                    <a:pt x="350210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4" name="文本框 23"/>
          <p:cNvSpPr txBox="1"/>
          <p:nvPr>
            <p:custDataLst>
              <p:tags r:id="rId35"/>
            </p:custDataLst>
          </p:nvPr>
        </p:nvSpPr>
        <p:spPr>
          <a:xfrm>
            <a:off x="4302760" y="2112645"/>
            <a:ext cx="930910" cy="6267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+mj-ea"/>
                <a:ea typeface="+mj-ea"/>
              </a:rPr>
              <a:t>03</a:t>
            </a:r>
            <a:endParaRPr lang="en-US" altLang="zh-CN" sz="3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31" name="组合 30"/>
          <p:cNvGrpSpPr/>
          <p:nvPr>
            <p:custDataLst>
              <p:tags r:id="rId36"/>
            </p:custDataLst>
          </p:nvPr>
        </p:nvGrpSpPr>
        <p:grpSpPr>
          <a:xfrm>
            <a:off x="5480421" y="2514506"/>
            <a:ext cx="440978" cy="148472"/>
            <a:chOff x="2444750" y="2049100"/>
            <a:chExt cx="623659" cy="209978"/>
          </a:xfrm>
        </p:grpSpPr>
        <p:sp>
          <p:nvSpPr>
            <p:cNvPr id="32" name="半闭框 25"/>
            <p:cNvSpPr/>
            <p:nvPr>
              <p:custDataLst>
                <p:tags r:id="rId37"/>
              </p:custDataLst>
            </p:nvPr>
          </p:nvSpPr>
          <p:spPr>
            <a:xfrm rot="8100000">
              <a:off x="2858431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半闭框 25"/>
            <p:cNvSpPr/>
            <p:nvPr>
              <p:custDataLst>
                <p:tags r:id="rId38"/>
              </p:custDataLst>
            </p:nvPr>
          </p:nvSpPr>
          <p:spPr>
            <a:xfrm rot="8100000">
              <a:off x="2651591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半闭框 25"/>
            <p:cNvSpPr/>
            <p:nvPr>
              <p:custDataLst>
                <p:tags r:id="rId39"/>
              </p:custDataLst>
            </p:nvPr>
          </p:nvSpPr>
          <p:spPr>
            <a:xfrm rot="8100000">
              <a:off x="2444750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4" name="文本框 53"/>
          <p:cNvSpPr txBox="1"/>
          <p:nvPr>
            <p:custDataLst>
              <p:tags r:id="rId40"/>
            </p:custDataLst>
          </p:nvPr>
        </p:nvSpPr>
        <p:spPr>
          <a:xfrm>
            <a:off x="4357370" y="2945130"/>
            <a:ext cx="16681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</a:rPr>
              <a:t>规划模块技术路线演进</a:t>
            </a:r>
            <a:endParaRPr lang="zh-CN" altLang="en-US" sz="2400" b="1" dirty="0">
              <a:solidFill>
                <a:schemeClr val="accent1"/>
              </a:solidFill>
              <a:latin typeface="阿里巴巴普惠体 Heavy" pitchFamily="18" charset="-122"/>
              <a:ea typeface="阿里巴巴普惠体 Heavy" pitchFamily="18" charset="-122"/>
              <a:cs typeface="阿里巴巴普惠体 Heavy" pitchFamily="18" charset="-122"/>
            </a:endParaRPr>
          </a:p>
        </p:txBody>
      </p:sp>
      <p:grpSp>
        <p:nvGrpSpPr>
          <p:cNvPr id="64" name="组合 63"/>
          <p:cNvGrpSpPr/>
          <p:nvPr>
            <p:custDataLst>
              <p:tags r:id="rId41"/>
            </p:custDataLst>
          </p:nvPr>
        </p:nvGrpSpPr>
        <p:grpSpPr>
          <a:xfrm>
            <a:off x="4323595" y="4530037"/>
            <a:ext cx="440978" cy="148472"/>
            <a:chOff x="2444750" y="2049100"/>
            <a:chExt cx="623659" cy="209978"/>
          </a:xfrm>
        </p:grpSpPr>
        <p:sp>
          <p:nvSpPr>
            <p:cNvPr id="70" name="半闭框 25"/>
            <p:cNvSpPr/>
            <p:nvPr>
              <p:custDataLst>
                <p:tags r:id="rId42"/>
              </p:custDataLst>
            </p:nvPr>
          </p:nvSpPr>
          <p:spPr>
            <a:xfrm rot="8100000">
              <a:off x="2858431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accent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半闭框 25"/>
            <p:cNvSpPr/>
            <p:nvPr>
              <p:custDataLst>
                <p:tags r:id="rId43"/>
              </p:custDataLst>
            </p:nvPr>
          </p:nvSpPr>
          <p:spPr>
            <a:xfrm rot="8100000">
              <a:off x="2651591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accent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半闭框 25"/>
            <p:cNvSpPr/>
            <p:nvPr>
              <p:custDataLst>
                <p:tags r:id="rId44"/>
              </p:custDataLst>
            </p:nvPr>
          </p:nvSpPr>
          <p:spPr>
            <a:xfrm rot="8100000">
              <a:off x="2444750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accent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3" name="组合 82"/>
          <p:cNvGrpSpPr/>
          <p:nvPr>
            <p:custDataLst>
              <p:tags r:id="rId45"/>
            </p:custDataLst>
          </p:nvPr>
        </p:nvGrpSpPr>
        <p:grpSpPr>
          <a:xfrm>
            <a:off x="8078266" y="2151796"/>
            <a:ext cx="1812393" cy="2734415"/>
            <a:chOff x="660400" y="1740353"/>
            <a:chExt cx="2563200" cy="3867181"/>
          </a:xfrm>
        </p:grpSpPr>
        <p:sp>
          <p:nvSpPr>
            <p:cNvPr id="84" name="矩形: 圆角 14"/>
            <p:cNvSpPr/>
            <p:nvPr>
              <p:custDataLst>
                <p:tags r:id="rId46"/>
              </p:custDataLst>
            </p:nvPr>
          </p:nvSpPr>
          <p:spPr>
            <a:xfrm>
              <a:off x="660400" y="1740353"/>
              <a:ext cx="2563200" cy="3867181"/>
            </a:xfrm>
            <a:prstGeom prst="roundRect">
              <a:avLst>
                <a:gd name="adj" fmla="val 155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任意多边形: 形状 9"/>
            <p:cNvSpPr/>
            <p:nvPr>
              <p:custDataLst>
                <p:tags r:id="rId47"/>
              </p:custDataLst>
            </p:nvPr>
          </p:nvSpPr>
          <p:spPr>
            <a:xfrm>
              <a:off x="660400" y="1740353"/>
              <a:ext cx="2563200" cy="830997"/>
            </a:xfrm>
            <a:custGeom>
              <a:avLst/>
              <a:gdLst>
                <a:gd name="connsiteX0" fmla="*/ 350210 w 2563200"/>
                <a:gd name="connsiteY0" fmla="*/ 0 h 790741"/>
                <a:gd name="connsiteX1" fmla="*/ 2212990 w 2563200"/>
                <a:gd name="connsiteY1" fmla="*/ 0 h 790741"/>
                <a:gd name="connsiteX2" fmla="*/ 2563200 w 2563200"/>
                <a:gd name="connsiteY2" fmla="*/ 350210 h 790741"/>
                <a:gd name="connsiteX3" fmla="*/ 2563200 w 2563200"/>
                <a:gd name="connsiteY3" fmla="*/ 790741 h 790741"/>
                <a:gd name="connsiteX4" fmla="*/ 0 w 2563200"/>
                <a:gd name="connsiteY4" fmla="*/ 790741 h 790741"/>
                <a:gd name="connsiteX5" fmla="*/ 0 w 2563200"/>
                <a:gd name="connsiteY5" fmla="*/ 350210 h 790741"/>
                <a:gd name="connsiteX6" fmla="*/ 350210 w 2563200"/>
                <a:gd name="connsiteY6" fmla="*/ 0 h 790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3200" h="790741">
                  <a:moveTo>
                    <a:pt x="350210" y="0"/>
                  </a:moveTo>
                  <a:lnTo>
                    <a:pt x="2212990" y="0"/>
                  </a:lnTo>
                  <a:cubicBezTo>
                    <a:pt x="2406406" y="0"/>
                    <a:pt x="2563200" y="156794"/>
                    <a:pt x="2563200" y="350210"/>
                  </a:cubicBezTo>
                  <a:lnTo>
                    <a:pt x="2563200" y="790741"/>
                  </a:lnTo>
                  <a:lnTo>
                    <a:pt x="0" y="790741"/>
                  </a:lnTo>
                  <a:lnTo>
                    <a:pt x="0" y="350210"/>
                  </a:lnTo>
                  <a:cubicBezTo>
                    <a:pt x="0" y="156794"/>
                    <a:pt x="156794" y="0"/>
                    <a:pt x="350210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86" name="文本框 85"/>
          <p:cNvSpPr txBox="1"/>
          <p:nvPr>
            <p:custDataLst>
              <p:tags r:id="rId48"/>
            </p:custDataLst>
          </p:nvPr>
        </p:nvSpPr>
        <p:spPr>
          <a:xfrm>
            <a:off x="8168005" y="2112645"/>
            <a:ext cx="930910" cy="6267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+mj-ea"/>
                <a:ea typeface="+mj-ea"/>
              </a:rPr>
              <a:t>05</a:t>
            </a:r>
            <a:endParaRPr lang="en-US" altLang="zh-CN" sz="3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87" name="组合 86"/>
          <p:cNvGrpSpPr/>
          <p:nvPr>
            <p:custDataLst>
              <p:tags r:id="rId49"/>
            </p:custDataLst>
          </p:nvPr>
        </p:nvGrpSpPr>
        <p:grpSpPr>
          <a:xfrm>
            <a:off x="9345666" y="2514506"/>
            <a:ext cx="440978" cy="148472"/>
            <a:chOff x="2444750" y="2049100"/>
            <a:chExt cx="623659" cy="209978"/>
          </a:xfrm>
        </p:grpSpPr>
        <p:sp>
          <p:nvSpPr>
            <p:cNvPr id="88" name="半闭框 25"/>
            <p:cNvSpPr/>
            <p:nvPr>
              <p:custDataLst>
                <p:tags r:id="rId50"/>
              </p:custDataLst>
            </p:nvPr>
          </p:nvSpPr>
          <p:spPr>
            <a:xfrm rot="8100000">
              <a:off x="2858431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半闭框 25"/>
            <p:cNvSpPr/>
            <p:nvPr>
              <p:custDataLst>
                <p:tags r:id="rId51"/>
              </p:custDataLst>
            </p:nvPr>
          </p:nvSpPr>
          <p:spPr>
            <a:xfrm rot="8100000">
              <a:off x="2651591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半闭框 25"/>
            <p:cNvSpPr/>
            <p:nvPr>
              <p:custDataLst>
                <p:tags r:id="rId52"/>
              </p:custDataLst>
            </p:nvPr>
          </p:nvSpPr>
          <p:spPr>
            <a:xfrm rot="8100000">
              <a:off x="2444750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1" name="文本框 90"/>
          <p:cNvSpPr txBox="1"/>
          <p:nvPr>
            <p:custDataLst>
              <p:tags r:id="rId53"/>
            </p:custDataLst>
          </p:nvPr>
        </p:nvSpPr>
        <p:spPr>
          <a:xfrm>
            <a:off x="8078568" y="2935041"/>
            <a:ext cx="183954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</a:rPr>
              <a:t>未来展望</a:t>
            </a:r>
            <a:endParaRPr lang="zh-CN" altLang="en-US" sz="2400" b="1" dirty="0">
              <a:solidFill>
                <a:schemeClr val="accent1"/>
              </a:solidFill>
              <a:latin typeface="阿里巴巴普惠体 Heavy" pitchFamily="18" charset="-122"/>
              <a:ea typeface="阿里巴巴普惠体 Heavy" pitchFamily="18" charset="-122"/>
              <a:cs typeface="阿里巴巴普惠体 Heavy" pitchFamily="18" charset="-122"/>
            </a:endParaRPr>
          </a:p>
        </p:txBody>
      </p:sp>
      <p:grpSp>
        <p:nvGrpSpPr>
          <p:cNvPr id="92" name="组合 91"/>
          <p:cNvGrpSpPr/>
          <p:nvPr>
            <p:custDataLst>
              <p:tags r:id="rId54"/>
            </p:custDataLst>
          </p:nvPr>
        </p:nvGrpSpPr>
        <p:grpSpPr>
          <a:xfrm>
            <a:off x="8188840" y="4530037"/>
            <a:ext cx="440978" cy="148472"/>
            <a:chOff x="2444750" y="2049100"/>
            <a:chExt cx="623659" cy="209978"/>
          </a:xfrm>
        </p:grpSpPr>
        <p:sp>
          <p:nvSpPr>
            <p:cNvPr id="93" name="半闭框 25"/>
            <p:cNvSpPr/>
            <p:nvPr>
              <p:custDataLst>
                <p:tags r:id="rId55"/>
              </p:custDataLst>
            </p:nvPr>
          </p:nvSpPr>
          <p:spPr>
            <a:xfrm rot="8100000">
              <a:off x="2858431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accent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半闭框 25"/>
            <p:cNvSpPr/>
            <p:nvPr>
              <p:custDataLst>
                <p:tags r:id="rId56"/>
              </p:custDataLst>
            </p:nvPr>
          </p:nvSpPr>
          <p:spPr>
            <a:xfrm rot="8100000">
              <a:off x="2651591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accent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半闭框 25"/>
            <p:cNvSpPr/>
            <p:nvPr>
              <p:custDataLst>
                <p:tags r:id="rId57"/>
              </p:custDataLst>
            </p:nvPr>
          </p:nvSpPr>
          <p:spPr>
            <a:xfrm rot="8100000">
              <a:off x="2444750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accent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6" name="组合 95"/>
          <p:cNvGrpSpPr/>
          <p:nvPr>
            <p:custDataLst>
              <p:tags r:id="rId58"/>
            </p:custDataLst>
          </p:nvPr>
        </p:nvGrpSpPr>
        <p:grpSpPr>
          <a:xfrm>
            <a:off x="6143541" y="2136556"/>
            <a:ext cx="1812393" cy="2734415"/>
            <a:chOff x="3432871" y="1740353"/>
            <a:chExt cx="2563200" cy="3867181"/>
          </a:xfrm>
        </p:grpSpPr>
        <p:sp>
          <p:nvSpPr>
            <p:cNvPr id="97" name="矩形: 圆角 32"/>
            <p:cNvSpPr/>
            <p:nvPr>
              <p:custDataLst>
                <p:tags r:id="rId59"/>
              </p:custDataLst>
            </p:nvPr>
          </p:nvSpPr>
          <p:spPr>
            <a:xfrm>
              <a:off x="3432871" y="1740353"/>
              <a:ext cx="2563200" cy="3867181"/>
            </a:xfrm>
            <a:prstGeom prst="roundRect">
              <a:avLst>
                <a:gd name="adj" fmla="val 155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任意多边形: 形状 33"/>
            <p:cNvSpPr/>
            <p:nvPr>
              <p:custDataLst>
                <p:tags r:id="rId60"/>
              </p:custDataLst>
            </p:nvPr>
          </p:nvSpPr>
          <p:spPr>
            <a:xfrm>
              <a:off x="3432871" y="1740353"/>
              <a:ext cx="2563200" cy="830997"/>
            </a:xfrm>
            <a:custGeom>
              <a:avLst/>
              <a:gdLst>
                <a:gd name="connsiteX0" fmla="*/ 350210 w 2563200"/>
                <a:gd name="connsiteY0" fmla="*/ 0 h 790741"/>
                <a:gd name="connsiteX1" fmla="*/ 2212990 w 2563200"/>
                <a:gd name="connsiteY1" fmla="*/ 0 h 790741"/>
                <a:gd name="connsiteX2" fmla="*/ 2563200 w 2563200"/>
                <a:gd name="connsiteY2" fmla="*/ 350210 h 790741"/>
                <a:gd name="connsiteX3" fmla="*/ 2563200 w 2563200"/>
                <a:gd name="connsiteY3" fmla="*/ 790741 h 790741"/>
                <a:gd name="connsiteX4" fmla="*/ 0 w 2563200"/>
                <a:gd name="connsiteY4" fmla="*/ 790741 h 790741"/>
                <a:gd name="connsiteX5" fmla="*/ 0 w 2563200"/>
                <a:gd name="connsiteY5" fmla="*/ 350210 h 790741"/>
                <a:gd name="connsiteX6" fmla="*/ 350210 w 2563200"/>
                <a:gd name="connsiteY6" fmla="*/ 0 h 790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3200" h="790741">
                  <a:moveTo>
                    <a:pt x="350210" y="0"/>
                  </a:moveTo>
                  <a:lnTo>
                    <a:pt x="2212990" y="0"/>
                  </a:lnTo>
                  <a:cubicBezTo>
                    <a:pt x="2406406" y="0"/>
                    <a:pt x="2563200" y="156794"/>
                    <a:pt x="2563200" y="350210"/>
                  </a:cubicBezTo>
                  <a:lnTo>
                    <a:pt x="2563200" y="790741"/>
                  </a:lnTo>
                  <a:lnTo>
                    <a:pt x="0" y="790741"/>
                  </a:lnTo>
                  <a:lnTo>
                    <a:pt x="0" y="350210"/>
                  </a:lnTo>
                  <a:cubicBezTo>
                    <a:pt x="0" y="156794"/>
                    <a:pt x="156794" y="0"/>
                    <a:pt x="3502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99" name="文本框 98"/>
          <p:cNvSpPr txBox="1"/>
          <p:nvPr>
            <p:custDataLst>
              <p:tags r:id="rId61"/>
            </p:custDataLst>
          </p:nvPr>
        </p:nvSpPr>
        <p:spPr>
          <a:xfrm>
            <a:off x="6211751" y="2097526"/>
            <a:ext cx="123324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+mj-ea"/>
                <a:ea typeface="+mj-ea"/>
              </a:rPr>
              <a:t>04</a:t>
            </a:r>
            <a:endParaRPr lang="en-US" altLang="zh-CN" sz="3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00" name="组合 99"/>
          <p:cNvGrpSpPr/>
          <p:nvPr>
            <p:custDataLst>
              <p:tags r:id="rId62"/>
            </p:custDataLst>
          </p:nvPr>
        </p:nvGrpSpPr>
        <p:grpSpPr>
          <a:xfrm>
            <a:off x="7410941" y="2499266"/>
            <a:ext cx="440978" cy="148472"/>
            <a:chOff x="2444750" y="2049100"/>
            <a:chExt cx="623659" cy="209978"/>
          </a:xfrm>
        </p:grpSpPr>
        <p:sp>
          <p:nvSpPr>
            <p:cNvPr id="101" name="半闭框 25"/>
            <p:cNvSpPr/>
            <p:nvPr>
              <p:custDataLst>
                <p:tags r:id="rId63"/>
              </p:custDataLst>
            </p:nvPr>
          </p:nvSpPr>
          <p:spPr>
            <a:xfrm rot="8100000">
              <a:off x="2858431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半闭框 25"/>
            <p:cNvSpPr/>
            <p:nvPr>
              <p:custDataLst>
                <p:tags r:id="rId64"/>
              </p:custDataLst>
            </p:nvPr>
          </p:nvSpPr>
          <p:spPr>
            <a:xfrm rot="8100000">
              <a:off x="2651591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半闭框 25"/>
            <p:cNvSpPr/>
            <p:nvPr>
              <p:custDataLst>
                <p:tags r:id="rId65"/>
              </p:custDataLst>
            </p:nvPr>
          </p:nvSpPr>
          <p:spPr>
            <a:xfrm rot="8100000">
              <a:off x="2444750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4" name="文本框 103"/>
          <p:cNvSpPr txBox="1"/>
          <p:nvPr>
            <p:custDataLst>
              <p:tags r:id="rId66"/>
            </p:custDataLst>
          </p:nvPr>
        </p:nvSpPr>
        <p:spPr>
          <a:xfrm>
            <a:off x="6211745" y="2942661"/>
            <a:ext cx="1706639" cy="9038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 sz="4000">
                <a:solidFill>
                  <a:schemeClr val="accent1"/>
                </a:soli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</a:defRPr>
            </a:lvl1pPr>
          </a:lstStyle>
          <a:p>
            <a:r>
              <a:rPr lang="zh-CN" altLang="en-US" sz="2400" b="1" dirty="0"/>
              <a:t>当前挑战</a:t>
            </a:r>
            <a:endParaRPr lang="zh-CN" altLang="en-US" sz="2400" b="1" dirty="0"/>
          </a:p>
        </p:txBody>
      </p:sp>
      <p:grpSp>
        <p:nvGrpSpPr>
          <p:cNvPr id="105" name="组合 104"/>
          <p:cNvGrpSpPr/>
          <p:nvPr>
            <p:custDataLst>
              <p:tags r:id="rId67"/>
            </p:custDataLst>
          </p:nvPr>
        </p:nvGrpSpPr>
        <p:grpSpPr>
          <a:xfrm>
            <a:off x="6254116" y="4514797"/>
            <a:ext cx="440978" cy="148472"/>
            <a:chOff x="2444750" y="2049100"/>
            <a:chExt cx="623659" cy="209978"/>
          </a:xfrm>
        </p:grpSpPr>
        <p:sp>
          <p:nvSpPr>
            <p:cNvPr id="106" name="半闭框 25"/>
            <p:cNvSpPr/>
            <p:nvPr>
              <p:custDataLst>
                <p:tags r:id="rId68"/>
              </p:custDataLst>
            </p:nvPr>
          </p:nvSpPr>
          <p:spPr>
            <a:xfrm rot="8100000">
              <a:off x="2858431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半闭框 25"/>
            <p:cNvSpPr/>
            <p:nvPr>
              <p:custDataLst>
                <p:tags r:id="rId69"/>
              </p:custDataLst>
            </p:nvPr>
          </p:nvSpPr>
          <p:spPr>
            <a:xfrm rot="8100000">
              <a:off x="2651591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半闭框 25"/>
            <p:cNvSpPr/>
            <p:nvPr>
              <p:custDataLst>
                <p:tags r:id="rId70"/>
              </p:custDataLst>
            </p:nvPr>
          </p:nvSpPr>
          <p:spPr>
            <a:xfrm rot="8100000">
              <a:off x="2444750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9" name="组合 108"/>
          <p:cNvGrpSpPr/>
          <p:nvPr>
            <p:custDataLst>
              <p:tags r:id="rId71"/>
            </p:custDataLst>
          </p:nvPr>
        </p:nvGrpSpPr>
        <p:grpSpPr>
          <a:xfrm>
            <a:off x="10066571" y="2134016"/>
            <a:ext cx="1812393" cy="2734415"/>
            <a:chOff x="3432871" y="1740353"/>
            <a:chExt cx="2563200" cy="3867181"/>
          </a:xfrm>
        </p:grpSpPr>
        <p:sp>
          <p:nvSpPr>
            <p:cNvPr id="110" name="矩形: 圆角 32"/>
            <p:cNvSpPr/>
            <p:nvPr>
              <p:custDataLst>
                <p:tags r:id="rId72"/>
              </p:custDataLst>
            </p:nvPr>
          </p:nvSpPr>
          <p:spPr>
            <a:xfrm>
              <a:off x="3432871" y="1740353"/>
              <a:ext cx="2563200" cy="3867181"/>
            </a:xfrm>
            <a:prstGeom prst="roundRect">
              <a:avLst>
                <a:gd name="adj" fmla="val 155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任意多边形: 形状 33"/>
            <p:cNvSpPr/>
            <p:nvPr>
              <p:custDataLst>
                <p:tags r:id="rId73"/>
              </p:custDataLst>
            </p:nvPr>
          </p:nvSpPr>
          <p:spPr>
            <a:xfrm>
              <a:off x="3432871" y="1740353"/>
              <a:ext cx="2563200" cy="830997"/>
            </a:xfrm>
            <a:custGeom>
              <a:avLst/>
              <a:gdLst>
                <a:gd name="connsiteX0" fmla="*/ 350210 w 2563200"/>
                <a:gd name="connsiteY0" fmla="*/ 0 h 790741"/>
                <a:gd name="connsiteX1" fmla="*/ 2212990 w 2563200"/>
                <a:gd name="connsiteY1" fmla="*/ 0 h 790741"/>
                <a:gd name="connsiteX2" fmla="*/ 2563200 w 2563200"/>
                <a:gd name="connsiteY2" fmla="*/ 350210 h 790741"/>
                <a:gd name="connsiteX3" fmla="*/ 2563200 w 2563200"/>
                <a:gd name="connsiteY3" fmla="*/ 790741 h 790741"/>
                <a:gd name="connsiteX4" fmla="*/ 0 w 2563200"/>
                <a:gd name="connsiteY4" fmla="*/ 790741 h 790741"/>
                <a:gd name="connsiteX5" fmla="*/ 0 w 2563200"/>
                <a:gd name="connsiteY5" fmla="*/ 350210 h 790741"/>
                <a:gd name="connsiteX6" fmla="*/ 350210 w 2563200"/>
                <a:gd name="connsiteY6" fmla="*/ 0 h 790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3200" h="790741">
                  <a:moveTo>
                    <a:pt x="350210" y="0"/>
                  </a:moveTo>
                  <a:lnTo>
                    <a:pt x="2212990" y="0"/>
                  </a:lnTo>
                  <a:cubicBezTo>
                    <a:pt x="2406406" y="0"/>
                    <a:pt x="2563200" y="156794"/>
                    <a:pt x="2563200" y="350210"/>
                  </a:cubicBezTo>
                  <a:lnTo>
                    <a:pt x="2563200" y="790741"/>
                  </a:lnTo>
                  <a:lnTo>
                    <a:pt x="0" y="790741"/>
                  </a:lnTo>
                  <a:lnTo>
                    <a:pt x="0" y="350210"/>
                  </a:lnTo>
                  <a:cubicBezTo>
                    <a:pt x="0" y="156794"/>
                    <a:pt x="156794" y="0"/>
                    <a:pt x="3502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12" name="文本框 111"/>
          <p:cNvSpPr txBox="1"/>
          <p:nvPr>
            <p:custDataLst>
              <p:tags r:id="rId74"/>
            </p:custDataLst>
          </p:nvPr>
        </p:nvSpPr>
        <p:spPr>
          <a:xfrm>
            <a:off x="10134781" y="2094986"/>
            <a:ext cx="123324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en-US" altLang="zh-CN" sz="3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3" name="组合 112"/>
          <p:cNvGrpSpPr/>
          <p:nvPr>
            <p:custDataLst>
              <p:tags r:id="rId75"/>
            </p:custDataLst>
          </p:nvPr>
        </p:nvGrpSpPr>
        <p:grpSpPr>
          <a:xfrm>
            <a:off x="11333971" y="2496726"/>
            <a:ext cx="440978" cy="148472"/>
            <a:chOff x="2444750" y="2049100"/>
            <a:chExt cx="623659" cy="209978"/>
          </a:xfrm>
        </p:grpSpPr>
        <p:sp>
          <p:nvSpPr>
            <p:cNvPr id="114" name="半闭框 25"/>
            <p:cNvSpPr/>
            <p:nvPr>
              <p:custDataLst>
                <p:tags r:id="rId76"/>
              </p:custDataLst>
            </p:nvPr>
          </p:nvSpPr>
          <p:spPr>
            <a:xfrm rot="8100000">
              <a:off x="2858431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半闭框 25"/>
            <p:cNvSpPr/>
            <p:nvPr>
              <p:custDataLst>
                <p:tags r:id="rId77"/>
              </p:custDataLst>
            </p:nvPr>
          </p:nvSpPr>
          <p:spPr>
            <a:xfrm rot="8100000">
              <a:off x="2651591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半闭框 25"/>
            <p:cNvSpPr/>
            <p:nvPr>
              <p:custDataLst>
                <p:tags r:id="rId78"/>
              </p:custDataLst>
            </p:nvPr>
          </p:nvSpPr>
          <p:spPr>
            <a:xfrm rot="8100000">
              <a:off x="2444750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7" name="文本框 116"/>
          <p:cNvSpPr txBox="1"/>
          <p:nvPr>
            <p:custDataLst>
              <p:tags r:id="rId79"/>
            </p:custDataLst>
          </p:nvPr>
        </p:nvSpPr>
        <p:spPr>
          <a:xfrm>
            <a:off x="10134775" y="2940121"/>
            <a:ext cx="1706639" cy="9038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 sz="4000">
                <a:solidFill>
                  <a:schemeClr val="accent1"/>
                </a:soli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</a:defRPr>
            </a:lvl1pPr>
          </a:lstStyle>
          <a:p>
            <a:r>
              <a:rPr lang="zh-CN" altLang="en-US" sz="2400" b="1" dirty="0"/>
              <a:t>总结</a:t>
            </a:r>
            <a:r>
              <a:rPr lang="zh-CN" altLang="en-US" sz="2400" b="1" dirty="0"/>
              <a:t>与</a:t>
            </a:r>
            <a:endParaRPr lang="zh-CN" altLang="en-US" sz="2400" b="1" dirty="0"/>
          </a:p>
          <a:p>
            <a:r>
              <a:rPr lang="zh-CN" altLang="en-US" sz="2400" b="1" dirty="0"/>
              <a:t>参考文献</a:t>
            </a:r>
            <a:endParaRPr lang="zh-CN" altLang="en-US" sz="2400" b="1" dirty="0"/>
          </a:p>
        </p:txBody>
      </p:sp>
      <p:grpSp>
        <p:nvGrpSpPr>
          <p:cNvPr id="118" name="组合 117"/>
          <p:cNvGrpSpPr/>
          <p:nvPr>
            <p:custDataLst>
              <p:tags r:id="rId80"/>
            </p:custDataLst>
          </p:nvPr>
        </p:nvGrpSpPr>
        <p:grpSpPr>
          <a:xfrm>
            <a:off x="10177146" y="4512257"/>
            <a:ext cx="440978" cy="148472"/>
            <a:chOff x="2444750" y="2049100"/>
            <a:chExt cx="623659" cy="209978"/>
          </a:xfrm>
        </p:grpSpPr>
        <p:sp>
          <p:nvSpPr>
            <p:cNvPr id="119" name="半闭框 25"/>
            <p:cNvSpPr/>
            <p:nvPr>
              <p:custDataLst>
                <p:tags r:id="rId81"/>
              </p:custDataLst>
            </p:nvPr>
          </p:nvSpPr>
          <p:spPr>
            <a:xfrm rot="8100000">
              <a:off x="2858431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半闭框 25"/>
            <p:cNvSpPr/>
            <p:nvPr>
              <p:custDataLst>
                <p:tags r:id="rId82"/>
              </p:custDataLst>
            </p:nvPr>
          </p:nvSpPr>
          <p:spPr>
            <a:xfrm rot="8100000">
              <a:off x="2651591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半闭框 25"/>
            <p:cNvSpPr/>
            <p:nvPr>
              <p:custDataLst>
                <p:tags r:id="rId83"/>
              </p:custDataLst>
            </p:nvPr>
          </p:nvSpPr>
          <p:spPr>
            <a:xfrm rot="8100000">
              <a:off x="2444750" y="2049100"/>
              <a:ext cx="209978" cy="209978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00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0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0"/>
                            </p:stCondLst>
                            <p:childTnLst>
                              <p:par>
                                <p:cTn id="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100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20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3000"/>
                            </p:stCondLst>
                            <p:childTnLst>
                              <p:par>
                                <p:cTn id="7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4000"/>
                            </p:stCondLst>
                            <p:childTnLst>
                              <p:par>
                                <p:cTn id="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0"/>
                            </p:stCondLst>
                            <p:childTnLst>
                              <p:par>
                                <p:cTn id="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6000"/>
                            </p:stCondLst>
                            <p:childTnLst>
                              <p:par>
                                <p:cTn id="8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7000"/>
                            </p:stCondLst>
                            <p:childTnLst>
                              <p:par>
                                <p:cTn id="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8000"/>
                            </p:stCondLst>
                            <p:childTnLst>
                              <p:par>
                                <p:cTn id="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9000"/>
                            </p:stCondLst>
                            <p:childTnLst>
                              <p:par>
                                <p:cTn id="10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0000"/>
                            </p:stCondLst>
                            <p:childTnLst>
                              <p:par>
                                <p:cTn id="10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1000"/>
                            </p:stCondLst>
                            <p:childTnLst>
                              <p:par>
                                <p:cTn id="1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2000"/>
                            </p:stCondLst>
                            <p:childTnLst>
                              <p:par>
                                <p:cTn id="1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3000"/>
                            </p:stCondLst>
                            <p:childTnLst>
                              <p:par>
                                <p:cTn id="1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4000"/>
                            </p:stCondLst>
                            <p:childTnLst>
                              <p:par>
                                <p:cTn id="1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5000"/>
                            </p:stCondLst>
                            <p:childTnLst>
                              <p:par>
                                <p:cTn id="1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6000"/>
                            </p:stCondLst>
                            <p:childTnLst>
                              <p:par>
                                <p:cTn id="1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7000"/>
                            </p:stCondLst>
                            <p:childTnLst>
                              <p:par>
                                <p:cTn id="1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28000"/>
                            </p:stCondLst>
                            <p:childTnLst>
                              <p:par>
                                <p:cTn id="1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29000"/>
                            </p:stCondLst>
                            <p:childTnLst>
                              <p:par>
                                <p:cTn id="15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30000"/>
                            </p:stCondLst>
                            <p:childTnLst>
                              <p:par>
                                <p:cTn id="15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31000"/>
                            </p:stCondLst>
                            <p:childTnLst>
                              <p:par>
                                <p:cTn id="16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32000"/>
                            </p:stCondLst>
                            <p:childTnLst>
                              <p:par>
                                <p:cTn id="1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33000"/>
                            </p:stCondLst>
                            <p:childTnLst>
                              <p:par>
                                <p:cTn id="1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34000"/>
                            </p:stCondLst>
                            <p:childTnLst>
                              <p:par>
                                <p:cTn id="17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35000"/>
                            </p:stCondLst>
                            <p:childTnLst>
                              <p:par>
                                <p:cTn id="18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7" grpId="0"/>
      <p:bldP spid="23" grpId="0"/>
      <p:bldP spid="35" grpId="0"/>
      <p:bldP spid="37" grpId="0"/>
      <p:bldP spid="39" grpId="0"/>
      <p:bldP spid="55" grpId="0"/>
      <p:bldP spid="71" grpId="0"/>
      <p:bldP spid="24" grpId="0"/>
      <p:bldP spid="54" grpId="0"/>
      <p:bldP spid="86" grpId="0"/>
      <p:bldP spid="91" grpId="0"/>
      <p:bldP spid="99" grpId="0"/>
      <p:bldP spid="104" grpId="0"/>
      <p:bldP spid="112" grpId="0"/>
      <p:bldP spid="1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蓝色的高楼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76171" cy="6858000"/>
          </a:xfrm>
          <a:prstGeom prst="rect">
            <a:avLst/>
          </a:prstGeom>
        </p:spPr>
      </p:pic>
      <p:sp>
        <p:nvSpPr>
          <p:cNvPr id="4" name="任意多边形: 形状 3"/>
          <p:cNvSpPr/>
          <p:nvPr/>
        </p:nvSpPr>
        <p:spPr>
          <a:xfrm>
            <a:off x="1" y="0"/>
            <a:ext cx="12276171" cy="6858000"/>
          </a:xfrm>
          <a:custGeom>
            <a:avLst/>
            <a:gdLst>
              <a:gd name="connsiteX0" fmla="*/ 9083451 w 12276171"/>
              <a:gd name="connsiteY0" fmla="*/ 0 h 6858000"/>
              <a:gd name="connsiteX1" fmla="*/ 12276171 w 12276171"/>
              <a:gd name="connsiteY1" fmla="*/ 0 h 6858000"/>
              <a:gd name="connsiteX2" fmla="*/ 12276171 w 12276171"/>
              <a:gd name="connsiteY2" fmla="*/ 6858000 h 6858000"/>
              <a:gd name="connsiteX3" fmla="*/ 9083453 w 12276171"/>
              <a:gd name="connsiteY3" fmla="*/ 6858000 h 6858000"/>
              <a:gd name="connsiteX4" fmla="*/ 9154685 w 12276171"/>
              <a:gd name="connsiteY4" fmla="*/ 6796298 h 6858000"/>
              <a:gd name="connsiteX5" fmla="*/ 10645060 w 12276171"/>
              <a:gd name="connsiteY5" fmla="*/ 3429001 h 6858000"/>
              <a:gd name="connsiteX6" fmla="*/ 9154685 w 12276171"/>
              <a:gd name="connsiteY6" fmla="*/ 61705 h 6858000"/>
              <a:gd name="connsiteX7" fmla="*/ 0 w 12276171"/>
              <a:gd name="connsiteY7" fmla="*/ 0 h 6858000"/>
              <a:gd name="connsiteX8" fmla="*/ 3108549 w 12276171"/>
              <a:gd name="connsiteY8" fmla="*/ 0 h 6858000"/>
              <a:gd name="connsiteX9" fmla="*/ 3037315 w 12276171"/>
              <a:gd name="connsiteY9" fmla="*/ 61705 h 6858000"/>
              <a:gd name="connsiteX10" fmla="*/ 1546940 w 12276171"/>
              <a:gd name="connsiteY10" fmla="*/ 3429001 h 6858000"/>
              <a:gd name="connsiteX11" fmla="*/ 3037315 w 12276171"/>
              <a:gd name="connsiteY11" fmla="*/ 6796298 h 6858000"/>
              <a:gd name="connsiteX12" fmla="*/ 3108547 w 12276171"/>
              <a:gd name="connsiteY12" fmla="*/ 6858000 h 6858000"/>
              <a:gd name="connsiteX13" fmla="*/ 0 w 12276171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76171" h="6858000">
                <a:moveTo>
                  <a:pt x="9083451" y="0"/>
                </a:moveTo>
                <a:lnTo>
                  <a:pt x="12276171" y="0"/>
                </a:lnTo>
                <a:lnTo>
                  <a:pt x="12276171" y="6858000"/>
                </a:lnTo>
                <a:lnTo>
                  <a:pt x="9083453" y="6858000"/>
                </a:lnTo>
                <a:lnTo>
                  <a:pt x="9154685" y="6796298"/>
                </a:lnTo>
                <a:cubicBezTo>
                  <a:pt x="10070254" y="5964148"/>
                  <a:pt x="10645060" y="4763701"/>
                  <a:pt x="10645060" y="3429001"/>
                </a:cubicBezTo>
                <a:cubicBezTo>
                  <a:pt x="10645060" y="2094301"/>
                  <a:pt x="10070254" y="893855"/>
                  <a:pt x="9154685" y="61705"/>
                </a:cubicBezTo>
                <a:close/>
                <a:moveTo>
                  <a:pt x="0" y="0"/>
                </a:moveTo>
                <a:lnTo>
                  <a:pt x="3108549" y="0"/>
                </a:lnTo>
                <a:lnTo>
                  <a:pt x="3037315" y="61705"/>
                </a:lnTo>
                <a:cubicBezTo>
                  <a:pt x="2121747" y="893855"/>
                  <a:pt x="1546940" y="2094301"/>
                  <a:pt x="1546940" y="3429001"/>
                </a:cubicBezTo>
                <a:cubicBezTo>
                  <a:pt x="1546940" y="4763701"/>
                  <a:pt x="2121747" y="5964148"/>
                  <a:pt x="3037315" y="6796298"/>
                </a:cubicBezTo>
                <a:lnTo>
                  <a:pt x="3108547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3306000" y="639000"/>
            <a:ext cx="5580000" cy="5580000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44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953801" y="4832060"/>
            <a:ext cx="428440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 </a:t>
            </a:r>
            <a:endParaRPr lang="en-US" altLang="zh-CN" sz="140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648328" y="2862430"/>
            <a:ext cx="8895347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+mj-ea"/>
                <a:ea typeface="+mj-ea"/>
              </a:rPr>
              <a:t>文献总览与系统框架</a:t>
            </a:r>
            <a:endParaRPr lang="zh-CN" altLang="en-US" sz="4800" b="1" dirty="0">
              <a:solidFill>
                <a:schemeClr val="bg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48328" y="747370"/>
            <a:ext cx="889534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gradFill>
                  <a:gsLst>
                    <a:gs pos="72000">
                      <a:schemeClr val="bg1">
                        <a:alpha val="0"/>
                      </a:schemeClr>
                    </a:gs>
                    <a:gs pos="0">
                      <a:schemeClr val="accent2">
                        <a:lumMod val="20000"/>
                        <a:lumOff val="80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+mj-ea"/>
                <a:ea typeface="+mj-ea"/>
              </a:rPr>
              <a:t>01</a:t>
            </a:r>
            <a:endParaRPr lang="zh-CN" altLang="en-US" sz="13800" dirty="0">
              <a:gradFill>
                <a:gsLst>
                  <a:gs pos="72000">
                    <a:schemeClr val="bg1">
                      <a:alpha val="0"/>
                    </a:schemeClr>
                  </a:gs>
                  <a:gs pos="0">
                    <a:schemeClr val="accent2">
                      <a:lumMod val="20000"/>
                      <a:lumOff val="80000"/>
                    </a:schemeClr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0894369" y="6060244"/>
            <a:ext cx="819753" cy="262630"/>
            <a:chOff x="10894368" y="6060244"/>
            <a:chExt cx="819753" cy="262630"/>
          </a:xfrm>
        </p:grpSpPr>
        <p:sp>
          <p:nvSpPr>
            <p:cNvPr id="14" name="半闭框 25"/>
            <p:cNvSpPr/>
            <p:nvPr/>
          </p:nvSpPr>
          <p:spPr>
            <a:xfrm rot="8100000">
              <a:off x="11451491" y="6060244"/>
              <a:ext cx="262630" cy="262630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半闭框 25"/>
            <p:cNvSpPr/>
            <p:nvPr/>
          </p:nvSpPr>
          <p:spPr>
            <a:xfrm rot="8100000">
              <a:off x="11172929" y="6060244"/>
              <a:ext cx="262630" cy="262630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半闭框 25"/>
            <p:cNvSpPr/>
            <p:nvPr/>
          </p:nvSpPr>
          <p:spPr>
            <a:xfrm rot="8100000">
              <a:off x="10894368" y="6060244"/>
              <a:ext cx="262630" cy="262630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4130407" y="4113122"/>
            <a:ext cx="401373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 altLang="zh-CN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5795187" y="5613401"/>
            <a:ext cx="685800" cy="0"/>
          </a:xfrm>
          <a:prstGeom prst="line">
            <a:avLst/>
          </a:prstGeom>
          <a:ln w="3492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i="0" u="none" strike="noStrike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  <a:sym typeface="Noto Sans SC" panose="020B0200000000000000" charset="-122"/>
              </a:rPr>
              <a:t>文献总览</a:t>
            </a:r>
            <a:endParaRPr lang="zh-CN" altLang="en-US" sz="3200" dirty="0">
              <a:solidFill>
                <a:schemeClr val="accent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锐字奥运精神拼搏简免费-闪" panose="02010604000000000000" charset="-122"/>
              <a:ea typeface="锐字奥运精神拼搏简免费-闪" panose="02010604000000000000" charset="-122"/>
              <a:cs typeface="锐字奥运精神拼搏简免费-闪" panose="02010604000000000000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57290">
            <a:off x="762053" y="1136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385B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1524000"/>
          <a:ext cx="10668000" cy="3860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2540000"/>
                <a:gridCol w="5842000"/>
              </a:tblGrid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文献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E3C7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对应任务模块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主要贡献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8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826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Milestones Part II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385B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全局主线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978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感知与规划整体演进、挑战与未来方向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826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Faster R-CNN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385B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感知—目标检测</a:t>
                      </a:r>
                      <a:endParaRPr lang="en-US" sz="1200" b="0" i="0" u="none" strike="noStrike">
                        <a:solidFill>
                          <a:srgbClr val="5385B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978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2D 检测奠基：RPN、anchor boxes、共享卷积特征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826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BEVFormer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385B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感知—环境模型/检测/融合</a:t>
                      </a:r>
                      <a:endParaRPr lang="en-US" sz="1200" b="0" i="0" u="none" strike="noStrike">
                        <a:solidFill>
                          <a:srgbClr val="5385BD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978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BEV 表示、Transformer、LiDAR-Camera 时空融合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826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DRL Survey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385B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规划—行为决策/轨迹优化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978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强化学习在决策、规划、控制中的应用综述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826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Frenet Frame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385B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规划—路径/轨迹生成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978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Frenet 坐标、五次多项式、最优轨迹生成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826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UniAD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385B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规划—端到端前沿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978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规划导向、感知-预测-规划一体化端到端框架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 txBox="1"/>
          <p:nvPr/>
        </p:nvSpPr>
        <p:spPr>
          <a:xfrm>
            <a:off x="762000" y="63500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25</a:t>
            </a:r>
            <a:endParaRPr lang="en-US" sz="1100"/>
          </a:p>
        </p:txBody>
      </p:sp>
      <p:grpSp>
        <p:nvGrpSpPr>
          <p:cNvPr id="13" name="组合 12"/>
          <p:cNvGrpSpPr/>
          <p:nvPr/>
        </p:nvGrpSpPr>
        <p:grpSpPr>
          <a:xfrm>
            <a:off x="517625" y="292500"/>
            <a:ext cx="3429000" cy="1663700"/>
            <a:chOff x="508000" y="254000"/>
            <a:chExt cx="3429000" cy="1663700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508000" y="379580"/>
              <a:ext cx="3429000" cy="0"/>
            </a:xfrm>
            <a:prstGeom prst="line">
              <a:avLst/>
            </a:prstGeom>
            <a:ln w="19050">
              <a:gradFill>
                <a:gsLst>
                  <a:gs pos="3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660400" y="254000"/>
              <a:ext cx="0" cy="166370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4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圆角矩形 84"/>
          <p:cNvSpPr/>
          <p:nvPr/>
        </p:nvSpPr>
        <p:spPr>
          <a:xfrm>
            <a:off x="517525" y="5852795"/>
            <a:ext cx="11255375" cy="796290"/>
          </a:xfrm>
          <a:prstGeom prst="roundRect">
            <a:avLst>
              <a:gd name="adj" fmla="val 10685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串起从规则到学习、从模块到端到端的完整演进脉络</a:t>
            </a:r>
            <a:endParaRPr lang="zh-CN" altLang="en-US" sz="3200">
              <a:latin typeface="锐字奥运精神拼搏简免费-闪" panose="02010604000000000000" charset="-122"/>
              <a:ea typeface="锐字奥运精神拼搏简免费-闪" panose="02010604000000000000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831850" y="5314950"/>
            <a:ext cx="10528300" cy="127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66750" y="455930"/>
            <a:ext cx="506031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自动驾驶系统</a:t>
            </a:r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总览</a:t>
            </a:r>
            <a:endParaRPr lang="zh-CN" altLang="en-US" sz="3200" dirty="0">
              <a:solidFill>
                <a:schemeClr val="accent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锐字奥运精神拼搏简免费-闪" panose="02010604000000000000" charset="-122"/>
              <a:ea typeface="锐字奥运精神拼搏简免费-闪" panose="02010604000000000000" charset="-122"/>
              <a:cs typeface="锐字奥运精神拼搏简免费-闪" panose="02010604000000000000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17625" y="292500"/>
            <a:ext cx="3429000" cy="1663700"/>
            <a:chOff x="508000" y="254000"/>
            <a:chExt cx="3429000" cy="1663700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508000" y="379580"/>
              <a:ext cx="3429000" cy="0"/>
            </a:xfrm>
            <a:prstGeom prst="line">
              <a:avLst/>
            </a:prstGeom>
            <a:ln w="19050">
              <a:gradFill>
                <a:gsLst>
                  <a:gs pos="3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660400" y="254000"/>
              <a:ext cx="0" cy="166370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4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/>
          <p:cNvGrpSpPr/>
          <p:nvPr>
            <p:custDataLst>
              <p:tags r:id="rId1"/>
            </p:custDataLst>
          </p:nvPr>
        </p:nvGrpSpPr>
        <p:grpSpPr>
          <a:xfrm>
            <a:off x="3655060" y="1323975"/>
            <a:ext cx="1959610" cy="1959610"/>
            <a:chOff x="5168386" y="1512023"/>
            <a:chExt cx="2229942" cy="2229940"/>
          </a:xfrm>
        </p:grpSpPr>
        <p:sp>
          <p:nvSpPr>
            <p:cNvPr id="38" name="椭圆 37"/>
            <p:cNvSpPr/>
            <p:nvPr>
              <p:custDataLst>
                <p:tags r:id="rId2"/>
              </p:custDataLst>
            </p:nvPr>
          </p:nvSpPr>
          <p:spPr>
            <a:xfrm>
              <a:off x="5319080" y="1662717"/>
              <a:ext cx="1928553" cy="192855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39" name="椭圆 38"/>
            <p:cNvSpPr/>
            <p:nvPr>
              <p:custDataLst>
                <p:tags r:id="rId3"/>
              </p:custDataLst>
            </p:nvPr>
          </p:nvSpPr>
          <p:spPr>
            <a:xfrm>
              <a:off x="5168386" y="1512023"/>
              <a:ext cx="2229942" cy="2229940"/>
            </a:xfrm>
            <a:prstGeom prst="ellipse">
              <a:avLst/>
            </a:prstGeom>
            <a:no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0" name="右箭头 4"/>
          <p:cNvSpPr/>
          <p:nvPr>
            <p:custDataLst>
              <p:tags r:id="rId4"/>
            </p:custDataLst>
          </p:nvPr>
        </p:nvSpPr>
        <p:spPr>
          <a:xfrm>
            <a:off x="2417445" y="2223770"/>
            <a:ext cx="1052195" cy="379095"/>
          </a:xfrm>
          <a:prstGeom prst="rightArrow">
            <a:avLst>
              <a:gd name="adj1" fmla="val 50000"/>
              <a:gd name="adj2" fmla="val 11250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右箭头 12"/>
          <p:cNvSpPr/>
          <p:nvPr>
            <p:custDataLst>
              <p:tags r:id="rId5"/>
            </p:custDataLst>
          </p:nvPr>
        </p:nvSpPr>
        <p:spPr>
          <a:xfrm>
            <a:off x="5666105" y="2223770"/>
            <a:ext cx="1052195" cy="379095"/>
          </a:xfrm>
          <a:prstGeom prst="rightArrow">
            <a:avLst>
              <a:gd name="adj1" fmla="val 50000"/>
              <a:gd name="adj2" fmla="val 11250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圆角矩形 5"/>
          <p:cNvSpPr/>
          <p:nvPr>
            <p:custDataLst>
              <p:tags r:id="rId6"/>
            </p:custDataLst>
          </p:nvPr>
        </p:nvSpPr>
        <p:spPr>
          <a:xfrm>
            <a:off x="520065" y="4290695"/>
            <a:ext cx="5433695" cy="2327275"/>
          </a:xfrm>
          <a:prstGeom prst="roundRect">
            <a:avLst>
              <a:gd name="adj" fmla="val 7197"/>
            </a:avLst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000" b="1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定位：</a:t>
            </a:r>
            <a:r>
              <a:rPr lang="en-US" altLang="zh-CN" sz="200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GNSS/IMU + SLAM，</a:t>
            </a:r>
            <a:r>
              <a:rPr lang="zh-CN" altLang="en-US" sz="200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确定车辆自位置</a:t>
            </a:r>
            <a:endParaRPr lang="zh-CN" altLang="en-US" sz="200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just"/>
            <a:r>
              <a:rPr lang="zh-CN" altLang="en-US" sz="2000" b="1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检测：</a:t>
            </a:r>
            <a:r>
              <a:rPr lang="zh-CN" altLang="en-US" sz="200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</a:t>
            </a:r>
            <a:r>
              <a:rPr lang="en-US" altLang="zh-CN" sz="200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D/3D </a:t>
            </a:r>
            <a:r>
              <a:rPr lang="zh-CN" altLang="en-US" sz="200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目标检测、车道线、可行驶区域</a:t>
            </a:r>
            <a:endParaRPr lang="zh-CN" altLang="en-US" sz="200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just"/>
            <a:r>
              <a:rPr lang="zh-CN" altLang="en-US" sz="2000" b="1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场景理解：</a:t>
            </a:r>
            <a:r>
              <a:rPr lang="zh-CN" altLang="en-US" sz="200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语义分割、全景分割、深度估计</a:t>
            </a:r>
            <a:endParaRPr lang="zh-CN" altLang="en-US" sz="200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just"/>
            <a:r>
              <a:rPr lang="zh-CN" altLang="en-US" sz="2000" b="1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跟踪：</a:t>
            </a:r>
            <a:r>
              <a:rPr lang="zh-CN" altLang="en-US" sz="200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多目标跟踪 (</a:t>
            </a:r>
            <a:r>
              <a:rPr lang="en-US" altLang="zh-CN" sz="200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MOT)，</a:t>
            </a:r>
            <a:r>
              <a:rPr lang="zh-CN" altLang="en-US" sz="200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目标状态估计</a:t>
            </a:r>
            <a:endParaRPr lang="zh-CN" altLang="en-US" sz="200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just"/>
            <a:endParaRPr lang="zh-CN" altLang="en-US" sz="200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3" name="圆角矩形 26"/>
          <p:cNvSpPr/>
          <p:nvPr>
            <p:custDataLst>
              <p:tags r:id="rId7"/>
            </p:custDataLst>
          </p:nvPr>
        </p:nvSpPr>
        <p:spPr>
          <a:xfrm>
            <a:off x="6358890" y="4291330"/>
            <a:ext cx="5646420" cy="2327275"/>
          </a:xfrm>
          <a:prstGeom prst="roundRect">
            <a:avLst>
              <a:gd name="adj" fmla="val 7197"/>
            </a:avLst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ClrTx/>
              <a:buSzTx/>
              <a:buFontTx/>
            </a:pPr>
            <a:r>
              <a:rPr lang="zh-CN" altLang="en-US" sz="2000" b="1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全局路径规划：</a:t>
            </a:r>
            <a:r>
              <a:rPr lang="zh-CN" altLang="en-US" sz="200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起点到终点的道路级路径</a:t>
            </a:r>
            <a:endParaRPr lang="zh-CN" altLang="en-US" sz="200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just">
              <a:buClrTx/>
              <a:buSzTx/>
              <a:buFontTx/>
            </a:pPr>
            <a:r>
              <a:rPr lang="zh-CN" altLang="en-US" sz="2000" b="1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局部行为规划：</a:t>
            </a:r>
            <a:r>
              <a:rPr lang="zh-CN" altLang="en-US" sz="200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跟车、变道、超车、让行、汇入</a:t>
            </a:r>
            <a:endParaRPr lang="zh-CN" altLang="en-US" sz="200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just">
              <a:buClrTx/>
              <a:buSzTx/>
              <a:buFontTx/>
            </a:pPr>
            <a:r>
              <a:rPr lang="zh-CN" altLang="en-US" sz="2000" b="1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局部轨迹规划：</a:t>
            </a:r>
            <a:r>
              <a:rPr lang="zh-CN" altLang="en-US" sz="200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生成短期舒适安全的行驶轨迹</a:t>
            </a:r>
            <a:endParaRPr lang="zh-CN" altLang="en-US" sz="200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just">
              <a:buClrTx/>
              <a:buSzTx/>
              <a:buFontTx/>
            </a:pPr>
            <a:r>
              <a:rPr lang="zh-CN" altLang="en-US" sz="2000" b="1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轨迹跟踪：</a:t>
            </a:r>
            <a:r>
              <a:rPr lang="zh-CN" altLang="en-US" sz="200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控制器精确跟踪规划轨迹</a:t>
            </a:r>
            <a:endParaRPr lang="zh-CN" altLang="en-US" sz="200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just">
              <a:buClrTx/>
              <a:buSzTx/>
              <a:buFontTx/>
            </a:pPr>
            <a:endParaRPr lang="zh-CN" altLang="en-US" sz="200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62" name="组合 61"/>
          <p:cNvGrpSpPr/>
          <p:nvPr>
            <p:custDataLst>
              <p:tags r:id="rId8"/>
            </p:custDataLst>
          </p:nvPr>
        </p:nvGrpSpPr>
        <p:grpSpPr>
          <a:xfrm>
            <a:off x="520700" y="1279525"/>
            <a:ext cx="2037080" cy="2037080"/>
            <a:chOff x="909635" y="1630893"/>
            <a:chExt cx="2319274" cy="2319272"/>
          </a:xfrm>
        </p:grpSpPr>
        <p:sp>
          <p:nvSpPr>
            <p:cNvPr id="63" name="椭圆 62"/>
            <p:cNvSpPr/>
            <p:nvPr>
              <p:custDataLst>
                <p:tags r:id="rId9"/>
              </p:custDataLst>
            </p:nvPr>
          </p:nvSpPr>
          <p:spPr>
            <a:xfrm>
              <a:off x="1104996" y="1826253"/>
              <a:ext cx="1928553" cy="192855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64" name="弧形 63"/>
            <p:cNvSpPr/>
            <p:nvPr>
              <p:custDataLst>
                <p:tags r:id="rId10"/>
              </p:custDataLst>
            </p:nvPr>
          </p:nvSpPr>
          <p:spPr>
            <a:xfrm>
              <a:off x="909635" y="1630893"/>
              <a:ext cx="2319274" cy="2319272"/>
            </a:xfrm>
            <a:prstGeom prst="arc">
              <a:avLst>
                <a:gd name="adj1" fmla="val 11475911"/>
                <a:gd name="adj2" fmla="val 16109455"/>
              </a:avLst>
            </a:prstGeom>
            <a:ln w="28575">
              <a:gradFill>
                <a:gsLst>
                  <a:gs pos="0">
                    <a:schemeClr val="accent1"/>
                  </a:gs>
                  <a:gs pos="6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弧形 64"/>
            <p:cNvSpPr/>
            <p:nvPr>
              <p:custDataLst>
                <p:tags r:id="rId11"/>
              </p:custDataLst>
            </p:nvPr>
          </p:nvSpPr>
          <p:spPr>
            <a:xfrm flipV="1">
              <a:off x="909635" y="1630893"/>
              <a:ext cx="2319274" cy="2319272"/>
            </a:xfrm>
            <a:prstGeom prst="arc">
              <a:avLst>
                <a:gd name="adj1" fmla="val 11475911"/>
                <a:gd name="adj2" fmla="val 16109455"/>
              </a:avLst>
            </a:prstGeom>
            <a:ln w="28575">
              <a:gradFill>
                <a:gsLst>
                  <a:gs pos="0">
                    <a:schemeClr val="accent1"/>
                  </a:gs>
                  <a:gs pos="6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6" name="组合 65"/>
          <p:cNvGrpSpPr/>
          <p:nvPr>
            <p:custDataLst>
              <p:tags r:id="rId12"/>
            </p:custDataLst>
          </p:nvPr>
        </p:nvGrpSpPr>
        <p:grpSpPr>
          <a:xfrm flipH="1">
            <a:off x="6647180" y="1279525"/>
            <a:ext cx="2037080" cy="2037080"/>
            <a:chOff x="909635" y="1630893"/>
            <a:chExt cx="2319274" cy="2319272"/>
          </a:xfrm>
        </p:grpSpPr>
        <p:sp>
          <p:nvSpPr>
            <p:cNvPr id="67" name="椭圆 66"/>
            <p:cNvSpPr/>
            <p:nvPr>
              <p:custDataLst>
                <p:tags r:id="rId13"/>
              </p:custDataLst>
            </p:nvPr>
          </p:nvSpPr>
          <p:spPr>
            <a:xfrm>
              <a:off x="1104996" y="1826253"/>
              <a:ext cx="1928553" cy="192855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68" name="弧形 67"/>
            <p:cNvSpPr/>
            <p:nvPr>
              <p:custDataLst>
                <p:tags r:id="rId14"/>
              </p:custDataLst>
            </p:nvPr>
          </p:nvSpPr>
          <p:spPr>
            <a:xfrm>
              <a:off x="909635" y="1630893"/>
              <a:ext cx="2319274" cy="2319272"/>
            </a:xfrm>
            <a:prstGeom prst="arc">
              <a:avLst>
                <a:gd name="adj1" fmla="val 11475911"/>
                <a:gd name="adj2" fmla="val 16109455"/>
              </a:avLst>
            </a:prstGeom>
            <a:ln w="28575">
              <a:gradFill>
                <a:gsLst>
                  <a:gs pos="0">
                    <a:schemeClr val="accent1"/>
                  </a:gs>
                  <a:gs pos="6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弧形 68"/>
            <p:cNvSpPr/>
            <p:nvPr>
              <p:custDataLst>
                <p:tags r:id="rId15"/>
              </p:custDataLst>
            </p:nvPr>
          </p:nvSpPr>
          <p:spPr>
            <a:xfrm flipV="1">
              <a:off x="909635" y="1630893"/>
              <a:ext cx="2319274" cy="2319272"/>
            </a:xfrm>
            <a:prstGeom prst="arc">
              <a:avLst>
                <a:gd name="adj1" fmla="val 11475911"/>
                <a:gd name="adj2" fmla="val 16109455"/>
              </a:avLst>
            </a:prstGeom>
            <a:ln w="28575">
              <a:gradFill>
                <a:gsLst>
                  <a:gs pos="0">
                    <a:schemeClr val="accent1"/>
                  </a:gs>
                  <a:gs pos="6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5" name="Bullet2"/>
          <p:cNvSpPr txBox="1"/>
          <p:nvPr>
            <p:custDataLst>
              <p:tags r:id="rId16"/>
            </p:custDataLst>
          </p:nvPr>
        </p:nvSpPr>
        <p:spPr>
          <a:xfrm>
            <a:off x="711835" y="1672590"/>
            <a:ext cx="1684655" cy="1175385"/>
          </a:xfrm>
          <a:prstGeom prst="rect">
            <a:avLst/>
          </a:prstGeom>
          <a:noFill/>
        </p:spPr>
        <p:txBody>
          <a:bodyPr wrap="square" lIns="0" rIns="0" bIns="0" rtlCol="0">
            <a:noAutofit/>
          </a:bodyPr>
          <a:lstStyle>
            <a:defPPr>
              <a:defRPr lang="zh-CN"/>
            </a:defPPr>
            <a:lvl1pPr algn="ctr">
              <a:defRPr sz="2400" spc="300">
                <a:uFillTx/>
                <a:latin typeface="+mj-ea"/>
                <a:ea typeface="+mj-ea"/>
              </a:defRPr>
            </a:lvl1pPr>
          </a:lstStyle>
          <a:p>
            <a:pPr lvl="0">
              <a:defRPr/>
            </a:pPr>
            <a:r>
              <a:rPr lang="zh-CN" altLang="en-US" sz="2800" spc="0" dirty="0">
                <a:solidFill>
                  <a:schemeClr val="bg1"/>
                </a:solidFill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感知 </a:t>
            </a:r>
            <a:r>
              <a:rPr lang="en-US" altLang="zh-CN" sz="2800" spc="0" dirty="0">
                <a:solidFill>
                  <a:schemeClr val="bg1"/>
                </a:solidFill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Perception</a:t>
            </a:r>
            <a:endParaRPr lang="en-US" altLang="zh-CN" sz="2800" spc="0" dirty="0">
              <a:solidFill>
                <a:schemeClr val="bg1"/>
              </a:solidFill>
              <a:latin typeface="锐字奥运精神拼搏简免费-闪" panose="02010604000000000000" charset="-122"/>
              <a:ea typeface="锐字奥运精神拼搏简免费-闪" panose="02010604000000000000" charset="-122"/>
            </a:endParaRPr>
          </a:p>
          <a:p>
            <a:pPr lvl="0">
              <a:defRPr/>
            </a:pPr>
            <a:endParaRPr lang="en-US" altLang="zh-CN" sz="2800" spc="0" dirty="0">
              <a:solidFill>
                <a:schemeClr val="bg1"/>
              </a:solidFill>
              <a:latin typeface="锐字奥运精神拼搏简免费-闪" panose="02010604000000000000" charset="-122"/>
              <a:ea typeface="锐字奥运精神拼搏简免费-闪" panose="02010604000000000000" charset="-122"/>
            </a:endParaRPr>
          </a:p>
        </p:txBody>
      </p:sp>
      <p:sp>
        <p:nvSpPr>
          <p:cNvPr id="5" name="Bullet2"/>
          <p:cNvSpPr txBox="1"/>
          <p:nvPr>
            <p:custDataLst>
              <p:tags r:id="rId17"/>
            </p:custDataLst>
          </p:nvPr>
        </p:nvSpPr>
        <p:spPr>
          <a:xfrm>
            <a:off x="3823335" y="1686560"/>
            <a:ext cx="1684655" cy="1175385"/>
          </a:xfrm>
          <a:prstGeom prst="rect">
            <a:avLst/>
          </a:prstGeom>
          <a:noFill/>
        </p:spPr>
        <p:txBody>
          <a:bodyPr wrap="square" lIns="0" rIns="0" bIns="0" rtlCol="0">
            <a:noAutofit/>
          </a:bodyPr>
          <a:lstStyle>
            <a:defPPr>
              <a:defRPr lang="zh-CN"/>
            </a:defPPr>
            <a:lvl1pPr algn="ctr">
              <a:defRPr sz="2400" spc="300">
                <a:uFillTx/>
                <a:latin typeface="+mj-ea"/>
                <a:ea typeface="+mj-ea"/>
              </a:defRPr>
            </a:lvl1pPr>
          </a:lstStyle>
          <a:p>
            <a:pPr lvl="0">
              <a:defRPr/>
            </a:pPr>
            <a:r>
              <a:rPr lang="zh-CN" altLang="en-US" sz="2800" spc="0" dirty="0">
                <a:solidFill>
                  <a:schemeClr val="bg1"/>
                </a:solidFill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预测 </a:t>
            </a:r>
            <a:r>
              <a:rPr lang="en-US" altLang="zh-CN" sz="2800" spc="0" dirty="0">
                <a:solidFill>
                  <a:schemeClr val="bg1"/>
                </a:solidFill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Prediction</a:t>
            </a:r>
            <a:endParaRPr lang="en-US" altLang="zh-CN" sz="2800" spc="0" dirty="0">
              <a:solidFill>
                <a:schemeClr val="bg1"/>
              </a:solidFill>
              <a:latin typeface="锐字奥运精神拼搏简免费-闪" panose="02010604000000000000" charset="-122"/>
              <a:ea typeface="锐字奥运精神拼搏简免费-闪" panose="02010604000000000000" charset="-122"/>
            </a:endParaRPr>
          </a:p>
          <a:p>
            <a:pPr lvl="0">
              <a:defRPr/>
            </a:pPr>
            <a:endParaRPr lang="en-US" altLang="zh-CN" sz="2800" spc="0" dirty="0">
              <a:solidFill>
                <a:schemeClr val="bg1"/>
              </a:solidFill>
              <a:latin typeface="锐字奥运精神拼搏简免费-闪" panose="02010604000000000000" charset="-122"/>
              <a:ea typeface="锐字奥运精神拼搏简免费-闪" panose="02010604000000000000" charset="-122"/>
            </a:endParaRPr>
          </a:p>
        </p:txBody>
      </p:sp>
      <p:sp>
        <p:nvSpPr>
          <p:cNvPr id="6" name="Bullet2"/>
          <p:cNvSpPr txBox="1"/>
          <p:nvPr>
            <p:custDataLst>
              <p:tags r:id="rId18"/>
            </p:custDataLst>
          </p:nvPr>
        </p:nvSpPr>
        <p:spPr>
          <a:xfrm>
            <a:off x="6792595" y="1737995"/>
            <a:ext cx="1776730" cy="797560"/>
          </a:xfrm>
          <a:prstGeom prst="rect">
            <a:avLst/>
          </a:prstGeom>
          <a:noFill/>
        </p:spPr>
        <p:txBody>
          <a:bodyPr wrap="square" lIns="0" rIns="0" bIns="0" rtlCol="0">
            <a:noAutofit/>
          </a:bodyPr>
          <a:lstStyle>
            <a:defPPr>
              <a:defRPr lang="zh-CN"/>
            </a:defPPr>
            <a:lvl1pPr algn="ctr">
              <a:defRPr sz="2400" spc="300">
                <a:uFillTx/>
                <a:latin typeface="+mj-ea"/>
                <a:ea typeface="+mj-ea"/>
              </a:defRPr>
            </a:lvl1pPr>
          </a:lstStyle>
          <a:p>
            <a:pPr lvl="0">
              <a:defRPr/>
            </a:pPr>
            <a:r>
              <a:rPr lang="zh-CN" altLang="en-US" sz="2800" spc="0" dirty="0">
                <a:solidFill>
                  <a:schemeClr val="bg1"/>
                </a:solidFill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规划 </a:t>
            </a:r>
            <a:r>
              <a:rPr lang="en-US" altLang="zh-CN" sz="2800" spc="0" dirty="0">
                <a:solidFill>
                  <a:schemeClr val="bg1"/>
                </a:solidFill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Planning</a:t>
            </a:r>
            <a:endParaRPr lang="en-US" altLang="zh-CN" sz="2800" spc="0" dirty="0">
              <a:solidFill>
                <a:schemeClr val="bg1"/>
              </a:solidFill>
              <a:latin typeface="锐字奥运精神拼搏简免费-闪" panose="02010604000000000000" charset="-122"/>
              <a:ea typeface="锐字奥运精神拼搏简免费-闪" panose="02010604000000000000" charset="-122"/>
            </a:endParaRPr>
          </a:p>
          <a:p>
            <a:pPr lvl="0">
              <a:defRPr/>
            </a:pPr>
            <a:endParaRPr lang="en-US" altLang="zh-CN" sz="2800" spc="0" dirty="0">
              <a:solidFill>
                <a:schemeClr val="bg1"/>
              </a:solidFill>
              <a:latin typeface="锐字奥运精神拼搏简免费-闪" panose="02010604000000000000" charset="-122"/>
              <a:ea typeface="锐字奥运精神拼搏简免费-闪" panose="02010604000000000000" charset="-122"/>
            </a:endParaRPr>
          </a:p>
        </p:txBody>
      </p:sp>
      <p:sp>
        <p:nvSpPr>
          <p:cNvPr id="8" name="圆角矩形 16"/>
          <p:cNvSpPr/>
          <p:nvPr>
            <p:custDataLst>
              <p:tags r:id="rId19"/>
            </p:custDataLst>
          </p:nvPr>
        </p:nvSpPr>
        <p:spPr>
          <a:xfrm>
            <a:off x="781050" y="3539490"/>
            <a:ext cx="3602990" cy="504825"/>
          </a:xfrm>
          <a:prstGeom prst="roundRect">
            <a:avLst>
              <a:gd name="adj" fmla="val 20628"/>
            </a:avLst>
          </a:prstGeom>
          <a:solidFill>
            <a:schemeClr val="accent1"/>
          </a:solidFill>
          <a:ln>
            <a:noFill/>
          </a:ln>
          <a:effectLst>
            <a:outerShdw blurRad="1905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感知子任务</a:t>
            </a:r>
            <a:endParaRPr lang="zh-CN" altLang="en-US" sz="24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圆角矩形 16"/>
          <p:cNvSpPr/>
          <p:nvPr>
            <p:custDataLst>
              <p:tags r:id="rId20"/>
            </p:custDataLst>
          </p:nvPr>
        </p:nvSpPr>
        <p:spPr>
          <a:xfrm>
            <a:off x="6647180" y="3531235"/>
            <a:ext cx="3858260" cy="513080"/>
          </a:xfrm>
          <a:prstGeom prst="roundRect">
            <a:avLst>
              <a:gd name="adj" fmla="val 20628"/>
            </a:avLst>
          </a:prstGeom>
          <a:solidFill>
            <a:schemeClr val="accent1"/>
          </a:solidFill>
          <a:ln>
            <a:noFill/>
          </a:ln>
          <a:effectLst>
            <a:outerShdw blurRad="1905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规划三层结构</a:t>
            </a:r>
            <a:endParaRPr lang="zh-CN" altLang="en-US" sz="24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21"/>
            </p:custDataLst>
          </p:nvPr>
        </p:nvGrpSpPr>
        <p:grpSpPr>
          <a:xfrm>
            <a:off x="9818370" y="1323975"/>
            <a:ext cx="1959610" cy="1959610"/>
            <a:chOff x="5168386" y="1512023"/>
            <a:chExt cx="2229942" cy="2229940"/>
          </a:xfrm>
        </p:grpSpPr>
        <p:sp>
          <p:nvSpPr>
            <p:cNvPr id="11" name="椭圆 10"/>
            <p:cNvSpPr/>
            <p:nvPr>
              <p:custDataLst>
                <p:tags r:id="rId22"/>
              </p:custDataLst>
            </p:nvPr>
          </p:nvSpPr>
          <p:spPr>
            <a:xfrm>
              <a:off x="5319080" y="1662717"/>
              <a:ext cx="1928553" cy="192855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14" name="椭圆 13"/>
            <p:cNvSpPr/>
            <p:nvPr>
              <p:custDataLst>
                <p:tags r:id="rId23"/>
              </p:custDataLst>
            </p:nvPr>
          </p:nvSpPr>
          <p:spPr>
            <a:xfrm>
              <a:off x="5168386" y="1512023"/>
              <a:ext cx="2229942" cy="2229940"/>
            </a:xfrm>
            <a:prstGeom prst="ellipse">
              <a:avLst/>
            </a:prstGeom>
            <a:no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右箭头 4"/>
          <p:cNvSpPr/>
          <p:nvPr>
            <p:custDataLst>
              <p:tags r:id="rId24"/>
            </p:custDataLst>
          </p:nvPr>
        </p:nvSpPr>
        <p:spPr>
          <a:xfrm>
            <a:off x="8712835" y="2223770"/>
            <a:ext cx="1052195" cy="379095"/>
          </a:xfrm>
          <a:prstGeom prst="rightArrow">
            <a:avLst>
              <a:gd name="adj1" fmla="val 50000"/>
              <a:gd name="adj2" fmla="val 11250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Bullet2"/>
          <p:cNvSpPr txBox="1"/>
          <p:nvPr>
            <p:custDataLst>
              <p:tags r:id="rId25"/>
            </p:custDataLst>
          </p:nvPr>
        </p:nvSpPr>
        <p:spPr>
          <a:xfrm>
            <a:off x="9986645" y="1744345"/>
            <a:ext cx="1684655" cy="1175385"/>
          </a:xfrm>
          <a:prstGeom prst="rect">
            <a:avLst/>
          </a:prstGeom>
          <a:noFill/>
        </p:spPr>
        <p:txBody>
          <a:bodyPr wrap="square" lIns="0" rIns="0" bIns="0" rtlCol="0">
            <a:noAutofit/>
          </a:bodyPr>
          <a:lstStyle>
            <a:defPPr>
              <a:defRPr lang="zh-CN"/>
            </a:defPPr>
            <a:lvl1pPr algn="ctr">
              <a:defRPr sz="2400" spc="300">
                <a:uFillTx/>
                <a:latin typeface="+mj-ea"/>
                <a:ea typeface="+mj-ea"/>
              </a:defRPr>
            </a:lvl1pPr>
          </a:lstStyle>
          <a:p>
            <a:pPr lvl="0">
              <a:defRPr/>
            </a:pPr>
            <a:r>
              <a:rPr lang="zh-CN" altLang="en-US" sz="2800" spc="0" dirty="0">
                <a:solidFill>
                  <a:schemeClr val="bg1"/>
                </a:solidFill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控制 </a:t>
            </a:r>
            <a:r>
              <a:rPr lang="en-US" altLang="zh-CN" sz="2800" spc="0" dirty="0">
                <a:solidFill>
                  <a:schemeClr val="bg1"/>
                </a:solidFill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Control</a:t>
            </a:r>
            <a:endParaRPr lang="en-US" altLang="zh-CN" sz="2800" spc="0" dirty="0">
              <a:solidFill>
                <a:schemeClr val="bg1"/>
              </a:solidFill>
              <a:latin typeface="锐字奥运精神拼搏简免费-闪" panose="02010604000000000000" charset="-122"/>
              <a:ea typeface="锐字奥运精神拼搏简免费-闪" panose="02010604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40" grpId="0" bldLvl="0" animBg="1"/>
      <p:bldP spid="41" grpId="0" bldLvl="0" animBg="1"/>
      <p:bldP spid="85" grpId="0"/>
      <p:bldP spid="5" grpId="0"/>
      <p:bldP spid="6" grpId="0"/>
      <p:bldP spid="15" grpId="0" bldLvl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3"/>
          <p:cNvCxnSpPr/>
          <p:nvPr/>
        </p:nvCxnSpPr>
        <p:spPr>
          <a:xfrm rot="-57290">
            <a:off x="762053" y="1136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385B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762000" y="1383665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519D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感知演进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192">
            <a:off x="1016004" y="2139315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19D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143000" y="2044065"/>
            <a:ext cx="203200" cy="203200"/>
          </a:xfrm>
          <a:prstGeom prst="ellipse">
            <a:avLst/>
          </a:prstGeom>
          <a:solidFill>
            <a:srgbClr val="519D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635000" y="2336165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单传感器时代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2014-2016 · Faster R-CNN</a:t>
            </a:r>
            <a:endParaRPr lang="en-US" sz="11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556000" y="2044065"/>
            <a:ext cx="203200" cy="203200"/>
          </a:xfrm>
          <a:prstGeom prst="ellipse">
            <a:avLst/>
          </a:prstGeom>
          <a:solidFill>
            <a:srgbClr val="519D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2667000" y="2336165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多传感器融合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2017-2020 · 3D检测兴起</a:t>
            </a:r>
            <a:endParaRPr lang="en-US" sz="11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096000" y="2044065"/>
            <a:ext cx="203200" cy="203200"/>
          </a:xfrm>
          <a:prstGeom prst="ellipse">
            <a:avLst/>
          </a:prstGeom>
          <a:solidFill>
            <a:srgbClr val="519D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5207000" y="2336165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BEV 表示时代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2020-2022 · BEVFormer</a:t>
            </a:r>
            <a:endParaRPr lang="en-US" sz="11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636000" y="2044065"/>
            <a:ext cx="203200" cy="203200"/>
          </a:xfrm>
          <a:prstGeom prst="ellipse">
            <a:avLst/>
          </a:prstGeom>
          <a:solidFill>
            <a:srgbClr val="519D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7747000" y="2336165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Occupancy 占用网格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2022-2023 · 细粒度建模</a:t>
            </a:r>
            <a:endParaRPr lang="en-US" sz="11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1049000" y="2044065"/>
            <a:ext cx="203200" cy="203200"/>
          </a:xfrm>
          <a:prstGeom prst="ellipse">
            <a:avLst/>
          </a:prstGeom>
          <a:solidFill>
            <a:srgbClr val="519D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10160000" y="2336165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4D 时序感知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2023+ · UniAD / 世界模型</a:t>
            </a:r>
            <a:endParaRPr lang="en-US" sz="11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762000" y="3339465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规划演进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4192">
            <a:off x="1016004" y="4095115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E3C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8" name="AutoShape 18"/>
          <p:cNvSpPr/>
          <p:nvPr/>
        </p:nvSpPr>
        <p:spPr>
          <a:xfrm>
            <a:off x="1143000" y="3999865"/>
            <a:ext cx="203200" cy="203200"/>
          </a:xfrm>
          <a:prstGeom prst="ellipse">
            <a:avLst/>
          </a:prstGeom>
          <a:solidFill>
            <a:srgbClr val="1E3C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 txBox="1"/>
          <p:nvPr/>
        </p:nvSpPr>
        <p:spPr>
          <a:xfrm>
            <a:off x="635000" y="4291965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规则/图搜索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2010年前 · Dijkstra / A*</a:t>
            </a:r>
            <a:endParaRPr lang="en-US" sz="11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3556000" y="3999865"/>
            <a:ext cx="203200" cy="203200"/>
          </a:xfrm>
          <a:prstGeom prst="ellipse">
            <a:avLst/>
          </a:prstGeom>
          <a:solidFill>
            <a:srgbClr val="1E3C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 txBox="1"/>
          <p:nvPr/>
        </p:nvSpPr>
        <p:spPr>
          <a:xfrm>
            <a:off x="2667000" y="4291965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最优控制方法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2010-2016 · Frenet / MPC</a:t>
            </a:r>
            <a:endParaRPr lang="en-US" sz="11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096000" y="3999865"/>
            <a:ext cx="203200" cy="203200"/>
          </a:xfrm>
          <a:prstGeom prst="ellipse">
            <a:avLst/>
          </a:prstGeom>
          <a:solidFill>
            <a:srgbClr val="1E3C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 txBox="1"/>
          <p:nvPr/>
        </p:nvSpPr>
        <p:spPr>
          <a:xfrm>
            <a:off x="5207000" y="4291965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学习型决策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2017-2022 · DRL 综述</a:t>
            </a:r>
            <a:endParaRPr lang="en-US" sz="11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636000" y="3999865"/>
            <a:ext cx="203200" cy="203200"/>
          </a:xfrm>
          <a:prstGeom prst="ellipse">
            <a:avLst/>
          </a:prstGeom>
          <a:solidFill>
            <a:srgbClr val="1E3C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 txBox="1"/>
          <p:nvPr/>
        </p:nvSpPr>
        <p:spPr>
          <a:xfrm>
            <a:off x="7747000" y="4291965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端到端规划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2023+ · UniAD / 大模型</a:t>
            </a:r>
            <a:endParaRPr lang="en-US" sz="11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 txBox="1"/>
          <p:nvPr/>
        </p:nvSpPr>
        <p:spPr>
          <a:xfrm>
            <a:off x="762000" y="63500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/ 25</a:t>
            </a:r>
            <a:endParaRPr lang="en-US" sz="1100"/>
          </a:p>
        </p:txBody>
      </p:sp>
      <p:grpSp>
        <p:nvGrpSpPr>
          <p:cNvPr id="28" name="组合 27"/>
          <p:cNvGrpSpPr/>
          <p:nvPr/>
        </p:nvGrpSpPr>
        <p:grpSpPr>
          <a:xfrm>
            <a:off x="517625" y="292500"/>
            <a:ext cx="3429000" cy="1663700"/>
            <a:chOff x="508000" y="254000"/>
            <a:chExt cx="3429000" cy="1663700"/>
          </a:xfrm>
        </p:grpSpPr>
        <p:cxnSp>
          <p:nvCxnSpPr>
            <p:cNvPr id="29" name="直接连接符 28"/>
            <p:cNvCxnSpPr/>
            <p:nvPr/>
          </p:nvCxnSpPr>
          <p:spPr>
            <a:xfrm>
              <a:off x="508000" y="379580"/>
              <a:ext cx="3429000" cy="0"/>
            </a:xfrm>
            <a:prstGeom prst="line">
              <a:avLst/>
            </a:prstGeom>
            <a:ln w="19050">
              <a:gradFill>
                <a:gsLst>
                  <a:gs pos="3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660400" y="254000"/>
              <a:ext cx="0" cy="166370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4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文本框 30"/>
          <p:cNvSpPr txBox="1"/>
          <p:nvPr/>
        </p:nvSpPr>
        <p:spPr>
          <a:xfrm>
            <a:off x="666750" y="455930"/>
            <a:ext cx="506031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技术路线演进总时间轴</a:t>
            </a:r>
            <a:endParaRPr lang="zh-CN" altLang="en-US" sz="3200" dirty="0">
              <a:solidFill>
                <a:schemeClr val="accent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锐字奥运精神拼搏简免费-闪" panose="02010604000000000000" charset="-122"/>
              <a:ea typeface="锐字奥运精神拼搏简免费-闪" panose="02010604000000000000" charset="-122"/>
              <a:cs typeface="锐字奥运精神拼搏简免费-闪" panose="02010604000000000000" charset="-122"/>
            </a:endParaRPr>
          </a:p>
        </p:txBody>
      </p:sp>
      <p:sp>
        <p:nvSpPr>
          <p:cNvPr id="85" name="圆角矩形 84"/>
          <p:cNvSpPr/>
          <p:nvPr/>
        </p:nvSpPr>
        <p:spPr>
          <a:xfrm>
            <a:off x="517525" y="5443855"/>
            <a:ext cx="11255375" cy="1205230"/>
          </a:xfrm>
          <a:prstGeom prst="roundRect">
            <a:avLst>
              <a:gd name="adj" fmla="val 10685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两条主线并行演进：感知从"看得清"走向"看得全、看得远"，规划从"规则驱动"走向"数据驱动、端到端"</a:t>
            </a:r>
            <a:endParaRPr lang="zh-CN" altLang="en-US" sz="3200">
              <a:latin typeface="锐字奥运精神拼搏简免费-闪" panose="02010604000000000000" charset="-122"/>
              <a:ea typeface="锐字奥运精神拼搏简免费-闪" panose="02010604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蓝色的高楼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76171" cy="6858000"/>
          </a:xfrm>
          <a:prstGeom prst="rect">
            <a:avLst/>
          </a:prstGeom>
        </p:spPr>
      </p:pic>
      <p:sp>
        <p:nvSpPr>
          <p:cNvPr id="4" name="任意多边形: 形状 3"/>
          <p:cNvSpPr/>
          <p:nvPr/>
        </p:nvSpPr>
        <p:spPr>
          <a:xfrm>
            <a:off x="1" y="0"/>
            <a:ext cx="12276171" cy="6858000"/>
          </a:xfrm>
          <a:custGeom>
            <a:avLst/>
            <a:gdLst>
              <a:gd name="connsiteX0" fmla="*/ 9083451 w 12276171"/>
              <a:gd name="connsiteY0" fmla="*/ 0 h 6858000"/>
              <a:gd name="connsiteX1" fmla="*/ 12276171 w 12276171"/>
              <a:gd name="connsiteY1" fmla="*/ 0 h 6858000"/>
              <a:gd name="connsiteX2" fmla="*/ 12276171 w 12276171"/>
              <a:gd name="connsiteY2" fmla="*/ 6858000 h 6858000"/>
              <a:gd name="connsiteX3" fmla="*/ 9083453 w 12276171"/>
              <a:gd name="connsiteY3" fmla="*/ 6858000 h 6858000"/>
              <a:gd name="connsiteX4" fmla="*/ 9154685 w 12276171"/>
              <a:gd name="connsiteY4" fmla="*/ 6796298 h 6858000"/>
              <a:gd name="connsiteX5" fmla="*/ 10645060 w 12276171"/>
              <a:gd name="connsiteY5" fmla="*/ 3429001 h 6858000"/>
              <a:gd name="connsiteX6" fmla="*/ 9154685 w 12276171"/>
              <a:gd name="connsiteY6" fmla="*/ 61705 h 6858000"/>
              <a:gd name="connsiteX7" fmla="*/ 0 w 12276171"/>
              <a:gd name="connsiteY7" fmla="*/ 0 h 6858000"/>
              <a:gd name="connsiteX8" fmla="*/ 3108549 w 12276171"/>
              <a:gd name="connsiteY8" fmla="*/ 0 h 6858000"/>
              <a:gd name="connsiteX9" fmla="*/ 3037315 w 12276171"/>
              <a:gd name="connsiteY9" fmla="*/ 61705 h 6858000"/>
              <a:gd name="connsiteX10" fmla="*/ 1546940 w 12276171"/>
              <a:gd name="connsiteY10" fmla="*/ 3429001 h 6858000"/>
              <a:gd name="connsiteX11" fmla="*/ 3037315 w 12276171"/>
              <a:gd name="connsiteY11" fmla="*/ 6796298 h 6858000"/>
              <a:gd name="connsiteX12" fmla="*/ 3108547 w 12276171"/>
              <a:gd name="connsiteY12" fmla="*/ 6858000 h 6858000"/>
              <a:gd name="connsiteX13" fmla="*/ 0 w 12276171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76171" h="6858000">
                <a:moveTo>
                  <a:pt x="9083451" y="0"/>
                </a:moveTo>
                <a:lnTo>
                  <a:pt x="12276171" y="0"/>
                </a:lnTo>
                <a:lnTo>
                  <a:pt x="12276171" y="6858000"/>
                </a:lnTo>
                <a:lnTo>
                  <a:pt x="9083453" y="6858000"/>
                </a:lnTo>
                <a:lnTo>
                  <a:pt x="9154685" y="6796298"/>
                </a:lnTo>
                <a:cubicBezTo>
                  <a:pt x="10070254" y="5964148"/>
                  <a:pt x="10645060" y="4763701"/>
                  <a:pt x="10645060" y="3429001"/>
                </a:cubicBezTo>
                <a:cubicBezTo>
                  <a:pt x="10645060" y="2094301"/>
                  <a:pt x="10070254" y="893855"/>
                  <a:pt x="9154685" y="61705"/>
                </a:cubicBezTo>
                <a:close/>
                <a:moveTo>
                  <a:pt x="0" y="0"/>
                </a:moveTo>
                <a:lnTo>
                  <a:pt x="3108549" y="0"/>
                </a:lnTo>
                <a:lnTo>
                  <a:pt x="3037315" y="61705"/>
                </a:lnTo>
                <a:cubicBezTo>
                  <a:pt x="2121747" y="893855"/>
                  <a:pt x="1546940" y="2094301"/>
                  <a:pt x="1546940" y="3429001"/>
                </a:cubicBezTo>
                <a:cubicBezTo>
                  <a:pt x="1546940" y="4763701"/>
                  <a:pt x="2121747" y="5964148"/>
                  <a:pt x="3037315" y="6796298"/>
                </a:cubicBezTo>
                <a:lnTo>
                  <a:pt x="3108547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3306000" y="639000"/>
            <a:ext cx="5580000" cy="5580000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44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953801" y="4832060"/>
            <a:ext cx="428440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 </a:t>
            </a:r>
            <a:endParaRPr lang="en-US" altLang="zh-CN" sz="140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648328" y="2470000"/>
            <a:ext cx="8895347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+mj-ea"/>
                <a:ea typeface="+mj-ea"/>
              </a:rPr>
              <a:t>感知模块</a:t>
            </a:r>
            <a:endParaRPr lang="zh-CN" altLang="en-US" sz="5400" b="1" dirty="0">
              <a:solidFill>
                <a:schemeClr val="bg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+mj-ea"/>
              <a:ea typeface="+mj-ea"/>
            </a:endParaRPr>
          </a:p>
          <a:p>
            <a:pPr algn="ctr"/>
            <a:r>
              <a:rPr lang="zh-CN" altLang="en-US" sz="5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+mj-ea"/>
                <a:ea typeface="+mj-ea"/>
              </a:rPr>
              <a:t>技术路线演进</a:t>
            </a:r>
            <a:endParaRPr lang="zh-CN" altLang="en-US" sz="5400" b="1" dirty="0">
              <a:solidFill>
                <a:schemeClr val="bg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48328" y="747370"/>
            <a:ext cx="8895347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gradFill>
                  <a:gsLst>
                    <a:gs pos="72000">
                      <a:schemeClr val="bg1">
                        <a:alpha val="0"/>
                      </a:schemeClr>
                    </a:gs>
                    <a:gs pos="0">
                      <a:schemeClr val="accent2">
                        <a:lumMod val="20000"/>
                        <a:lumOff val="80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+mj-ea"/>
                <a:ea typeface="+mj-ea"/>
              </a:rPr>
              <a:t>02</a:t>
            </a:r>
            <a:endParaRPr lang="zh-CN" altLang="en-US" sz="13800" dirty="0">
              <a:gradFill>
                <a:gsLst>
                  <a:gs pos="72000">
                    <a:schemeClr val="bg1">
                      <a:alpha val="0"/>
                    </a:schemeClr>
                  </a:gs>
                  <a:gs pos="0">
                    <a:schemeClr val="accent2">
                      <a:lumMod val="20000"/>
                      <a:lumOff val="80000"/>
                    </a:schemeClr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0894369" y="6060244"/>
            <a:ext cx="819753" cy="262630"/>
            <a:chOff x="10894368" y="6060244"/>
            <a:chExt cx="819753" cy="262630"/>
          </a:xfrm>
        </p:grpSpPr>
        <p:sp>
          <p:nvSpPr>
            <p:cNvPr id="14" name="半闭框 25"/>
            <p:cNvSpPr/>
            <p:nvPr/>
          </p:nvSpPr>
          <p:spPr>
            <a:xfrm rot="8100000">
              <a:off x="11451491" y="6060244"/>
              <a:ext cx="262630" cy="262630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半闭框 25"/>
            <p:cNvSpPr/>
            <p:nvPr/>
          </p:nvSpPr>
          <p:spPr>
            <a:xfrm rot="8100000">
              <a:off x="11172929" y="6060244"/>
              <a:ext cx="262630" cy="262630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半闭框 25"/>
            <p:cNvSpPr/>
            <p:nvPr/>
          </p:nvSpPr>
          <p:spPr>
            <a:xfrm rot="8100000">
              <a:off x="10894368" y="6060244"/>
              <a:ext cx="262630" cy="262630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4130407" y="4113122"/>
            <a:ext cx="401373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erception </a:t>
            </a:r>
            <a:endParaRPr lang="en-US" altLang="zh-CN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5795187" y="5613401"/>
            <a:ext cx="685800" cy="0"/>
          </a:xfrm>
          <a:prstGeom prst="line">
            <a:avLst/>
          </a:prstGeom>
          <a:ln w="3492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3"/>
          <p:cNvCxnSpPr/>
          <p:nvPr/>
        </p:nvCxnSpPr>
        <p:spPr>
          <a:xfrm rot="-57290">
            <a:off x="762053" y="1136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19D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762000" y="139446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5385B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感知子任务</a:t>
            </a:r>
            <a:endParaRPr lang="en-US" sz="2400" b="1" i="0" u="none" strike="noStrike">
              <a:solidFill>
                <a:srgbClr val="5385B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762000" y="1905000"/>
            <a:ext cx="4445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0000"/>
              </a:lnSpc>
              <a:buClr>
                <a:srgbClr val="18263A"/>
              </a:buClr>
              <a:buChar char="•"/>
              <a:defRPr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定位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车辆自位置与姿态估计</a:t>
            </a:r>
            <a:endParaRPr lang="en-US" sz="1600"/>
          </a:p>
          <a:p>
            <a:pPr marL="165100" indent="-165100" algn="l">
              <a:lnSpc>
                <a:spcPct val="150000"/>
              </a:lnSpc>
              <a:buClr>
                <a:srgbClr val="18263A"/>
              </a:buClr>
              <a:buChar char="•"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检测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目标、车道线、可行驶区域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0000"/>
              </a:lnSpc>
              <a:buClr>
                <a:srgbClr val="18263A"/>
              </a:buClr>
              <a:buChar char="•"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场景理解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语义/实例/全景分割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0000"/>
              </a:lnSpc>
              <a:buClr>
                <a:srgbClr val="18263A"/>
              </a:buClr>
              <a:buChar char="•"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交通参与者未来轨迹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0000"/>
              </a:lnSpc>
              <a:buClr>
                <a:srgbClr val="18263A"/>
              </a:buClr>
              <a:buChar char="•"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跟踪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多目标状态估计与关联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5715000" y="139446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519D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传感器技术对比</a:t>
            </a:r>
            <a:endParaRPr lang="en-US" sz="2400" b="1" i="0" u="none" strike="noStrike">
              <a:solidFill>
                <a:srgbClr val="519D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5487035" y="1905000"/>
          <a:ext cx="5942965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70965"/>
                <a:gridCol w="2286000"/>
                <a:gridCol w="2286000"/>
              </a:tblGrid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传感器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385BD"/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优势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385BD"/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局限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385BD"/>
                    </a:solidFill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826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GNSS+IMU</a:t>
                      </a:r>
                      <a:endParaRPr lang="en-US" sz="1600" b="1" i="0" u="none" strike="noStrike">
                        <a:solidFill>
                          <a:srgbClr val="18263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6978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全局定位、高频更新</a:t>
                      </a:r>
                      <a:endParaRPr lang="en-US" sz="1600" b="0" i="0" u="none" strike="noStrike">
                        <a:solidFill>
                          <a:srgbClr val="69788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6978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城市峡谷多径干扰</a:t>
                      </a:r>
                      <a:endParaRPr lang="en-US" sz="1600" b="0" i="0" u="none" strike="noStrike">
                        <a:solidFill>
                          <a:srgbClr val="69788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826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视觉相机</a:t>
                      </a:r>
                      <a:endParaRPr lang="en-US" sz="1600" b="1" i="0" u="none" strike="noStrike">
                        <a:solidFill>
                          <a:srgbClr val="18263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6978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语义丰富、成本低</a:t>
                      </a:r>
                      <a:endParaRPr lang="en-US" sz="1600" b="0" i="0" u="none" strike="noStrike">
                        <a:solidFill>
                          <a:srgbClr val="69788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6978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光照敏感、无深度</a:t>
                      </a:r>
                      <a:endParaRPr lang="en-US" sz="1600" b="0" i="0" u="none" strike="noStrike">
                        <a:solidFill>
                          <a:srgbClr val="69788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826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LiDAR</a:t>
                      </a:r>
                      <a:endParaRPr lang="en-US" sz="1600" b="1" i="0" u="none" strike="noStrike">
                        <a:solidFill>
                          <a:srgbClr val="18263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6978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几何精确、点云密集</a:t>
                      </a:r>
                      <a:endParaRPr lang="en-US" sz="1600" b="0" i="0" u="none" strike="noStrike">
                        <a:solidFill>
                          <a:srgbClr val="69788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6978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无语义、雨雾衰减</a:t>
                      </a:r>
                      <a:endParaRPr lang="en-US" sz="1600" b="0" i="0" u="none" strike="noStrike">
                        <a:solidFill>
                          <a:srgbClr val="69788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826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Radar/其他</a:t>
                      </a:r>
                      <a:endParaRPr lang="en-US" sz="1600" b="1" i="0" u="none" strike="noStrike">
                        <a:solidFill>
                          <a:srgbClr val="18263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6978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全天候、测速能力</a:t>
                      </a:r>
                      <a:endParaRPr lang="en-US" sz="1600" b="0" i="0" u="none" strike="noStrike">
                        <a:solidFill>
                          <a:srgbClr val="69788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6978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分辨率低、角分辨率差</a:t>
                      </a:r>
                      <a:endParaRPr lang="en-US" sz="1600" b="0" i="0" u="none" strike="noStrike">
                        <a:solidFill>
                          <a:srgbClr val="69788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AutoShape 8"/>
          <p:cNvSpPr txBox="1"/>
          <p:nvPr/>
        </p:nvSpPr>
        <p:spPr>
          <a:xfrm>
            <a:off x="762000" y="5264785"/>
            <a:ext cx="1066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5385B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定位与 SLAM 技术演进</a:t>
            </a:r>
            <a:endParaRPr lang="en-US" sz="2000" b="1" i="0" u="none" strike="noStrike">
              <a:solidFill>
                <a:srgbClr val="5385B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762000" y="5645785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GNSS/IMU 组合导航 → 视觉 SLAM → LiDAR SLAM → 多传感器融合 SLAM</a:t>
            </a:r>
            <a:endParaRPr lang="en-US" sz="20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66750" y="455930"/>
            <a:ext cx="756094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感知模块总览与传感器技术演进</a:t>
            </a:r>
            <a:endParaRPr lang="zh-CN" altLang="en-US" sz="4000" dirty="0">
              <a:solidFill>
                <a:schemeClr val="accent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17625" y="292500"/>
            <a:ext cx="3429000" cy="1663700"/>
            <a:chOff x="508000" y="254000"/>
            <a:chExt cx="3429000" cy="1663700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508000" y="379580"/>
              <a:ext cx="3429000" cy="0"/>
            </a:xfrm>
            <a:prstGeom prst="line">
              <a:avLst/>
            </a:prstGeom>
            <a:ln w="19050">
              <a:gradFill>
                <a:gsLst>
                  <a:gs pos="3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60400" y="254000"/>
              <a:ext cx="0" cy="166370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4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6" name="直接连接符 65"/>
          <p:cNvCxnSpPr/>
          <p:nvPr/>
        </p:nvCxnSpPr>
        <p:spPr>
          <a:xfrm>
            <a:off x="5023485" y="1633220"/>
            <a:ext cx="5080" cy="3083560"/>
          </a:xfrm>
          <a:prstGeom prst="line">
            <a:avLst/>
          </a:prstGeom>
          <a:ln w="571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椭圆 47"/>
          <p:cNvSpPr/>
          <p:nvPr/>
        </p:nvSpPr>
        <p:spPr>
          <a:xfrm>
            <a:off x="1946777" y="3839517"/>
            <a:ext cx="152367" cy="152367"/>
          </a:xfrm>
          <a:prstGeom prst="ellipse">
            <a:avLst/>
          </a:prstGeom>
          <a:solidFill>
            <a:srgbClr val="FBCE43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3911671" y="3839517"/>
            <a:ext cx="152367" cy="152367"/>
          </a:xfrm>
          <a:prstGeom prst="ellipse">
            <a:avLst/>
          </a:prstGeom>
          <a:solidFill>
            <a:srgbClr val="FBCE43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6019816" y="3839517"/>
            <a:ext cx="152367" cy="152367"/>
          </a:xfrm>
          <a:prstGeom prst="ellipse">
            <a:avLst/>
          </a:prstGeom>
          <a:solidFill>
            <a:srgbClr val="FBCE43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8143395" y="3839517"/>
            <a:ext cx="152367" cy="152367"/>
          </a:xfrm>
          <a:prstGeom prst="ellipse">
            <a:avLst/>
          </a:prstGeom>
          <a:solidFill>
            <a:srgbClr val="FBCE43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10050129" y="3839517"/>
            <a:ext cx="152367" cy="152367"/>
          </a:xfrm>
          <a:prstGeom prst="ellipse">
            <a:avLst/>
          </a:prstGeom>
          <a:solidFill>
            <a:srgbClr val="FBCE43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sp>
        <p:nvSpPr>
          <p:cNvPr id="42" name="等腰三角形 41"/>
          <p:cNvSpPr/>
          <p:nvPr/>
        </p:nvSpPr>
        <p:spPr>
          <a:xfrm flipV="1">
            <a:off x="1531037" y="2794738"/>
            <a:ext cx="983848" cy="1139617"/>
          </a:xfrm>
          <a:prstGeom prst="triangle">
            <a:avLst/>
          </a:prstGeom>
          <a:gradFill>
            <a:gsLst>
              <a:gs pos="2000">
                <a:schemeClr val="accent6">
                  <a:alpha val="51000"/>
                </a:schemeClr>
              </a:gs>
              <a:gs pos="99000">
                <a:schemeClr val="accent6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sp>
        <p:nvSpPr>
          <p:cNvPr id="43" name="等腰三角形 42"/>
          <p:cNvSpPr/>
          <p:nvPr/>
        </p:nvSpPr>
        <p:spPr>
          <a:xfrm flipV="1">
            <a:off x="9634389" y="2794738"/>
            <a:ext cx="983848" cy="1139617"/>
          </a:xfrm>
          <a:prstGeom prst="triangle">
            <a:avLst/>
          </a:prstGeom>
          <a:gradFill>
            <a:gsLst>
              <a:gs pos="2000">
                <a:schemeClr val="accent6">
                  <a:alpha val="51000"/>
                </a:schemeClr>
              </a:gs>
              <a:gs pos="99000">
                <a:schemeClr val="accent6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sp>
        <p:nvSpPr>
          <p:cNvPr id="44" name="等腰三角形 43"/>
          <p:cNvSpPr/>
          <p:nvPr/>
        </p:nvSpPr>
        <p:spPr>
          <a:xfrm flipV="1">
            <a:off x="3324432" y="2397433"/>
            <a:ext cx="1326847" cy="1536922"/>
          </a:xfrm>
          <a:prstGeom prst="triangle">
            <a:avLst/>
          </a:prstGeom>
          <a:gradFill>
            <a:gsLst>
              <a:gs pos="2000">
                <a:schemeClr val="accent6">
                  <a:alpha val="51000"/>
                </a:schemeClr>
              </a:gs>
              <a:gs pos="99000">
                <a:schemeClr val="accent6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sp>
        <p:nvSpPr>
          <p:cNvPr id="45" name="等腰三角形 44"/>
          <p:cNvSpPr/>
          <p:nvPr/>
        </p:nvSpPr>
        <p:spPr>
          <a:xfrm flipV="1">
            <a:off x="7558084" y="2397433"/>
            <a:ext cx="1326847" cy="1536922"/>
          </a:xfrm>
          <a:prstGeom prst="triangle">
            <a:avLst/>
          </a:prstGeom>
          <a:gradFill>
            <a:gsLst>
              <a:gs pos="2000">
                <a:schemeClr val="accent6">
                  <a:alpha val="51000"/>
                </a:schemeClr>
              </a:gs>
              <a:gs pos="99000">
                <a:schemeClr val="accent6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sp>
        <p:nvSpPr>
          <p:cNvPr id="46" name="等腰三角形 45"/>
          <p:cNvSpPr/>
          <p:nvPr/>
        </p:nvSpPr>
        <p:spPr>
          <a:xfrm flipV="1">
            <a:off x="5342572" y="2188923"/>
            <a:ext cx="1506857" cy="1745432"/>
          </a:xfrm>
          <a:prstGeom prst="triangle">
            <a:avLst/>
          </a:prstGeom>
          <a:gradFill>
            <a:gsLst>
              <a:gs pos="2000">
                <a:schemeClr val="accent6">
                  <a:alpha val="51000"/>
                </a:schemeClr>
              </a:gs>
              <a:gs pos="99000">
                <a:schemeClr val="accent6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5342571" y="1153634"/>
            <a:ext cx="1506858" cy="150685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7530186" y="1440493"/>
            <a:ext cx="1347596" cy="1347596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314218" y="1440493"/>
            <a:ext cx="1347596" cy="1347596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1428842" y="1984503"/>
            <a:ext cx="1204619" cy="1204619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9558539" y="1984503"/>
            <a:ext cx="1204619" cy="1204619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 flipH="1">
            <a:off x="1331595" y="2235200"/>
            <a:ext cx="1382395" cy="7785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2D 图像/框</a:t>
            </a:r>
            <a:endParaRPr lang="en-US">
              <a:solidFill>
                <a:schemeClr val="bg1"/>
              </a:solidFill>
            </a:endParaRPr>
          </a:p>
          <a:p>
            <a:pPr marL="0" indent="0" algn="ctr">
              <a:lnSpc>
                <a:spcPct val="108000"/>
              </a:lnSpc>
            </a:pPr>
            <a:r>
              <a:rPr lang="en-US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像素级表示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 flipH="1">
            <a:off x="9554845" y="2164080"/>
            <a:ext cx="1152525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  <a:sym typeface="思源黑体 CN Bold" panose="020B0800000000000000" pitchFamily="34" charset="-122"/>
              </a:rPr>
              <a:t>Occupancy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  <a:sym typeface="思源黑体 CN Bold" panose="020B0800000000000000" pitchFamily="34" charset="-122"/>
              </a:rPr>
              <a:t>占用网格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 flipH="1">
            <a:off x="3239818" y="1775715"/>
            <a:ext cx="1506857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  <a:sym typeface="思源黑体 CN Bold" panose="020B0800000000000000" pitchFamily="34" charset="-122"/>
              </a:rPr>
              <a:t>深度图/视差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  <a:sym typeface="思源黑体 CN Bold" panose="020B0800000000000000" pitchFamily="34" charset="-122"/>
              </a:rPr>
              <a:t>像素级深度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 flipH="1">
            <a:off x="7455291" y="1693165"/>
            <a:ext cx="1506857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  <a:sym typeface="思源黑体 CN Bold" panose="020B0800000000000000" pitchFamily="34" charset="-122"/>
              </a:rPr>
              <a:t>BEV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  <a:sym typeface="思源黑体 CN Bold" panose="020B0800000000000000" pitchFamily="34" charset="-122"/>
              </a:rPr>
              <a:t>鸟瞰图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  <a:sym typeface="思源黑体 CN Bold" panose="020B0800000000000000" pitchFamily="34" charset="-122"/>
              </a:rPr>
              <a:t>统一空间表示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 flipH="1">
            <a:off x="5342570" y="1458469"/>
            <a:ext cx="1506857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  <a:sym typeface="思源黑体 CN Bold" panose="020B0800000000000000" pitchFamily="34" charset="-122"/>
              </a:rPr>
              <a:t>体素/点云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  <a:sym typeface="思源黑体 CN Bold" panose="020B0800000000000000" pitchFamily="34" charset="-122"/>
              </a:rPr>
              <a:t>3D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  <a:sym typeface="思源黑体 CN Bold" panose="020B0800000000000000" pitchFamily="34" charset="-122"/>
              </a:rPr>
              <a:t>几何表示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2276576" y="2833223"/>
            <a:ext cx="354225" cy="354225"/>
            <a:chOff x="2276576" y="3073101"/>
            <a:chExt cx="354225" cy="354225"/>
          </a:xfrm>
        </p:grpSpPr>
        <p:sp>
          <p:nvSpPr>
            <p:cNvPr id="40" name="椭圆 39"/>
            <p:cNvSpPr/>
            <p:nvPr/>
          </p:nvSpPr>
          <p:spPr>
            <a:xfrm>
              <a:off x="2276576" y="3073101"/>
              <a:ext cx="354225" cy="35422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41" name="任意多边形: 形状 25"/>
            <p:cNvSpPr/>
            <p:nvPr/>
          </p:nvSpPr>
          <p:spPr>
            <a:xfrm>
              <a:off x="2365215" y="3185087"/>
              <a:ext cx="176947" cy="130253"/>
            </a:xfrm>
            <a:custGeom>
              <a:avLst/>
              <a:gdLst>
                <a:gd name="connsiteX0" fmla="*/ 802490 w 828128"/>
                <a:gd name="connsiteY0" fmla="*/ 24865 h 609599"/>
                <a:gd name="connsiteX1" fmla="*/ 680577 w 828128"/>
                <a:gd name="connsiteY1" fmla="*/ 24865 h 609599"/>
                <a:gd name="connsiteX2" fmla="*/ 304410 w 828128"/>
                <a:gd name="connsiteY2" fmla="*/ 401032 h 609599"/>
                <a:gd name="connsiteX3" fmla="*/ 146864 w 828128"/>
                <a:gd name="connsiteY3" fmla="*/ 243486 h 609599"/>
                <a:gd name="connsiteX4" fmla="*/ 24952 w 828128"/>
                <a:gd name="connsiteY4" fmla="*/ 243312 h 609599"/>
                <a:gd name="connsiteX5" fmla="*/ 24778 w 828128"/>
                <a:gd name="connsiteY5" fmla="*/ 365225 h 609599"/>
                <a:gd name="connsiteX6" fmla="*/ 24951 w 828128"/>
                <a:gd name="connsiteY6" fmla="*/ 365398 h 609599"/>
                <a:gd name="connsiteX7" fmla="*/ 242651 w 828128"/>
                <a:gd name="connsiteY7" fmla="*/ 583097 h 609599"/>
                <a:gd name="connsiteX8" fmla="*/ 243446 w 828128"/>
                <a:gd name="connsiteY8" fmla="*/ 583913 h 609599"/>
                <a:gd name="connsiteX9" fmla="*/ 256987 w 828128"/>
                <a:gd name="connsiteY9" fmla="*/ 594965 h 609599"/>
                <a:gd name="connsiteX10" fmla="*/ 365425 w 828128"/>
                <a:gd name="connsiteY10" fmla="*/ 583978 h 609599"/>
                <a:gd name="connsiteX11" fmla="*/ 802497 w 828128"/>
                <a:gd name="connsiteY11" fmla="*/ 146775 h 609599"/>
                <a:gd name="connsiteX12" fmla="*/ 802497 w 828128"/>
                <a:gd name="connsiteY12" fmla="*/ 24865 h 609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28128" h="609599">
                  <a:moveTo>
                    <a:pt x="802490" y="24865"/>
                  </a:moveTo>
                  <a:cubicBezTo>
                    <a:pt x="768825" y="-8800"/>
                    <a:pt x="714243" y="-8800"/>
                    <a:pt x="680577" y="24865"/>
                  </a:cubicBezTo>
                  <a:lnTo>
                    <a:pt x="304410" y="401032"/>
                  </a:lnTo>
                  <a:lnTo>
                    <a:pt x="146864" y="243486"/>
                  </a:lnTo>
                  <a:cubicBezTo>
                    <a:pt x="113247" y="209773"/>
                    <a:pt x="58665" y="209695"/>
                    <a:pt x="24952" y="243312"/>
                  </a:cubicBezTo>
                  <a:cubicBezTo>
                    <a:pt x="-8761" y="276930"/>
                    <a:pt x="-8839" y="331512"/>
                    <a:pt x="24778" y="365225"/>
                  </a:cubicBezTo>
                  <a:cubicBezTo>
                    <a:pt x="24836" y="365283"/>
                    <a:pt x="24893" y="365340"/>
                    <a:pt x="24951" y="365398"/>
                  </a:cubicBezTo>
                  <a:lnTo>
                    <a:pt x="242651" y="583097"/>
                  </a:lnTo>
                  <a:cubicBezTo>
                    <a:pt x="242891" y="583351"/>
                    <a:pt x="243140" y="583611"/>
                    <a:pt x="243446" y="583913"/>
                  </a:cubicBezTo>
                  <a:cubicBezTo>
                    <a:pt x="247577" y="588043"/>
                    <a:pt x="252113" y="591746"/>
                    <a:pt x="256987" y="594965"/>
                  </a:cubicBezTo>
                  <a:cubicBezTo>
                    <a:pt x="291159" y="617504"/>
                    <a:pt x="336468" y="612913"/>
                    <a:pt x="365425" y="583978"/>
                  </a:cubicBezTo>
                  <a:cubicBezTo>
                    <a:pt x="366220" y="583183"/>
                    <a:pt x="784685" y="164590"/>
                    <a:pt x="802497" y="146775"/>
                  </a:cubicBezTo>
                  <a:cubicBezTo>
                    <a:pt x="836161" y="113110"/>
                    <a:pt x="836161" y="58530"/>
                    <a:pt x="802497" y="24865"/>
                  </a:cubicBezTo>
                  <a:close/>
                </a:path>
              </a:pathLst>
            </a:custGeom>
            <a:solidFill>
              <a:schemeClr val="accent4"/>
            </a:solidFill>
            <a:ln w="13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  <a:sym typeface="思源黑体 CN Bold" panose="020B0800000000000000" pitchFamily="34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0408933" y="2833223"/>
            <a:ext cx="354225" cy="354225"/>
            <a:chOff x="2276576" y="3073101"/>
            <a:chExt cx="354225" cy="354225"/>
          </a:xfrm>
        </p:grpSpPr>
        <p:sp>
          <p:nvSpPr>
            <p:cNvPr id="53" name="椭圆 52"/>
            <p:cNvSpPr/>
            <p:nvPr/>
          </p:nvSpPr>
          <p:spPr>
            <a:xfrm>
              <a:off x="2276576" y="3073101"/>
              <a:ext cx="354225" cy="35422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54" name="任意多边形: 形状 29"/>
            <p:cNvSpPr/>
            <p:nvPr/>
          </p:nvSpPr>
          <p:spPr>
            <a:xfrm>
              <a:off x="2365215" y="3185087"/>
              <a:ext cx="176947" cy="130253"/>
            </a:xfrm>
            <a:custGeom>
              <a:avLst/>
              <a:gdLst>
                <a:gd name="connsiteX0" fmla="*/ 802490 w 828128"/>
                <a:gd name="connsiteY0" fmla="*/ 24865 h 609599"/>
                <a:gd name="connsiteX1" fmla="*/ 680577 w 828128"/>
                <a:gd name="connsiteY1" fmla="*/ 24865 h 609599"/>
                <a:gd name="connsiteX2" fmla="*/ 304410 w 828128"/>
                <a:gd name="connsiteY2" fmla="*/ 401032 h 609599"/>
                <a:gd name="connsiteX3" fmla="*/ 146864 w 828128"/>
                <a:gd name="connsiteY3" fmla="*/ 243486 h 609599"/>
                <a:gd name="connsiteX4" fmla="*/ 24952 w 828128"/>
                <a:gd name="connsiteY4" fmla="*/ 243312 h 609599"/>
                <a:gd name="connsiteX5" fmla="*/ 24778 w 828128"/>
                <a:gd name="connsiteY5" fmla="*/ 365225 h 609599"/>
                <a:gd name="connsiteX6" fmla="*/ 24951 w 828128"/>
                <a:gd name="connsiteY6" fmla="*/ 365398 h 609599"/>
                <a:gd name="connsiteX7" fmla="*/ 242651 w 828128"/>
                <a:gd name="connsiteY7" fmla="*/ 583097 h 609599"/>
                <a:gd name="connsiteX8" fmla="*/ 243446 w 828128"/>
                <a:gd name="connsiteY8" fmla="*/ 583913 h 609599"/>
                <a:gd name="connsiteX9" fmla="*/ 256987 w 828128"/>
                <a:gd name="connsiteY9" fmla="*/ 594965 h 609599"/>
                <a:gd name="connsiteX10" fmla="*/ 365425 w 828128"/>
                <a:gd name="connsiteY10" fmla="*/ 583978 h 609599"/>
                <a:gd name="connsiteX11" fmla="*/ 802497 w 828128"/>
                <a:gd name="connsiteY11" fmla="*/ 146775 h 609599"/>
                <a:gd name="connsiteX12" fmla="*/ 802497 w 828128"/>
                <a:gd name="connsiteY12" fmla="*/ 24865 h 609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28128" h="609599">
                  <a:moveTo>
                    <a:pt x="802490" y="24865"/>
                  </a:moveTo>
                  <a:cubicBezTo>
                    <a:pt x="768825" y="-8800"/>
                    <a:pt x="714243" y="-8800"/>
                    <a:pt x="680577" y="24865"/>
                  </a:cubicBezTo>
                  <a:lnTo>
                    <a:pt x="304410" y="401032"/>
                  </a:lnTo>
                  <a:lnTo>
                    <a:pt x="146864" y="243486"/>
                  </a:lnTo>
                  <a:cubicBezTo>
                    <a:pt x="113247" y="209773"/>
                    <a:pt x="58665" y="209695"/>
                    <a:pt x="24952" y="243312"/>
                  </a:cubicBezTo>
                  <a:cubicBezTo>
                    <a:pt x="-8761" y="276930"/>
                    <a:pt x="-8839" y="331512"/>
                    <a:pt x="24778" y="365225"/>
                  </a:cubicBezTo>
                  <a:cubicBezTo>
                    <a:pt x="24836" y="365283"/>
                    <a:pt x="24893" y="365340"/>
                    <a:pt x="24951" y="365398"/>
                  </a:cubicBezTo>
                  <a:lnTo>
                    <a:pt x="242651" y="583097"/>
                  </a:lnTo>
                  <a:cubicBezTo>
                    <a:pt x="242891" y="583351"/>
                    <a:pt x="243140" y="583611"/>
                    <a:pt x="243446" y="583913"/>
                  </a:cubicBezTo>
                  <a:cubicBezTo>
                    <a:pt x="247577" y="588043"/>
                    <a:pt x="252113" y="591746"/>
                    <a:pt x="256987" y="594965"/>
                  </a:cubicBezTo>
                  <a:cubicBezTo>
                    <a:pt x="291159" y="617504"/>
                    <a:pt x="336468" y="612913"/>
                    <a:pt x="365425" y="583978"/>
                  </a:cubicBezTo>
                  <a:cubicBezTo>
                    <a:pt x="366220" y="583183"/>
                    <a:pt x="784685" y="164590"/>
                    <a:pt x="802497" y="146775"/>
                  </a:cubicBezTo>
                  <a:cubicBezTo>
                    <a:pt x="836161" y="113110"/>
                    <a:pt x="836161" y="58530"/>
                    <a:pt x="802497" y="24865"/>
                  </a:cubicBezTo>
                  <a:close/>
                </a:path>
              </a:pathLst>
            </a:custGeom>
            <a:solidFill>
              <a:schemeClr val="accent4"/>
            </a:solidFill>
            <a:ln w="13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  <a:sym typeface="思源黑体 CN Bold" panose="020B0800000000000000" pitchFamily="34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4127471" y="2483379"/>
            <a:ext cx="354225" cy="354225"/>
            <a:chOff x="2276576" y="3073101"/>
            <a:chExt cx="354225" cy="354225"/>
          </a:xfrm>
        </p:grpSpPr>
        <p:sp>
          <p:nvSpPr>
            <p:cNvPr id="56" name="椭圆 55"/>
            <p:cNvSpPr/>
            <p:nvPr/>
          </p:nvSpPr>
          <p:spPr>
            <a:xfrm>
              <a:off x="2276576" y="3073101"/>
              <a:ext cx="354225" cy="35422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57" name="任意多边形: 形状 32"/>
            <p:cNvSpPr/>
            <p:nvPr/>
          </p:nvSpPr>
          <p:spPr>
            <a:xfrm>
              <a:off x="2365215" y="3185087"/>
              <a:ext cx="176947" cy="130253"/>
            </a:xfrm>
            <a:custGeom>
              <a:avLst/>
              <a:gdLst>
                <a:gd name="connsiteX0" fmla="*/ 802490 w 828128"/>
                <a:gd name="connsiteY0" fmla="*/ 24865 h 609599"/>
                <a:gd name="connsiteX1" fmla="*/ 680577 w 828128"/>
                <a:gd name="connsiteY1" fmla="*/ 24865 h 609599"/>
                <a:gd name="connsiteX2" fmla="*/ 304410 w 828128"/>
                <a:gd name="connsiteY2" fmla="*/ 401032 h 609599"/>
                <a:gd name="connsiteX3" fmla="*/ 146864 w 828128"/>
                <a:gd name="connsiteY3" fmla="*/ 243486 h 609599"/>
                <a:gd name="connsiteX4" fmla="*/ 24952 w 828128"/>
                <a:gd name="connsiteY4" fmla="*/ 243312 h 609599"/>
                <a:gd name="connsiteX5" fmla="*/ 24778 w 828128"/>
                <a:gd name="connsiteY5" fmla="*/ 365225 h 609599"/>
                <a:gd name="connsiteX6" fmla="*/ 24951 w 828128"/>
                <a:gd name="connsiteY6" fmla="*/ 365398 h 609599"/>
                <a:gd name="connsiteX7" fmla="*/ 242651 w 828128"/>
                <a:gd name="connsiteY7" fmla="*/ 583097 h 609599"/>
                <a:gd name="connsiteX8" fmla="*/ 243446 w 828128"/>
                <a:gd name="connsiteY8" fmla="*/ 583913 h 609599"/>
                <a:gd name="connsiteX9" fmla="*/ 256987 w 828128"/>
                <a:gd name="connsiteY9" fmla="*/ 594965 h 609599"/>
                <a:gd name="connsiteX10" fmla="*/ 365425 w 828128"/>
                <a:gd name="connsiteY10" fmla="*/ 583978 h 609599"/>
                <a:gd name="connsiteX11" fmla="*/ 802497 w 828128"/>
                <a:gd name="connsiteY11" fmla="*/ 146775 h 609599"/>
                <a:gd name="connsiteX12" fmla="*/ 802497 w 828128"/>
                <a:gd name="connsiteY12" fmla="*/ 24865 h 609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28128" h="609599">
                  <a:moveTo>
                    <a:pt x="802490" y="24865"/>
                  </a:moveTo>
                  <a:cubicBezTo>
                    <a:pt x="768825" y="-8800"/>
                    <a:pt x="714243" y="-8800"/>
                    <a:pt x="680577" y="24865"/>
                  </a:cubicBezTo>
                  <a:lnTo>
                    <a:pt x="304410" y="401032"/>
                  </a:lnTo>
                  <a:lnTo>
                    <a:pt x="146864" y="243486"/>
                  </a:lnTo>
                  <a:cubicBezTo>
                    <a:pt x="113247" y="209773"/>
                    <a:pt x="58665" y="209695"/>
                    <a:pt x="24952" y="243312"/>
                  </a:cubicBezTo>
                  <a:cubicBezTo>
                    <a:pt x="-8761" y="276930"/>
                    <a:pt x="-8839" y="331512"/>
                    <a:pt x="24778" y="365225"/>
                  </a:cubicBezTo>
                  <a:cubicBezTo>
                    <a:pt x="24836" y="365283"/>
                    <a:pt x="24893" y="365340"/>
                    <a:pt x="24951" y="365398"/>
                  </a:cubicBezTo>
                  <a:lnTo>
                    <a:pt x="242651" y="583097"/>
                  </a:lnTo>
                  <a:cubicBezTo>
                    <a:pt x="242891" y="583351"/>
                    <a:pt x="243140" y="583611"/>
                    <a:pt x="243446" y="583913"/>
                  </a:cubicBezTo>
                  <a:cubicBezTo>
                    <a:pt x="247577" y="588043"/>
                    <a:pt x="252113" y="591746"/>
                    <a:pt x="256987" y="594965"/>
                  </a:cubicBezTo>
                  <a:cubicBezTo>
                    <a:pt x="291159" y="617504"/>
                    <a:pt x="336468" y="612913"/>
                    <a:pt x="365425" y="583978"/>
                  </a:cubicBezTo>
                  <a:cubicBezTo>
                    <a:pt x="366220" y="583183"/>
                    <a:pt x="784685" y="164590"/>
                    <a:pt x="802497" y="146775"/>
                  </a:cubicBezTo>
                  <a:cubicBezTo>
                    <a:pt x="836161" y="113110"/>
                    <a:pt x="836161" y="58530"/>
                    <a:pt x="802497" y="24865"/>
                  </a:cubicBezTo>
                  <a:close/>
                </a:path>
              </a:pathLst>
            </a:custGeom>
            <a:solidFill>
              <a:schemeClr val="accent4"/>
            </a:solidFill>
            <a:ln w="13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  <a:sym typeface="思源黑体 CN Bold" panose="020B0800000000000000" pitchFamily="34" charset="-122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8346445" y="2483379"/>
            <a:ext cx="354225" cy="354225"/>
            <a:chOff x="2276576" y="3073101"/>
            <a:chExt cx="354225" cy="354225"/>
          </a:xfrm>
        </p:grpSpPr>
        <p:sp>
          <p:nvSpPr>
            <p:cNvPr id="59" name="椭圆 58"/>
            <p:cNvSpPr/>
            <p:nvPr/>
          </p:nvSpPr>
          <p:spPr>
            <a:xfrm>
              <a:off x="2276576" y="3073101"/>
              <a:ext cx="354225" cy="35422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60" name="任意多边形: 形状 35"/>
            <p:cNvSpPr/>
            <p:nvPr/>
          </p:nvSpPr>
          <p:spPr>
            <a:xfrm>
              <a:off x="2365215" y="3185087"/>
              <a:ext cx="176947" cy="130253"/>
            </a:xfrm>
            <a:custGeom>
              <a:avLst/>
              <a:gdLst>
                <a:gd name="connsiteX0" fmla="*/ 802490 w 828128"/>
                <a:gd name="connsiteY0" fmla="*/ 24865 h 609599"/>
                <a:gd name="connsiteX1" fmla="*/ 680577 w 828128"/>
                <a:gd name="connsiteY1" fmla="*/ 24865 h 609599"/>
                <a:gd name="connsiteX2" fmla="*/ 304410 w 828128"/>
                <a:gd name="connsiteY2" fmla="*/ 401032 h 609599"/>
                <a:gd name="connsiteX3" fmla="*/ 146864 w 828128"/>
                <a:gd name="connsiteY3" fmla="*/ 243486 h 609599"/>
                <a:gd name="connsiteX4" fmla="*/ 24952 w 828128"/>
                <a:gd name="connsiteY4" fmla="*/ 243312 h 609599"/>
                <a:gd name="connsiteX5" fmla="*/ 24778 w 828128"/>
                <a:gd name="connsiteY5" fmla="*/ 365225 h 609599"/>
                <a:gd name="connsiteX6" fmla="*/ 24951 w 828128"/>
                <a:gd name="connsiteY6" fmla="*/ 365398 h 609599"/>
                <a:gd name="connsiteX7" fmla="*/ 242651 w 828128"/>
                <a:gd name="connsiteY7" fmla="*/ 583097 h 609599"/>
                <a:gd name="connsiteX8" fmla="*/ 243446 w 828128"/>
                <a:gd name="connsiteY8" fmla="*/ 583913 h 609599"/>
                <a:gd name="connsiteX9" fmla="*/ 256987 w 828128"/>
                <a:gd name="connsiteY9" fmla="*/ 594965 h 609599"/>
                <a:gd name="connsiteX10" fmla="*/ 365425 w 828128"/>
                <a:gd name="connsiteY10" fmla="*/ 583978 h 609599"/>
                <a:gd name="connsiteX11" fmla="*/ 802497 w 828128"/>
                <a:gd name="connsiteY11" fmla="*/ 146775 h 609599"/>
                <a:gd name="connsiteX12" fmla="*/ 802497 w 828128"/>
                <a:gd name="connsiteY12" fmla="*/ 24865 h 609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28128" h="609599">
                  <a:moveTo>
                    <a:pt x="802490" y="24865"/>
                  </a:moveTo>
                  <a:cubicBezTo>
                    <a:pt x="768825" y="-8800"/>
                    <a:pt x="714243" y="-8800"/>
                    <a:pt x="680577" y="24865"/>
                  </a:cubicBezTo>
                  <a:lnTo>
                    <a:pt x="304410" y="401032"/>
                  </a:lnTo>
                  <a:lnTo>
                    <a:pt x="146864" y="243486"/>
                  </a:lnTo>
                  <a:cubicBezTo>
                    <a:pt x="113247" y="209773"/>
                    <a:pt x="58665" y="209695"/>
                    <a:pt x="24952" y="243312"/>
                  </a:cubicBezTo>
                  <a:cubicBezTo>
                    <a:pt x="-8761" y="276930"/>
                    <a:pt x="-8839" y="331512"/>
                    <a:pt x="24778" y="365225"/>
                  </a:cubicBezTo>
                  <a:cubicBezTo>
                    <a:pt x="24836" y="365283"/>
                    <a:pt x="24893" y="365340"/>
                    <a:pt x="24951" y="365398"/>
                  </a:cubicBezTo>
                  <a:lnTo>
                    <a:pt x="242651" y="583097"/>
                  </a:lnTo>
                  <a:cubicBezTo>
                    <a:pt x="242891" y="583351"/>
                    <a:pt x="243140" y="583611"/>
                    <a:pt x="243446" y="583913"/>
                  </a:cubicBezTo>
                  <a:cubicBezTo>
                    <a:pt x="247577" y="588043"/>
                    <a:pt x="252113" y="591746"/>
                    <a:pt x="256987" y="594965"/>
                  </a:cubicBezTo>
                  <a:cubicBezTo>
                    <a:pt x="291159" y="617504"/>
                    <a:pt x="336468" y="612913"/>
                    <a:pt x="365425" y="583978"/>
                  </a:cubicBezTo>
                  <a:cubicBezTo>
                    <a:pt x="366220" y="583183"/>
                    <a:pt x="784685" y="164590"/>
                    <a:pt x="802497" y="146775"/>
                  </a:cubicBezTo>
                  <a:cubicBezTo>
                    <a:pt x="836161" y="113110"/>
                    <a:pt x="836161" y="58530"/>
                    <a:pt x="802497" y="24865"/>
                  </a:cubicBezTo>
                  <a:close/>
                </a:path>
              </a:pathLst>
            </a:custGeom>
            <a:solidFill>
              <a:schemeClr val="accent4"/>
            </a:solidFill>
            <a:ln w="13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  <a:sym typeface="思源黑体 CN Bold" panose="020B0800000000000000" pitchFamily="34" charset="-122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6318092" y="2342424"/>
            <a:ext cx="354225" cy="354225"/>
            <a:chOff x="2276576" y="3073101"/>
            <a:chExt cx="354225" cy="354225"/>
          </a:xfrm>
        </p:grpSpPr>
        <p:sp>
          <p:nvSpPr>
            <p:cNvPr id="62" name="椭圆 61"/>
            <p:cNvSpPr/>
            <p:nvPr/>
          </p:nvSpPr>
          <p:spPr>
            <a:xfrm>
              <a:off x="2276576" y="3073101"/>
              <a:ext cx="354225" cy="35422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63" name="任意多边形: 形状 38"/>
            <p:cNvSpPr/>
            <p:nvPr/>
          </p:nvSpPr>
          <p:spPr>
            <a:xfrm>
              <a:off x="2365215" y="3185087"/>
              <a:ext cx="176947" cy="130253"/>
            </a:xfrm>
            <a:custGeom>
              <a:avLst/>
              <a:gdLst>
                <a:gd name="connsiteX0" fmla="*/ 802490 w 828128"/>
                <a:gd name="connsiteY0" fmla="*/ 24865 h 609599"/>
                <a:gd name="connsiteX1" fmla="*/ 680577 w 828128"/>
                <a:gd name="connsiteY1" fmla="*/ 24865 h 609599"/>
                <a:gd name="connsiteX2" fmla="*/ 304410 w 828128"/>
                <a:gd name="connsiteY2" fmla="*/ 401032 h 609599"/>
                <a:gd name="connsiteX3" fmla="*/ 146864 w 828128"/>
                <a:gd name="connsiteY3" fmla="*/ 243486 h 609599"/>
                <a:gd name="connsiteX4" fmla="*/ 24952 w 828128"/>
                <a:gd name="connsiteY4" fmla="*/ 243312 h 609599"/>
                <a:gd name="connsiteX5" fmla="*/ 24778 w 828128"/>
                <a:gd name="connsiteY5" fmla="*/ 365225 h 609599"/>
                <a:gd name="connsiteX6" fmla="*/ 24951 w 828128"/>
                <a:gd name="connsiteY6" fmla="*/ 365398 h 609599"/>
                <a:gd name="connsiteX7" fmla="*/ 242651 w 828128"/>
                <a:gd name="connsiteY7" fmla="*/ 583097 h 609599"/>
                <a:gd name="connsiteX8" fmla="*/ 243446 w 828128"/>
                <a:gd name="connsiteY8" fmla="*/ 583913 h 609599"/>
                <a:gd name="connsiteX9" fmla="*/ 256987 w 828128"/>
                <a:gd name="connsiteY9" fmla="*/ 594965 h 609599"/>
                <a:gd name="connsiteX10" fmla="*/ 365425 w 828128"/>
                <a:gd name="connsiteY10" fmla="*/ 583978 h 609599"/>
                <a:gd name="connsiteX11" fmla="*/ 802497 w 828128"/>
                <a:gd name="connsiteY11" fmla="*/ 146775 h 609599"/>
                <a:gd name="connsiteX12" fmla="*/ 802497 w 828128"/>
                <a:gd name="connsiteY12" fmla="*/ 24865 h 609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28128" h="609599">
                  <a:moveTo>
                    <a:pt x="802490" y="24865"/>
                  </a:moveTo>
                  <a:cubicBezTo>
                    <a:pt x="768825" y="-8800"/>
                    <a:pt x="714243" y="-8800"/>
                    <a:pt x="680577" y="24865"/>
                  </a:cubicBezTo>
                  <a:lnTo>
                    <a:pt x="304410" y="401032"/>
                  </a:lnTo>
                  <a:lnTo>
                    <a:pt x="146864" y="243486"/>
                  </a:lnTo>
                  <a:cubicBezTo>
                    <a:pt x="113247" y="209773"/>
                    <a:pt x="58665" y="209695"/>
                    <a:pt x="24952" y="243312"/>
                  </a:cubicBezTo>
                  <a:cubicBezTo>
                    <a:pt x="-8761" y="276930"/>
                    <a:pt x="-8839" y="331512"/>
                    <a:pt x="24778" y="365225"/>
                  </a:cubicBezTo>
                  <a:cubicBezTo>
                    <a:pt x="24836" y="365283"/>
                    <a:pt x="24893" y="365340"/>
                    <a:pt x="24951" y="365398"/>
                  </a:cubicBezTo>
                  <a:lnTo>
                    <a:pt x="242651" y="583097"/>
                  </a:lnTo>
                  <a:cubicBezTo>
                    <a:pt x="242891" y="583351"/>
                    <a:pt x="243140" y="583611"/>
                    <a:pt x="243446" y="583913"/>
                  </a:cubicBezTo>
                  <a:cubicBezTo>
                    <a:pt x="247577" y="588043"/>
                    <a:pt x="252113" y="591746"/>
                    <a:pt x="256987" y="594965"/>
                  </a:cubicBezTo>
                  <a:cubicBezTo>
                    <a:pt x="291159" y="617504"/>
                    <a:pt x="336468" y="612913"/>
                    <a:pt x="365425" y="583978"/>
                  </a:cubicBezTo>
                  <a:cubicBezTo>
                    <a:pt x="366220" y="583183"/>
                    <a:pt x="784685" y="164590"/>
                    <a:pt x="802497" y="146775"/>
                  </a:cubicBezTo>
                  <a:cubicBezTo>
                    <a:pt x="836161" y="113110"/>
                    <a:pt x="836161" y="58530"/>
                    <a:pt x="802497" y="24865"/>
                  </a:cubicBezTo>
                  <a:close/>
                </a:path>
              </a:pathLst>
            </a:custGeom>
            <a:solidFill>
              <a:schemeClr val="accent4"/>
            </a:solidFill>
            <a:ln w="13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75" name="图形 13"/>
          <p:cNvSpPr/>
          <p:nvPr/>
        </p:nvSpPr>
        <p:spPr>
          <a:xfrm rot="14821865" flipH="1">
            <a:off x="124595" y="4055576"/>
            <a:ext cx="1090970" cy="553912"/>
          </a:xfrm>
          <a:custGeom>
            <a:avLst/>
            <a:gdLst>
              <a:gd name="connsiteX0" fmla="*/ 908271 w 1218885"/>
              <a:gd name="connsiteY0" fmla="*/ 38403 h 618857"/>
              <a:gd name="connsiteX1" fmla="*/ 894383 w 1218885"/>
              <a:gd name="connsiteY1" fmla="*/ 23699 h 618857"/>
              <a:gd name="connsiteX2" fmla="*/ 914129 w 1218885"/>
              <a:gd name="connsiteY2" fmla="*/ 6769 h 618857"/>
              <a:gd name="connsiteX3" fmla="*/ 951619 w 1218885"/>
              <a:gd name="connsiteY3" fmla="*/ 8057 h 618857"/>
              <a:gd name="connsiteX4" fmla="*/ 1061638 w 1218885"/>
              <a:gd name="connsiteY4" fmla="*/ 8057 h 618857"/>
              <a:gd name="connsiteX5" fmla="*/ 1167084 w 1218885"/>
              <a:gd name="connsiteY5" fmla="*/ 1847 h 618857"/>
              <a:gd name="connsiteX6" fmla="*/ 1184310 w 1218885"/>
              <a:gd name="connsiteY6" fmla="*/ 383 h 618857"/>
              <a:gd name="connsiteX7" fmla="*/ 1215595 w 1218885"/>
              <a:gd name="connsiteY7" fmla="*/ 14091 h 618857"/>
              <a:gd name="connsiteX8" fmla="*/ 1206746 w 1218885"/>
              <a:gd name="connsiteY8" fmla="*/ 55744 h 618857"/>
              <a:gd name="connsiteX9" fmla="*/ 1087765 w 1218885"/>
              <a:gd name="connsiteY9" fmla="*/ 183393 h 618857"/>
              <a:gd name="connsiteX10" fmla="*/ 1064333 w 1218885"/>
              <a:gd name="connsiteY10" fmla="*/ 216202 h 618857"/>
              <a:gd name="connsiteX11" fmla="*/ 1027367 w 1218885"/>
              <a:gd name="connsiteY11" fmla="*/ 222879 h 618857"/>
              <a:gd name="connsiteX12" fmla="*/ 1021509 w 1218885"/>
              <a:gd name="connsiteY12" fmla="*/ 196224 h 618857"/>
              <a:gd name="connsiteX13" fmla="*/ 1091808 w 1218885"/>
              <a:gd name="connsiteY13" fmla="*/ 97278 h 618857"/>
              <a:gd name="connsiteX14" fmla="*/ 970016 w 1218885"/>
              <a:gd name="connsiteY14" fmla="*/ 133834 h 618857"/>
              <a:gd name="connsiteX15" fmla="*/ 887997 w 1218885"/>
              <a:gd name="connsiteY15" fmla="*/ 163125 h 618857"/>
              <a:gd name="connsiteX16" fmla="*/ 753961 w 1218885"/>
              <a:gd name="connsiteY16" fmla="*/ 216379 h 618857"/>
              <a:gd name="connsiteX17" fmla="*/ 616291 w 1218885"/>
              <a:gd name="connsiteY17" fmla="*/ 277186 h 618857"/>
              <a:gd name="connsiteX18" fmla="*/ 602466 w 1218885"/>
              <a:gd name="connsiteY18" fmla="*/ 298684 h 618857"/>
              <a:gd name="connsiteX19" fmla="*/ 583430 w 1218885"/>
              <a:gd name="connsiteY19" fmla="*/ 502905 h 618857"/>
              <a:gd name="connsiteX20" fmla="*/ 541601 w 1218885"/>
              <a:gd name="connsiteY20" fmla="*/ 599098 h 618857"/>
              <a:gd name="connsiteX21" fmla="*/ 418929 w 1218885"/>
              <a:gd name="connsiteY21" fmla="*/ 579062 h 618857"/>
              <a:gd name="connsiteX22" fmla="*/ 456539 w 1218885"/>
              <a:gd name="connsiteY22" fmla="*/ 345961 h 618857"/>
              <a:gd name="connsiteX23" fmla="*/ 542068 w 1218885"/>
              <a:gd name="connsiteY23" fmla="*/ 272090 h 618857"/>
              <a:gd name="connsiteX24" fmla="*/ 554312 w 1218885"/>
              <a:gd name="connsiteY24" fmla="*/ 242210 h 618857"/>
              <a:gd name="connsiteX25" fmla="*/ 503696 w 1218885"/>
              <a:gd name="connsiteY25" fmla="*/ 167636 h 618857"/>
              <a:gd name="connsiteX26" fmla="*/ 364681 w 1218885"/>
              <a:gd name="connsiteY26" fmla="*/ 178064 h 618857"/>
              <a:gd name="connsiteX27" fmla="*/ 241657 w 1218885"/>
              <a:gd name="connsiteY27" fmla="*/ 269981 h 618857"/>
              <a:gd name="connsiteX28" fmla="*/ 162571 w 1218885"/>
              <a:gd name="connsiteY28" fmla="*/ 383514 h 618857"/>
              <a:gd name="connsiteX29" fmla="*/ 117697 w 1218885"/>
              <a:gd name="connsiteY29" fmla="*/ 480469 h 618857"/>
              <a:gd name="connsiteX30" fmla="*/ 75928 w 1218885"/>
              <a:gd name="connsiteY30" fmla="*/ 566699 h 618857"/>
              <a:gd name="connsiteX31" fmla="*/ 38669 w 1218885"/>
              <a:gd name="connsiteY31" fmla="*/ 574552 h 618857"/>
              <a:gd name="connsiteX32" fmla="*/ 6097 w 1218885"/>
              <a:gd name="connsiteY32" fmla="*/ 546667 h 618857"/>
              <a:gd name="connsiteX33" fmla="*/ 3988 w 1218885"/>
              <a:gd name="connsiteY33" fmla="*/ 514502 h 618857"/>
              <a:gd name="connsiteX34" fmla="*/ 55541 w 1218885"/>
              <a:gd name="connsiteY34" fmla="*/ 379766 h 618857"/>
              <a:gd name="connsiteX35" fmla="*/ 93092 w 1218885"/>
              <a:gd name="connsiteY35" fmla="*/ 304837 h 618857"/>
              <a:gd name="connsiteX36" fmla="*/ 200826 w 1218885"/>
              <a:gd name="connsiteY36" fmla="*/ 159669 h 618857"/>
              <a:gd name="connsiteX37" fmla="*/ 314651 w 1218885"/>
              <a:gd name="connsiteY37" fmla="*/ 86324 h 618857"/>
              <a:gd name="connsiteX38" fmla="*/ 392742 w 1218885"/>
              <a:gd name="connsiteY38" fmla="*/ 65058 h 618857"/>
              <a:gd name="connsiteX39" fmla="*/ 558532 w 1218885"/>
              <a:gd name="connsiteY39" fmla="*/ 154279 h 618857"/>
              <a:gd name="connsiteX40" fmla="*/ 586007 w 1218885"/>
              <a:gd name="connsiteY40" fmla="*/ 221708 h 618857"/>
              <a:gd name="connsiteX41" fmla="*/ 608795 w 1218885"/>
              <a:gd name="connsiteY41" fmla="*/ 229966 h 618857"/>
              <a:gd name="connsiteX42" fmla="*/ 693796 w 1218885"/>
              <a:gd name="connsiteY42" fmla="*/ 188023 h 618857"/>
              <a:gd name="connsiteX43" fmla="*/ 838143 w 1218885"/>
              <a:gd name="connsiteY43" fmla="*/ 126745 h 618857"/>
              <a:gd name="connsiteX44" fmla="*/ 1006216 w 1218885"/>
              <a:gd name="connsiteY44" fmla="*/ 60957 h 618857"/>
              <a:gd name="connsiteX45" fmla="*/ 976927 w 1218885"/>
              <a:gd name="connsiteY45" fmla="*/ 53283 h 618857"/>
              <a:gd name="connsiteX46" fmla="*/ 908033 w 1218885"/>
              <a:gd name="connsiteY46" fmla="*/ 38403 h 618857"/>
              <a:gd name="connsiteX47" fmla="*/ 557713 w 1218885"/>
              <a:gd name="connsiteY47" fmla="*/ 320363 h 618857"/>
              <a:gd name="connsiteX48" fmla="*/ 428829 w 1218885"/>
              <a:gd name="connsiteY48" fmla="*/ 465295 h 618857"/>
              <a:gd name="connsiteX49" fmla="*/ 427423 w 1218885"/>
              <a:gd name="connsiteY49" fmla="*/ 522469 h 618857"/>
              <a:gd name="connsiteX50" fmla="*/ 476517 w 1218885"/>
              <a:gd name="connsiteY50" fmla="*/ 560841 h 618857"/>
              <a:gd name="connsiteX51" fmla="*/ 516236 w 1218885"/>
              <a:gd name="connsiteY51" fmla="*/ 553459 h 618857"/>
              <a:gd name="connsiteX52" fmla="*/ 541425 w 1218885"/>
              <a:gd name="connsiteY52" fmla="*/ 480407 h 618857"/>
              <a:gd name="connsiteX53" fmla="*/ 557713 w 1218885"/>
              <a:gd name="connsiteY53" fmla="*/ 320363 h 618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218885" h="618857">
                <a:moveTo>
                  <a:pt x="908271" y="38403"/>
                </a:moveTo>
                <a:cubicBezTo>
                  <a:pt x="901236" y="36646"/>
                  <a:pt x="890692" y="33072"/>
                  <a:pt x="894383" y="23699"/>
                </a:cubicBezTo>
                <a:cubicBezTo>
                  <a:pt x="898250" y="15500"/>
                  <a:pt x="905432" y="9341"/>
                  <a:pt x="914129" y="6769"/>
                </a:cubicBezTo>
                <a:cubicBezTo>
                  <a:pt x="925844" y="4425"/>
                  <a:pt x="939084" y="6769"/>
                  <a:pt x="951619" y="8057"/>
                </a:cubicBezTo>
                <a:cubicBezTo>
                  <a:pt x="988257" y="10254"/>
                  <a:pt x="1025000" y="10254"/>
                  <a:pt x="1061638" y="8057"/>
                </a:cubicBezTo>
                <a:cubicBezTo>
                  <a:pt x="1096790" y="6710"/>
                  <a:pt x="1131937" y="5245"/>
                  <a:pt x="1167084" y="1847"/>
                </a:cubicBezTo>
                <a:cubicBezTo>
                  <a:pt x="1172947" y="1262"/>
                  <a:pt x="1178805" y="1145"/>
                  <a:pt x="1184310" y="383"/>
                </a:cubicBezTo>
                <a:cubicBezTo>
                  <a:pt x="1196964" y="-1257"/>
                  <a:pt x="1209561" y="2199"/>
                  <a:pt x="1215595" y="14091"/>
                </a:cubicBezTo>
                <a:cubicBezTo>
                  <a:pt x="1222224" y="28399"/>
                  <a:pt x="1218619" y="45365"/>
                  <a:pt x="1206746" y="55744"/>
                </a:cubicBezTo>
                <a:cubicBezTo>
                  <a:pt x="1161012" y="92198"/>
                  <a:pt x="1120916" y="135213"/>
                  <a:pt x="1087765" y="183393"/>
                </a:cubicBezTo>
                <a:cubicBezTo>
                  <a:pt x="1080268" y="194523"/>
                  <a:pt x="1072477" y="205363"/>
                  <a:pt x="1064333" y="216202"/>
                </a:cubicBezTo>
                <a:cubicBezTo>
                  <a:pt x="1053141" y="231666"/>
                  <a:pt x="1043592" y="233309"/>
                  <a:pt x="1027367" y="222879"/>
                </a:cubicBezTo>
                <a:cubicBezTo>
                  <a:pt x="1014655" y="214736"/>
                  <a:pt x="1012603" y="208997"/>
                  <a:pt x="1021509" y="196224"/>
                </a:cubicBezTo>
                <a:cubicBezTo>
                  <a:pt x="1042364" y="165938"/>
                  <a:pt x="1088408" y="102492"/>
                  <a:pt x="1091808" y="97278"/>
                </a:cubicBezTo>
                <a:cubicBezTo>
                  <a:pt x="1084017" y="98685"/>
                  <a:pt x="1004459" y="122118"/>
                  <a:pt x="970016" y="133834"/>
                </a:cubicBezTo>
                <a:cubicBezTo>
                  <a:pt x="942480" y="143149"/>
                  <a:pt x="915062" y="152756"/>
                  <a:pt x="887997" y="163125"/>
                </a:cubicBezTo>
                <a:cubicBezTo>
                  <a:pt x="843182" y="180698"/>
                  <a:pt x="799129" y="199972"/>
                  <a:pt x="753961" y="216379"/>
                </a:cubicBezTo>
                <a:cubicBezTo>
                  <a:pt x="706798" y="233628"/>
                  <a:pt x="660811" y="253940"/>
                  <a:pt x="616291" y="277186"/>
                </a:cubicBezTo>
                <a:cubicBezTo>
                  <a:pt x="607038" y="281930"/>
                  <a:pt x="602056" y="287440"/>
                  <a:pt x="602466" y="298684"/>
                </a:cubicBezTo>
                <a:cubicBezTo>
                  <a:pt x="604342" y="367274"/>
                  <a:pt x="597951" y="435844"/>
                  <a:pt x="583430" y="502905"/>
                </a:cubicBezTo>
                <a:cubicBezTo>
                  <a:pt x="576224" y="537409"/>
                  <a:pt x="564213" y="571094"/>
                  <a:pt x="541601" y="599098"/>
                </a:cubicBezTo>
                <a:cubicBezTo>
                  <a:pt x="508149" y="640574"/>
                  <a:pt x="451325" y="608351"/>
                  <a:pt x="418929" y="579062"/>
                </a:cubicBezTo>
                <a:cubicBezTo>
                  <a:pt x="346110" y="512863"/>
                  <a:pt x="398425" y="402316"/>
                  <a:pt x="456539" y="345961"/>
                </a:cubicBezTo>
                <a:cubicBezTo>
                  <a:pt x="483546" y="319715"/>
                  <a:pt x="512836" y="295817"/>
                  <a:pt x="542068" y="272090"/>
                </a:cubicBezTo>
                <a:cubicBezTo>
                  <a:pt x="552498" y="263651"/>
                  <a:pt x="558236" y="255336"/>
                  <a:pt x="554312" y="242210"/>
                </a:cubicBezTo>
                <a:cubicBezTo>
                  <a:pt x="544297" y="208701"/>
                  <a:pt x="539082" y="182046"/>
                  <a:pt x="503696" y="167636"/>
                </a:cubicBezTo>
                <a:cubicBezTo>
                  <a:pt x="455660" y="148011"/>
                  <a:pt x="409965" y="159318"/>
                  <a:pt x="364681" y="178064"/>
                </a:cubicBezTo>
                <a:cubicBezTo>
                  <a:pt x="316723" y="198095"/>
                  <a:pt x="274461" y="229671"/>
                  <a:pt x="241657" y="269981"/>
                </a:cubicBezTo>
                <a:cubicBezTo>
                  <a:pt x="211843" y="305299"/>
                  <a:pt x="185367" y="343309"/>
                  <a:pt x="162571" y="383514"/>
                </a:cubicBezTo>
                <a:cubicBezTo>
                  <a:pt x="144996" y="414446"/>
                  <a:pt x="132753" y="447955"/>
                  <a:pt x="117697" y="480469"/>
                </a:cubicBezTo>
                <a:cubicBezTo>
                  <a:pt x="104223" y="509406"/>
                  <a:pt x="90925" y="538524"/>
                  <a:pt x="75928" y="566699"/>
                </a:cubicBezTo>
                <a:cubicBezTo>
                  <a:pt x="66320" y="584744"/>
                  <a:pt x="55189" y="586558"/>
                  <a:pt x="38669" y="574552"/>
                </a:cubicBezTo>
                <a:cubicBezTo>
                  <a:pt x="27165" y="566037"/>
                  <a:pt x="16280" y="556716"/>
                  <a:pt x="6097" y="546667"/>
                </a:cubicBezTo>
                <a:cubicBezTo>
                  <a:pt x="-3803" y="537057"/>
                  <a:pt x="532" y="524227"/>
                  <a:pt x="3988" y="514502"/>
                </a:cubicBezTo>
                <a:cubicBezTo>
                  <a:pt x="20157" y="469101"/>
                  <a:pt x="37087" y="423933"/>
                  <a:pt x="55541" y="379766"/>
                </a:cubicBezTo>
                <a:cubicBezTo>
                  <a:pt x="66214" y="353905"/>
                  <a:pt x="78765" y="328859"/>
                  <a:pt x="93092" y="304837"/>
                </a:cubicBezTo>
                <a:cubicBezTo>
                  <a:pt x="123349" y="252497"/>
                  <a:pt x="159495" y="203791"/>
                  <a:pt x="200826" y="159669"/>
                </a:cubicBezTo>
                <a:cubicBezTo>
                  <a:pt x="232635" y="126808"/>
                  <a:pt x="271583" y="101712"/>
                  <a:pt x="314651" y="86324"/>
                </a:cubicBezTo>
                <a:cubicBezTo>
                  <a:pt x="339925" y="76703"/>
                  <a:pt x="366080" y="69581"/>
                  <a:pt x="392742" y="65058"/>
                </a:cubicBezTo>
                <a:cubicBezTo>
                  <a:pt x="461729" y="54445"/>
                  <a:pt x="529385" y="90857"/>
                  <a:pt x="558532" y="154279"/>
                </a:cubicBezTo>
                <a:cubicBezTo>
                  <a:pt x="568843" y="176189"/>
                  <a:pt x="577334" y="199038"/>
                  <a:pt x="586007" y="221708"/>
                </a:cubicBezTo>
                <a:cubicBezTo>
                  <a:pt x="591864" y="236824"/>
                  <a:pt x="593269" y="237700"/>
                  <a:pt x="608795" y="229966"/>
                </a:cubicBezTo>
                <a:cubicBezTo>
                  <a:pt x="637089" y="215850"/>
                  <a:pt x="664974" y="200677"/>
                  <a:pt x="693796" y="188023"/>
                </a:cubicBezTo>
                <a:cubicBezTo>
                  <a:pt x="741540" y="166758"/>
                  <a:pt x="789637" y="146195"/>
                  <a:pt x="838143" y="126745"/>
                </a:cubicBezTo>
                <a:cubicBezTo>
                  <a:pt x="890869" y="105597"/>
                  <a:pt x="1003173" y="62305"/>
                  <a:pt x="1006216" y="60957"/>
                </a:cubicBezTo>
                <a:cubicBezTo>
                  <a:pt x="1006216" y="59669"/>
                  <a:pt x="986595" y="55099"/>
                  <a:pt x="976927" y="53283"/>
                </a:cubicBezTo>
                <a:cubicBezTo>
                  <a:pt x="976927" y="53283"/>
                  <a:pt x="930821" y="43968"/>
                  <a:pt x="908033" y="38403"/>
                </a:cubicBezTo>
                <a:moveTo>
                  <a:pt x="557713" y="320363"/>
                </a:moveTo>
                <a:cubicBezTo>
                  <a:pt x="556070" y="319482"/>
                  <a:pt x="475695" y="372560"/>
                  <a:pt x="428829" y="465295"/>
                </a:cubicBezTo>
                <a:cubicBezTo>
                  <a:pt x="421261" y="483512"/>
                  <a:pt x="420759" y="503900"/>
                  <a:pt x="427423" y="522469"/>
                </a:cubicBezTo>
                <a:cubicBezTo>
                  <a:pt x="436327" y="542624"/>
                  <a:pt x="458296" y="551763"/>
                  <a:pt x="476517" y="560841"/>
                </a:cubicBezTo>
                <a:cubicBezTo>
                  <a:pt x="493681" y="569570"/>
                  <a:pt x="506744" y="574842"/>
                  <a:pt x="516236" y="553459"/>
                </a:cubicBezTo>
                <a:cubicBezTo>
                  <a:pt x="527314" y="530118"/>
                  <a:pt x="535757" y="505615"/>
                  <a:pt x="541425" y="480407"/>
                </a:cubicBezTo>
                <a:cubicBezTo>
                  <a:pt x="548335" y="445550"/>
                  <a:pt x="556655" y="338403"/>
                  <a:pt x="557713" y="320363"/>
                </a:cubicBezTo>
                <a:close/>
              </a:path>
            </a:pathLst>
          </a:custGeom>
          <a:pattFill prst="dkHorz">
            <a:fgClr>
              <a:schemeClr val="accent4"/>
            </a:fgClr>
            <a:bgClr>
              <a:schemeClr val="bg1"/>
            </a:bgClr>
          </a:pattFill>
          <a:ln w="4763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666750" y="455930"/>
            <a:ext cx="756094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感知模块总览与传感器技术演进</a:t>
            </a:r>
            <a:endParaRPr lang="zh-CN" altLang="en-US" sz="4000" dirty="0">
              <a:solidFill>
                <a:schemeClr val="accent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517625" y="292500"/>
            <a:ext cx="3429000" cy="1663700"/>
            <a:chOff x="508000" y="254000"/>
            <a:chExt cx="3429000" cy="1663700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8000" y="379580"/>
              <a:ext cx="3429000" cy="0"/>
            </a:xfrm>
            <a:prstGeom prst="line">
              <a:avLst/>
            </a:prstGeom>
            <a:ln w="19050">
              <a:gradFill>
                <a:gsLst>
                  <a:gs pos="3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660400" y="254000"/>
              <a:ext cx="0" cy="166370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4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AutoShape 18"/>
          <p:cNvSpPr txBox="1"/>
          <p:nvPr/>
        </p:nvSpPr>
        <p:spPr>
          <a:xfrm>
            <a:off x="939800" y="435102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5385B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BEV 表示的核心优势</a:t>
            </a:r>
            <a:endParaRPr lang="en-US" sz="2400" b="1" i="0" u="none" strike="noStrike">
              <a:solidFill>
                <a:srgbClr val="5385B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0" name="AutoShape 19"/>
          <p:cNvSpPr txBox="1"/>
          <p:nvPr/>
        </p:nvSpPr>
        <p:spPr>
          <a:xfrm>
            <a:off x="517525" y="4795520"/>
            <a:ext cx="5502275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0000"/>
              </a:lnSpc>
              <a:buClr>
                <a:srgbClr val="18263A"/>
              </a:buClr>
              <a:buChar char="•"/>
              <a:defRPr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统一空间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所有传感器投影到同一鸟瞰视角</a:t>
            </a:r>
            <a:endParaRPr lang="en-US" sz="1600"/>
          </a:p>
          <a:p>
            <a:pPr marL="165100" indent="-165100" algn="l">
              <a:lnSpc>
                <a:spcPct val="150000"/>
              </a:lnSpc>
              <a:buClr>
                <a:srgbClr val="18263A"/>
              </a:buClr>
              <a:buChar char="•"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传感器无关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融合相机、LiDAR、雷达等多模态信息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0000"/>
              </a:lnSpc>
              <a:buClr>
                <a:srgbClr val="18263A"/>
              </a:buClr>
              <a:buChar char="•"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便于规划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与规划模块坐标系天然对齐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1" name="AutoShape 20"/>
          <p:cNvSpPr txBox="1"/>
          <p:nvPr/>
        </p:nvSpPr>
        <p:spPr>
          <a:xfrm>
            <a:off x="6527800" y="441833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Occupancy 占用网格的突破</a:t>
            </a:r>
            <a:endParaRPr lang="en-US" sz="2800" b="1" i="0" u="none" strike="noStrike">
              <a:solidFill>
                <a:srgbClr val="1E3C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2" name="AutoShape 21"/>
          <p:cNvSpPr txBox="1"/>
          <p:nvPr/>
        </p:nvSpPr>
        <p:spPr>
          <a:xfrm>
            <a:off x="6527800" y="4815840"/>
            <a:ext cx="508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0000"/>
              </a:lnSpc>
              <a:buClr>
                <a:srgbClr val="18263A"/>
              </a:buClr>
              <a:buChar char="•"/>
              <a:defRPr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细粒度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体素级建模，覆盖异形障碍物</a:t>
            </a:r>
            <a:endParaRPr lang="en-US" sz="1600"/>
          </a:p>
          <a:p>
            <a:pPr marL="165100" indent="-165100" algn="l">
              <a:lnSpc>
                <a:spcPct val="150000"/>
              </a:lnSpc>
              <a:buClr>
                <a:srgbClr val="18263A"/>
              </a:buClr>
              <a:buChar char="•"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保留实例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可区分不同物体的类别和实例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0000"/>
              </a:lnSpc>
              <a:buClr>
                <a:srgbClr val="18263A"/>
              </a:buClr>
              <a:buChar char="•"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支持预测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占用网格可做未来时序预测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文本框 73"/>
          <p:cNvSpPr txBox="1"/>
          <p:nvPr/>
        </p:nvSpPr>
        <p:spPr>
          <a:xfrm>
            <a:off x="666750" y="455930"/>
            <a:ext cx="925385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r>
              <a:rPr lang="en-US" altLang="zh-CN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BEVFormer：</a:t>
            </a:r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多模态时空融合关键节点</a:t>
            </a:r>
            <a:endParaRPr lang="zh-CN" altLang="en-US" sz="3200" dirty="0">
              <a:solidFill>
                <a:schemeClr val="accent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锐字奥运精神拼搏简免费-闪" panose="02010604000000000000" charset="-122"/>
              <a:ea typeface="锐字奥运精神拼搏简免费-闪" panose="02010604000000000000" charset="-122"/>
              <a:cs typeface="锐字奥运精神拼搏简免费-闪" panose="02010604000000000000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517625" y="292500"/>
            <a:ext cx="3429000" cy="1663700"/>
            <a:chOff x="508000" y="254000"/>
            <a:chExt cx="3429000" cy="1663700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8000" y="379580"/>
              <a:ext cx="3429000" cy="0"/>
            </a:xfrm>
            <a:prstGeom prst="line">
              <a:avLst/>
            </a:prstGeom>
            <a:ln w="19050">
              <a:gradFill>
                <a:gsLst>
                  <a:gs pos="3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660400" y="254000"/>
              <a:ext cx="0" cy="166370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4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矩形: 圆角 29"/>
          <p:cNvSpPr/>
          <p:nvPr/>
        </p:nvSpPr>
        <p:spPr>
          <a:xfrm>
            <a:off x="1433195" y="2216785"/>
            <a:ext cx="4375785" cy="393319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0" scaled="1"/>
            <a:tileRect/>
          </a:gradFill>
          <a:ln w="12700" cap="flat" cmpd="sng" algn="ctr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23000">
                  <a:schemeClr val="accent4"/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sp>
        <p:nvSpPr>
          <p:cNvPr id="12" name="形状 11"/>
          <p:cNvSpPr/>
          <p:nvPr/>
        </p:nvSpPr>
        <p:spPr>
          <a:xfrm>
            <a:off x="1019175" y="1252220"/>
            <a:ext cx="10574655" cy="807085"/>
          </a:xfrm>
          <a:prstGeom prst="leftRightRibbon">
            <a:avLst>
              <a:gd name="adj1" fmla="val 66667"/>
              <a:gd name="adj2" fmla="val 26218"/>
              <a:gd name="adj3" fmla="val 33333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040890" y="1311275"/>
            <a:ext cx="2396490" cy="3702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  <a:sym typeface="思源黑体 CN Bold" panose="020B0800000000000000" pitchFamily="34" charset="-122"/>
              </a:rPr>
              <a:t>核心问题与方法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287260" y="1578610"/>
            <a:ext cx="3435350" cy="3778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  <a:sym typeface="思源黑体 CN Bold" panose="020B0800000000000000" pitchFamily="34" charset="-122"/>
              </a:rPr>
              <a:t>关键结果与学术意义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sp>
        <p:nvSpPr>
          <p:cNvPr id="43" name="任意多边形: 形状 42"/>
          <p:cNvSpPr/>
          <p:nvPr/>
        </p:nvSpPr>
        <p:spPr>
          <a:xfrm>
            <a:off x="6280150" y="2468880"/>
            <a:ext cx="4962525" cy="3933190"/>
          </a:xfrm>
          <a:custGeom>
            <a:avLst/>
            <a:gdLst>
              <a:gd name="connsiteX0" fmla="*/ 0 w 6222046"/>
              <a:gd name="connsiteY0" fmla="*/ 0 h 4775156"/>
              <a:gd name="connsiteX1" fmla="*/ 15075 w 6222046"/>
              <a:gd name="connsiteY1" fmla="*/ 13254 h 4775156"/>
              <a:gd name="connsiteX2" fmla="*/ 353061 w 6222046"/>
              <a:gd name="connsiteY2" fmla="*/ 74395 h 4775156"/>
              <a:gd name="connsiteX3" fmla="*/ 6222046 w 6222046"/>
              <a:gd name="connsiteY3" fmla="*/ 74395 h 4775156"/>
              <a:gd name="connsiteX4" fmla="*/ 6222046 w 6222046"/>
              <a:gd name="connsiteY4" fmla="*/ 4775156 h 4775156"/>
              <a:gd name="connsiteX5" fmla="*/ 353061 w 6222046"/>
              <a:gd name="connsiteY5" fmla="*/ 4775156 h 4775156"/>
              <a:gd name="connsiteX6" fmla="*/ 15075 w 6222046"/>
              <a:gd name="connsiteY6" fmla="*/ 4714015 h 4775156"/>
              <a:gd name="connsiteX7" fmla="*/ 0 w 6222046"/>
              <a:gd name="connsiteY7" fmla="*/ 4700761 h 4775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22046" h="4775156">
                <a:moveTo>
                  <a:pt x="0" y="0"/>
                </a:moveTo>
                <a:lnTo>
                  <a:pt x="15075" y="13254"/>
                </a:lnTo>
                <a:cubicBezTo>
                  <a:pt x="70760" y="49184"/>
                  <a:pt x="201123" y="74395"/>
                  <a:pt x="353061" y="74395"/>
                </a:cubicBezTo>
                <a:lnTo>
                  <a:pt x="6222046" y="74395"/>
                </a:lnTo>
                <a:lnTo>
                  <a:pt x="6222046" y="4775156"/>
                </a:lnTo>
                <a:lnTo>
                  <a:pt x="353061" y="4775156"/>
                </a:lnTo>
                <a:cubicBezTo>
                  <a:pt x="201123" y="4775156"/>
                  <a:pt x="70760" y="4749945"/>
                  <a:pt x="15075" y="4714015"/>
                </a:cubicBezTo>
                <a:lnTo>
                  <a:pt x="0" y="4700761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10800000" scaled="1"/>
            <a:tileRect/>
          </a:gra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762000" y="2580005"/>
            <a:ext cx="819150" cy="3242310"/>
            <a:chOff x="477520" y="2013106"/>
            <a:chExt cx="985660" cy="3936844"/>
          </a:xfrm>
        </p:grpSpPr>
        <p:sp>
          <p:nvSpPr>
            <p:cNvPr id="15" name="任意多边形: 形状 75"/>
            <p:cNvSpPr/>
            <p:nvPr/>
          </p:nvSpPr>
          <p:spPr>
            <a:xfrm>
              <a:off x="477520" y="2013106"/>
              <a:ext cx="985660" cy="3936844"/>
            </a:xfrm>
            <a:custGeom>
              <a:avLst/>
              <a:gdLst>
                <a:gd name="connsiteX0" fmla="*/ 0 w 773717"/>
                <a:gd name="connsiteY0" fmla="*/ 0 h 3090322"/>
                <a:gd name="connsiteX1" fmla="*/ 15447 w 773717"/>
                <a:gd name="connsiteY1" fmla="*/ 10991 h 3090322"/>
                <a:gd name="connsiteX2" fmla="*/ 390531 w 773717"/>
                <a:gd name="connsiteY2" fmla="*/ 390630 h 3090322"/>
                <a:gd name="connsiteX3" fmla="*/ 574600 w 773717"/>
                <a:gd name="connsiteY3" fmla="*/ 2399280 h 3090322"/>
                <a:gd name="connsiteX4" fmla="*/ 85269 w 773717"/>
                <a:gd name="connsiteY4" fmla="*/ 3023463 h 3090322"/>
                <a:gd name="connsiteX5" fmla="*/ 0 w 773717"/>
                <a:gd name="connsiteY5" fmla="*/ 3090322 h 3090322"/>
                <a:gd name="connsiteX6" fmla="*/ 0 w 773717"/>
                <a:gd name="connsiteY6" fmla="*/ 2548356 h 3090322"/>
                <a:gd name="connsiteX7" fmla="*/ 110200 w 773717"/>
                <a:gd name="connsiteY7" fmla="*/ 2408245 h 3090322"/>
                <a:gd name="connsiteX8" fmla="*/ 217932 w 773717"/>
                <a:gd name="connsiteY8" fmla="*/ 2223416 h 3090322"/>
                <a:gd name="connsiteX9" fmla="*/ 71766 w 773717"/>
                <a:gd name="connsiteY9" fmla="*/ 628388 h 3090322"/>
                <a:gd name="connsiteX10" fmla="*/ 0 w 773717"/>
                <a:gd name="connsiteY10" fmla="*/ 544978 h 309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3717" h="3090322">
                  <a:moveTo>
                    <a:pt x="0" y="0"/>
                  </a:moveTo>
                  <a:lnTo>
                    <a:pt x="15447" y="10991"/>
                  </a:lnTo>
                  <a:cubicBezTo>
                    <a:pt x="155472" y="118022"/>
                    <a:pt x="282050" y="245188"/>
                    <a:pt x="390531" y="390630"/>
                  </a:cubicBezTo>
                  <a:cubicBezTo>
                    <a:pt x="824457" y="972398"/>
                    <a:pt x="895563" y="1748336"/>
                    <a:pt x="574600" y="2399280"/>
                  </a:cubicBezTo>
                  <a:cubicBezTo>
                    <a:pt x="454239" y="2643384"/>
                    <a:pt x="286365" y="2854453"/>
                    <a:pt x="85269" y="3023463"/>
                  </a:cubicBezTo>
                  <a:lnTo>
                    <a:pt x="0" y="3090322"/>
                  </a:lnTo>
                  <a:lnTo>
                    <a:pt x="0" y="2548356"/>
                  </a:lnTo>
                  <a:lnTo>
                    <a:pt x="110200" y="2408245"/>
                  </a:lnTo>
                  <a:cubicBezTo>
                    <a:pt x="150023" y="2349727"/>
                    <a:pt x="186073" y="2288029"/>
                    <a:pt x="217932" y="2223416"/>
                  </a:cubicBezTo>
                  <a:cubicBezTo>
                    <a:pt x="472802" y="1706514"/>
                    <a:pt x="416339" y="1090358"/>
                    <a:pt x="71766" y="628388"/>
                  </a:cubicBezTo>
                  <a:lnTo>
                    <a:pt x="0" y="54497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16" name="任意多边形: 形状 76"/>
            <p:cNvSpPr/>
            <p:nvPr/>
          </p:nvSpPr>
          <p:spPr>
            <a:xfrm>
              <a:off x="477520" y="2377674"/>
              <a:ext cx="773717" cy="3090322"/>
            </a:xfrm>
            <a:custGeom>
              <a:avLst/>
              <a:gdLst>
                <a:gd name="connsiteX0" fmla="*/ 0 w 773717"/>
                <a:gd name="connsiteY0" fmla="*/ 0 h 3090322"/>
                <a:gd name="connsiteX1" fmla="*/ 15447 w 773717"/>
                <a:gd name="connsiteY1" fmla="*/ 10991 h 3090322"/>
                <a:gd name="connsiteX2" fmla="*/ 390531 w 773717"/>
                <a:gd name="connsiteY2" fmla="*/ 390630 h 3090322"/>
                <a:gd name="connsiteX3" fmla="*/ 574600 w 773717"/>
                <a:gd name="connsiteY3" fmla="*/ 2399280 h 3090322"/>
                <a:gd name="connsiteX4" fmla="*/ 85269 w 773717"/>
                <a:gd name="connsiteY4" fmla="*/ 3023463 h 3090322"/>
                <a:gd name="connsiteX5" fmla="*/ 0 w 773717"/>
                <a:gd name="connsiteY5" fmla="*/ 3090322 h 3090322"/>
                <a:gd name="connsiteX6" fmla="*/ 0 w 773717"/>
                <a:gd name="connsiteY6" fmla="*/ 2548356 h 3090322"/>
                <a:gd name="connsiteX7" fmla="*/ 110200 w 773717"/>
                <a:gd name="connsiteY7" fmla="*/ 2408245 h 3090322"/>
                <a:gd name="connsiteX8" fmla="*/ 217932 w 773717"/>
                <a:gd name="connsiteY8" fmla="*/ 2223416 h 3090322"/>
                <a:gd name="connsiteX9" fmla="*/ 71766 w 773717"/>
                <a:gd name="connsiteY9" fmla="*/ 628388 h 3090322"/>
                <a:gd name="connsiteX10" fmla="*/ 0 w 773717"/>
                <a:gd name="connsiteY10" fmla="*/ 544978 h 309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3717" h="3090322">
                  <a:moveTo>
                    <a:pt x="0" y="0"/>
                  </a:moveTo>
                  <a:lnTo>
                    <a:pt x="15447" y="10991"/>
                  </a:lnTo>
                  <a:cubicBezTo>
                    <a:pt x="155472" y="118022"/>
                    <a:pt x="282050" y="245188"/>
                    <a:pt x="390531" y="390630"/>
                  </a:cubicBezTo>
                  <a:cubicBezTo>
                    <a:pt x="824457" y="972398"/>
                    <a:pt x="895563" y="1748336"/>
                    <a:pt x="574600" y="2399280"/>
                  </a:cubicBezTo>
                  <a:cubicBezTo>
                    <a:pt x="454239" y="2643384"/>
                    <a:pt x="286365" y="2854453"/>
                    <a:pt x="85269" y="3023463"/>
                  </a:cubicBezTo>
                  <a:lnTo>
                    <a:pt x="0" y="3090322"/>
                  </a:lnTo>
                  <a:lnTo>
                    <a:pt x="0" y="2548356"/>
                  </a:lnTo>
                  <a:lnTo>
                    <a:pt x="110200" y="2408245"/>
                  </a:lnTo>
                  <a:cubicBezTo>
                    <a:pt x="150023" y="2349727"/>
                    <a:pt x="186073" y="2288029"/>
                    <a:pt x="217932" y="2223416"/>
                  </a:cubicBezTo>
                  <a:cubicBezTo>
                    <a:pt x="472802" y="1706514"/>
                    <a:pt x="416339" y="1090358"/>
                    <a:pt x="71766" y="628388"/>
                  </a:cubicBezTo>
                  <a:lnTo>
                    <a:pt x="0" y="54497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95" name="任意多边形: 形状 94"/>
          <p:cNvSpPr/>
          <p:nvPr/>
        </p:nvSpPr>
        <p:spPr>
          <a:xfrm>
            <a:off x="5625465" y="2467610"/>
            <a:ext cx="852170" cy="410210"/>
          </a:xfrm>
          <a:custGeom>
            <a:avLst/>
            <a:gdLst>
              <a:gd name="connsiteX0" fmla="*/ 142617 w 1024233"/>
              <a:gd name="connsiteY0" fmla="*/ 0 h 496976"/>
              <a:gd name="connsiteX1" fmla="*/ 142617 w 1024233"/>
              <a:gd name="connsiteY1" fmla="*/ 99898 h 496976"/>
              <a:gd name="connsiteX2" fmla="*/ 142617 w 1024233"/>
              <a:gd name="connsiteY2" fmla="*/ 99898 h 496976"/>
              <a:gd name="connsiteX3" fmla="*/ 142617 w 1024233"/>
              <a:gd name="connsiteY3" fmla="*/ 62495 h 496976"/>
              <a:gd name="connsiteX4" fmla="*/ 150854 w 1024233"/>
              <a:gd name="connsiteY4" fmla="*/ 70041 h 496976"/>
              <a:gd name="connsiteX5" fmla="*/ 180869 w 1024233"/>
              <a:gd name="connsiteY5" fmla="*/ 84108 h 496976"/>
              <a:gd name="connsiteX6" fmla="*/ 181157 w 1024233"/>
              <a:gd name="connsiteY6" fmla="*/ 84183 h 496976"/>
              <a:gd name="connsiteX7" fmla="*/ 181500 w 1024233"/>
              <a:gd name="connsiteY7" fmla="*/ 85118 h 496976"/>
              <a:gd name="connsiteX8" fmla="*/ 184778 w 1024233"/>
              <a:gd name="connsiteY8" fmla="*/ 85118 h 496976"/>
              <a:gd name="connsiteX9" fmla="*/ 782438 w 1024233"/>
              <a:gd name="connsiteY9" fmla="*/ 85118 h 496976"/>
              <a:gd name="connsiteX10" fmla="*/ 782438 w 1024233"/>
              <a:gd name="connsiteY10" fmla="*/ 13385 h 496976"/>
              <a:gd name="connsiteX11" fmla="*/ 873901 w 1024233"/>
              <a:gd name="connsiteY11" fmla="*/ 104848 h 496976"/>
              <a:gd name="connsiteX12" fmla="*/ 1024233 w 1024233"/>
              <a:gd name="connsiteY12" fmla="*/ 255180 h 496976"/>
              <a:gd name="connsiteX13" fmla="*/ 782438 w 1024233"/>
              <a:gd name="connsiteY13" fmla="*/ 496976 h 496976"/>
              <a:gd name="connsiteX14" fmla="*/ 782438 w 1024233"/>
              <a:gd name="connsiteY14" fmla="*/ 425243 h 496976"/>
              <a:gd name="connsiteX15" fmla="*/ 146010 w 1024233"/>
              <a:gd name="connsiteY15" fmla="*/ 425243 h 496976"/>
              <a:gd name="connsiteX16" fmla="*/ 146010 w 1024233"/>
              <a:gd name="connsiteY16" fmla="*/ 421348 h 496976"/>
              <a:gd name="connsiteX17" fmla="*/ 142617 w 1024233"/>
              <a:gd name="connsiteY17" fmla="*/ 421521 h 496976"/>
              <a:gd name="connsiteX18" fmla="*/ 142617 w 1024233"/>
              <a:gd name="connsiteY18" fmla="*/ 378028 h 496976"/>
              <a:gd name="connsiteX19" fmla="*/ 142617 w 1024233"/>
              <a:gd name="connsiteY19" fmla="*/ 378028 h 496976"/>
              <a:gd name="connsiteX20" fmla="*/ 142617 w 1024233"/>
              <a:gd name="connsiteY20" fmla="*/ 421521 h 496976"/>
              <a:gd name="connsiteX21" fmla="*/ 140282 w 1024233"/>
              <a:gd name="connsiteY21" fmla="*/ 421639 h 496976"/>
              <a:gd name="connsiteX22" fmla="*/ 55285 w 1024233"/>
              <a:gd name="connsiteY22" fmla="*/ 374569 h 496976"/>
              <a:gd name="connsiteX23" fmla="*/ 2640 w 1024233"/>
              <a:gd name="connsiteY23" fmla="*/ 171091 h 496976"/>
              <a:gd name="connsiteX24" fmla="*/ 123512 w 1024233"/>
              <a:gd name="connsiteY24" fmla="*/ 2381 h 496976"/>
              <a:gd name="connsiteX0-1" fmla="*/ 142617 w 1024233"/>
              <a:gd name="connsiteY0-2" fmla="*/ 0 h 496976"/>
              <a:gd name="connsiteX1-3" fmla="*/ 142617 w 1024233"/>
              <a:gd name="connsiteY1-4" fmla="*/ 99898 h 496976"/>
              <a:gd name="connsiteX2-5" fmla="*/ 142617 w 1024233"/>
              <a:gd name="connsiteY2-6" fmla="*/ 99898 h 496976"/>
              <a:gd name="connsiteX3-7" fmla="*/ 142617 w 1024233"/>
              <a:gd name="connsiteY3-8" fmla="*/ 62495 h 496976"/>
              <a:gd name="connsiteX4-9" fmla="*/ 150854 w 1024233"/>
              <a:gd name="connsiteY4-10" fmla="*/ 70041 h 496976"/>
              <a:gd name="connsiteX5-11" fmla="*/ 180869 w 1024233"/>
              <a:gd name="connsiteY5-12" fmla="*/ 84108 h 496976"/>
              <a:gd name="connsiteX6-13" fmla="*/ 181157 w 1024233"/>
              <a:gd name="connsiteY6-14" fmla="*/ 84183 h 496976"/>
              <a:gd name="connsiteX7-15" fmla="*/ 181500 w 1024233"/>
              <a:gd name="connsiteY7-16" fmla="*/ 85118 h 496976"/>
              <a:gd name="connsiteX8-17" fmla="*/ 184778 w 1024233"/>
              <a:gd name="connsiteY8-18" fmla="*/ 85118 h 496976"/>
              <a:gd name="connsiteX9-19" fmla="*/ 782438 w 1024233"/>
              <a:gd name="connsiteY9-20" fmla="*/ 85118 h 496976"/>
              <a:gd name="connsiteX10-21" fmla="*/ 782438 w 1024233"/>
              <a:gd name="connsiteY10-22" fmla="*/ 13385 h 496976"/>
              <a:gd name="connsiteX11-23" fmla="*/ 873901 w 1024233"/>
              <a:gd name="connsiteY11-24" fmla="*/ 104848 h 496976"/>
              <a:gd name="connsiteX12-25" fmla="*/ 1024233 w 1024233"/>
              <a:gd name="connsiteY12-26" fmla="*/ 255180 h 496976"/>
              <a:gd name="connsiteX13-27" fmla="*/ 782438 w 1024233"/>
              <a:gd name="connsiteY13-28" fmla="*/ 496976 h 496976"/>
              <a:gd name="connsiteX14-29" fmla="*/ 782438 w 1024233"/>
              <a:gd name="connsiteY14-30" fmla="*/ 425243 h 496976"/>
              <a:gd name="connsiteX15-31" fmla="*/ 146010 w 1024233"/>
              <a:gd name="connsiteY15-32" fmla="*/ 425243 h 496976"/>
              <a:gd name="connsiteX16-33" fmla="*/ 146010 w 1024233"/>
              <a:gd name="connsiteY16-34" fmla="*/ 421348 h 496976"/>
              <a:gd name="connsiteX17-35" fmla="*/ 142617 w 1024233"/>
              <a:gd name="connsiteY17-36" fmla="*/ 421521 h 496976"/>
              <a:gd name="connsiteX18-37" fmla="*/ 142617 w 1024233"/>
              <a:gd name="connsiteY18-38" fmla="*/ 378028 h 496976"/>
              <a:gd name="connsiteX19-39" fmla="*/ 142617 w 1024233"/>
              <a:gd name="connsiteY19-40" fmla="*/ 421521 h 496976"/>
              <a:gd name="connsiteX20-41" fmla="*/ 140282 w 1024233"/>
              <a:gd name="connsiteY20-42" fmla="*/ 421639 h 496976"/>
              <a:gd name="connsiteX21-43" fmla="*/ 55285 w 1024233"/>
              <a:gd name="connsiteY21-44" fmla="*/ 374569 h 496976"/>
              <a:gd name="connsiteX22-45" fmla="*/ 2640 w 1024233"/>
              <a:gd name="connsiteY22-46" fmla="*/ 171091 h 496976"/>
              <a:gd name="connsiteX23-47" fmla="*/ 123512 w 1024233"/>
              <a:gd name="connsiteY23-48" fmla="*/ 2381 h 496976"/>
              <a:gd name="connsiteX24-49" fmla="*/ 142617 w 1024233"/>
              <a:gd name="connsiteY24-50" fmla="*/ 0 h 496976"/>
              <a:gd name="connsiteX0-51" fmla="*/ 142617 w 1024233"/>
              <a:gd name="connsiteY0-52" fmla="*/ 0 h 496976"/>
              <a:gd name="connsiteX1-53" fmla="*/ 142617 w 1024233"/>
              <a:gd name="connsiteY1-54" fmla="*/ 99898 h 496976"/>
              <a:gd name="connsiteX2-55" fmla="*/ 142617 w 1024233"/>
              <a:gd name="connsiteY2-56" fmla="*/ 99898 h 496976"/>
              <a:gd name="connsiteX3-57" fmla="*/ 142617 w 1024233"/>
              <a:gd name="connsiteY3-58" fmla="*/ 62495 h 496976"/>
              <a:gd name="connsiteX4-59" fmla="*/ 150854 w 1024233"/>
              <a:gd name="connsiteY4-60" fmla="*/ 70041 h 496976"/>
              <a:gd name="connsiteX5-61" fmla="*/ 180869 w 1024233"/>
              <a:gd name="connsiteY5-62" fmla="*/ 84108 h 496976"/>
              <a:gd name="connsiteX6-63" fmla="*/ 181157 w 1024233"/>
              <a:gd name="connsiteY6-64" fmla="*/ 84183 h 496976"/>
              <a:gd name="connsiteX7-65" fmla="*/ 181500 w 1024233"/>
              <a:gd name="connsiteY7-66" fmla="*/ 85118 h 496976"/>
              <a:gd name="connsiteX8-67" fmla="*/ 184778 w 1024233"/>
              <a:gd name="connsiteY8-68" fmla="*/ 85118 h 496976"/>
              <a:gd name="connsiteX9-69" fmla="*/ 782438 w 1024233"/>
              <a:gd name="connsiteY9-70" fmla="*/ 85118 h 496976"/>
              <a:gd name="connsiteX10-71" fmla="*/ 782438 w 1024233"/>
              <a:gd name="connsiteY10-72" fmla="*/ 13385 h 496976"/>
              <a:gd name="connsiteX11-73" fmla="*/ 873901 w 1024233"/>
              <a:gd name="connsiteY11-74" fmla="*/ 104848 h 496976"/>
              <a:gd name="connsiteX12-75" fmla="*/ 1024233 w 1024233"/>
              <a:gd name="connsiteY12-76" fmla="*/ 255180 h 496976"/>
              <a:gd name="connsiteX13-77" fmla="*/ 782438 w 1024233"/>
              <a:gd name="connsiteY13-78" fmla="*/ 496976 h 496976"/>
              <a:gd name="connsiteX14-79" fmla="*/ 782438 w 1024233"/>
              <a:gd name="connsiteY14-80" fmla="*/ 425243 h 496976"/>
              <a:gd name="connsiteX15-81" fmla="*/ 146010 w 1024233"/>
              <a:gd name="connsiteY15-82" fmla="*/ 425243 h 496976"/>
              <a:gd name="connsiteX16-83" fmla="*/ 146010 w 1024233"/>
              <a:gd name="connsiteY16-84" fmla="*/ 421348 h 496976"/>
              <a:gd name="connsiteX17-85" fmla="*/ 142617 w 1024233"/>
              <a:gd name="connsiteY17-86" fmla="*/ 421521 h 496976"/>
              <a:gd name="connsiteX18-87" fmla="*/ 142617 w 1024233"/>
              <a:gd name="connsiteY18-88" fmla="*/ 421521 h 496976"/>
              <a:gd name="connsiteX19-89" fmla="*/ 140282 w 1024233"/>
              <a:gd name="connsiteY19-90" fmla="*/ 421639 h 496976"/>
              <a:gd name="connsiteX20-91" fmla="*/ 55285 w 1024233"/>
              <a:gd name="connsiteY20-92" fmla="*/ 374569 h 496976"/>
              <a:gd name="connsiteX21-93" fmla="*/ 2640 w 1024233"/>
              <a:gd name="connsiteY21-94" fmla="*/ 171091 h 496976"/>
              <a:gd name="connsiteX22-95" fmla="*/ 123512 w 1024233"/>
              <a:gd name="connsiteY22-96" fmla="*/ 2381 h 496976"/>
              <a:gd name="connsiteX23-97" fmla="*/ 142617 w 1024233"/>
              <a:gd name="connsiteY23-98" fmla="*/ 0 h 49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</a:cxnLst>
            <a:rect l="l" t="t" r="r" b="b"/>
            <a:pathLst>
              <a:path w="1024233" h="496976">
                <a:moveTo>
                  <a:pt x="142617" y="0"/>
                </a:moveTo>
                <a:lnTo>
                  <a:pt x="142617" y="99898"/>
                </a:lnTo>
                <a:lnTo>
                  <a:pt x="142617" y="99898"/>
                </a:lnTo>
                <a:lnTo>
                  <a:pt x="142617" y="62495"/>
                </a:lnTo>
                <a:lnTo>
                  <a:pt x="150854" y="70041"/>
                </a:lnTo>
                <a:cubicBezTo>
                  <a:pt x="158460" y="75155"/>
                  <a:pt x="168616" y="79887"/>
                  <a:pt x="180869" y="84108"/>
                </a:cubicBezTo>
                <a:lnTo>
                  <a:pt x="181157" y="84183"/>
                </a:lnTo>
                <a:cubicBezTo>
                  <a:pt x="181271" y="84495"/>
                  <a:pt x="181386" y="84806"/>
                  <a:pt x="181500" y="85118"/>
                </a:cubicBezTo>
                <a:lnTo>
                  <a:pt x="184778" y="85118"/>
                </a:lnTo>
                <a:lnTo>
                  <a:pt x="782438" y="85118"/>
                </a:lnTo>
                <a:lnTo>
                  <a:pt x="782438" y="13385"/>
                </a:lnTo>
                <a:lnTo>
                  <a:pt x="873901" y="104848"/>
                </a:lnTo>
                <a:lnTo>
                  <a:pt x="1024233" y="255180"/>
                </a:lnTo>
                <a:lnTo>
                  <a:pt x="782438" y="496976"/>
                </a:lnTo>
                <a:lnTo>
                  <a:pt x="782438" y="425243"/>
                </a:lnTo>
                <a:lnTo>
                  <a:pt x="146010" y="425243"/>
                </a:lnTo>
                <a:lnTo>
                  <a:pt x="146010" y="421348"/>
                </a:lnTo>
                <a:lnTo>
                  <a:pt x="142617" y="421521"/>
                </a:lnTo>
                <a:lnTo>
                  <a:pt x="142617" y="421521"/>
                </a:lnTo>
                <a:lnTo>
                  <a:pt x="140282" y="421639"/>
                </a:lnTo>
                <a:cubicBezTo>
                  <a:pt x="110280" y="418947"/>
                  <a:pt x="80512" y="403533"/>
                  <a:pt x="55285" y="374569"/>
                </a:cubicBezTo>
                <a:cubicBezTo>
                  <a:pt x="12570" y="325525"/>
                  <a:pt x="-7642" y="247404"/>
                  <a:pt x="2640" y="171091"/>
                </a:cubicBezTo>
                <a:cubicBezTo>
                  <a:pt x="14405" y="83774"/>
                  <a:pt x="63234" y="17568"/>
                  <a:pt x="123512" y="2381"/>
                </a:cubicBezTo>
                <a:lnTo>
                  <a:pt x="14261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sp>
        <p:nvSpPr>
          <p:cNvPr id="159" name="任意多边形: 形状 158"/>
          <p:cNvSpPr/>
          <p:nvPr/>
        </p:nvSpPr>
        <p:spPr>
          <a:xfrm>
            <a:off x="5625465" y="3583940"/>
            <a:ext cx="852170" cy="410210"/>
          </a:xfrm>
          <a:custGeom>
            <a:avLst/>
            <a:gdLst>
              <a:gd name="connsiteX0" fmla="*/ 142617 w 1024233"/>
              <a:gd name="connsiteY0" fmla="*/ 0 h 496976"/>
              <a:gd name="connsiteX1" fmla="*/ 142617 w 1024233"/>
              <a:gd name="connsiteY1" fmla="*/ 99898 h 496976"/>
              <a:gd name="connsiteX2" fmla="*/ 142617 w 1024233"/>
              <a:gd name="connsiteY2" fmla="*/ 99898 h 496976"/>
              <a:gd name="connsiteX3" fmla="*/ 142617 w 1024233"/>
              <a:gd name="connsiteY3" fmla="*/ 62495 h 496976"/>
              <a:gd name="connsiteX4" fmla="*/ 150854 w 1024233"/>
              <a:gd name="connsiteY4" fmla="*/ 70041 h 496976"/>
              <a:gd name="connsiteX5" fmla="*/ 180869 w 1024233"/>
              <a:gd name="connsiteY5" fmla="*/ 84108 h 496976"/>
              <a:gd name="connsiteX6" fmla="*/ 181157 w 1024233"/>
              <a:gd name="connsiteY6" fmla="*/ 84183 h 496976"/>
              <a:gd name="connsiteX7" fmla="*/ 181500 w 1024233"/>
              <a:gd name="connsiteY7" fmla="*/ 85118 h 496976"/>
              <a:gd name="connsiteX8" fmla="*/ 184778 w 1024233"/>
              <a:gd name="connsiteY8" fmla="*/ 85118 h 496976"/>
              <a:gd name="connsiteX9" fmla="*/ 782438 w 1024233"/>
              <a:gd name="connsiteY9" fmla="*/ 85118 h 496976"/>
              <a:gd name="connsiteX10" fmla="*/ 782438 w 1024233"/>
              <a:gd name="connsiteY10" fmla="*/ 13385 h 496976"/>
              <a:gd name="connsiteX11" fmla="*/ 873901 w 1024233"/>
              <a:gd name="connsiteY11" fmla="*/ 104848 h 496976"/>
              <a:gd name="connsiteX12" fmla="*/ 1024233 w 1024233"/>
              <a:gd name="connsiteY12" fmla="*/ 255180 h 496976"/>
              <a:gd name="connsiteX13" fmla="*/ 782438 w 1024233"/>
              <a:gd name="connsiteY13" fmla="*/ 496976 h 496976"/>
              <a:gd name="connsiteX14" fmla="*/ 782438 w 1024233"/>
              <a:gd name="connsiteY14" fmla="*/ 425243 h 496976"/>
              <a:gd name="connsiteX15" fmla="*/ 146010 w 1024233"/>
              <a:gd name="connsiteY15" fmla="*/ 425243 h 496976"/>
              <a:gd name="connsiteX16" fmla="*/ 146010 w 1024233"/>
              <a:gd name="connsiteY16" fmla="*/ 421348 h 496976"/>
              <a:gd name="connsiteX17" fmla="*/ 142617 w 1024233"/>
              <a:gd name="connsiteY17" fmla="*/ 421521 h 496976"/>
              <a:gd name="connsiteX18" fmla="*/ 142617 w 1024233"/>
              <a:gd name="connsiteY18" fmla="*/ 378028 h 496976"/>
              <a:gd name="connsiteX19" fmla="*/ 142617 w 1024233"/>
              <a:gd name="connsiteY19" fmla="*/ 378028 h 496976"/>
              <a:gd name="connsiteX20" fmla="*/ 142617 w 1024233"/>
              <a:gd name="connsiteY20" fmla="*/ 421521 h 496976"/>
              <a:gd name="connsiteX21" fmla="*/ 140282 w 1024233"/>
              <a:gd name="connsiteY21" fmla="*/ 421639 h 496976"/>
              <a:gd name="connsiteX22" fmla="*/ 55285 w 1024233"/>
              <a:gd name="connsiteY22" fmla="*/ 374569 h 496976"/>
              <a:gd name="connsiteX23" fmla="*/ 2640 w 1024233"/>
              <a:gd name="connsiteY23" fmla="*/ 171091 h 496976"/>
              <a:gd name="connsiteX24" fmla="*/ 123512 w 1024233"/>
              <a:gd name="connsiteY24" fmla="*/ 2381 h 496976"/>
              <a:gd name="connsiteX0-1" fmla="*/ 142617 w 1024233"/>
              <a:gd name="connsiteY0-2" fmla="*/ 0 h 496976"/>
              <a:gd name="connsiteX1-3" fmla="*/ 142617 w 1024233"/>
              <a:gd name="connsiteY1-4" fmla="*/ 99898 h 496976"/>
              <a:gd name="connsiteX2-5" fmla="*/ 142617 w 1024233"/>
              <a:gd name="connsiteY2-6" fmla="*/ 99898 h 496976"/>
              <a:gd name="connsiteX3-7" fmla="*/ 142617 w 1024233"/>
              <a:gd name="connsiteY3-8" fmla="*/ 62495 h 496976"/>
              <a:gd name="connsiteX4-9" fmla="*/ 150854 w 1024233"/>
              <a:gd name="connsiteY4-10" fmla="*/ 70041 h 496976"/>
              <a:gd name="connsiteX5-11" fmla="*/ 180869 w 1024233"/>
              <a:gd name="connsiteY5-12" fmla="*/ 84108 h 496976"/>
              <a:gd name="connsiteX6-13" fmla="*/ 181157 w 1024233"/>
              <a:gd name="connsiteY6-14" fmla="*/ 84183 h 496976"/>
              <a:gd name="connsiteX7-15" fmla="*/ 181500 w 1024233"/>
              <a:gd name="connsiteY7-16" fmla="*/ 85118 h 496976"/>
              <a:gd name="connsiteX8-17" fmla="*/ 184778 w 1024233"/>
              <a:gd name="connsiteY8-18" fmla="*/ 85118 h 496976"/>
              <a:gd name="connsiteX9-19" fmla="*/ 782438 w 1024233"/>
              <a:gd name="connsiteY9-20" fmla="*/ 85118 h 496976"/>
              <a:gd name="connsiteX10-21" fmla="*/ 782438 w 1024233"/>
              <a:gd name="connsiteY10-22" fmla="*/ 13385 h 496976"/>
              <a:gd name="connsiteX11-23" fmla="*/ 873901 w 1024233"/>
              <a:gd name="connsiteY11-24" fmla="*/ 104848 h 496976"/>
              <a:gd name="connsiteX12-25" fmla="*/ 1024233 w 1024233"/>
              <a:gd name="connsiteY12-26" fmla="*/ 255180 h 496976"/>
              <a:gd name="connsiteX13-27" fmla="*/ 782438 w 1024233"/>
              <a:gd name="connsiteY13-28" fmla="*/ 496976 h 496976"/>
              <a:gd name="connsiteX14-29" fmla="*/ 782438 w 1024233"/>
              <a:gd name="connsiteY14-30" fmla="*/ 425243 h 496976"/>
              <a:gd name="connsiteX15-31" fmla="*/ 146010 w 1024233"/>
              <a:gd name="connsiteY15-32" fmla="*/ 425243 h 496976"/>
              <a:gd name="connsiteX16-33" fmla="*/ 146010 w 1024233"/>
              <a:gd name="connsiteY16-34" fmla="*/ 421348 h 496976"/>
              <a:gd name="connsiteX17-35" fmla="*/ 142617 w 1024233"/>
              <a:gd name="connsiteY17-36" fmla="*/ 421521 h 496976"/>
              <a:gd name="connsiteX18-37" fmla="*/ 142617 w 1024233"/>
              <a:gd name="connsiteY18-38" fmla="*/ 378028 h 496976"/>
              <a:gd name="connsiteX19-39" fmla="*/ 142617 w 1024233"/>
              <a:gd name="connsiteY19-40" fmla="*/ 421521 h 496976"/>
              <a:gd name="connsiteX20-41" fmla="*/ 140282 w 1024233"/>
              <a:gd name="connsiteY20-42" fmla="*/ 421639 h 496976"/>
              <a:gd name="connsiteX21-43" fmla="*/ 55285 w 1024233"/>
              <a:gd name="connsiteY21-44" fmla="*/ 374569 h 496976"/>
              <a:gd name="connsiteX22-45" fmla="*/ 2640 w 1024233"/>
              <a:gd name="connsiteY22-46" fmla="*/ 171091 h 496976"/>
              <a:gd name="connsiteX23-47" fmla="*/ 123512 w 1024233"/>
              <a:gd name="connsiteY23-48" fmla="*/ 2381 h 496976"/>
              <a:gd name="connsiteX24-49" fmla="*/ 142617 w 1024233"/>
              <a:gd name="connsiteY24-50" fmla="*/ 0 h 496976"/>
              <a:gd name="connsiteX0-51" fmla="*/ 142617 w 1024233"/>
              <a:gd name="connsiteY0-52" fmla="*/ 0 h 496976"/>
              <a:gd name="connsiteX1-53" fmla="*/ 142617 w 1024233"/>
              <a:gd name="connsiteY1-54" fmla="*/ 99898 h 496976"/>
              <a:gd name="connsiteX2-55" fmla="*/ 142617 w 1024233"/>
              <a:gd name="connsiteY2-56" fmla="*/ 99898 h 496976"/>
              <a:gd name="connsiteX3-57" fmla="*/ 142617 w 1024233"/>
              <a:gd name="connsiteY3-58" fmla="*/ 62495 h 496976"/>
              <a:gd name="connsiteX4-59" fmla="*/ 150854 w 1024233"/>
              <a:gd name="connsiteY4-60" fmla="*/ 70041 h 496976"/>
              <a:gd name="connsiteX5-61" fmla="*/ 180869 w 1024233"/>
              <a:gd name="connsiteY5-62" fmla="*/ 84108 h 496976"/>
              <a:gd name="connsiteX6-63" fmla="*/ 181157 w 1024233"/>
              <a:gd name="connsiteY6-64" fmla="*/ 84183 h 496976"/>
              <a:gd name="connsiteX7-65" fmla="*/ 181500 w 1024233"/>
              <a:gd name="connsiteY7-66" fmla="*/ 85118 h 496976"/>
              <a:gd name="connsiteX8-67" fmla="*/ 184778 w 1024233"/>
              <a:gd name="connsiteY8-68" fmla="*/ 85118 h 496976"/>
              <a:gd name="connsiteX9-69" fmla="*/ 782438 w 1024233"/>
              <a:gd name="connsiteY9-70" fmla="*/ 85118 h 496976"/>
              <a:gd name="connsiteX10-71" fmla="*/ 782438 w 1024233"/>
              <a:gd name="connsiteY10-72" fmla="*/ 13385 h 496976"/>
              <a:gd name="connsiteX11-73" fmla="*/ 873901 w 1024233"/>
              <a:gd name="connsiteY11-74" fmla="*/ 104848 h 496976"/>
              <a:gd name="connsiteX12-75" fmla="*/ 1024233 w 1024233"/>
              <a:gd name="connsiteY12-76" fmla="*/ 255180 h 496976"/>
              <a:gd name="connsiteX13-77" fmla="*/ 782438 w 1024233"/>
              <a:gd name="connsiteY13-78" fmla="*/ 496976 h 496976"/>
              <a:gd name="connsiteX14-79" fmla="*/ 782438 w 1024233"/>
              <a:gd name="connsiteY14-80" fmla="*/ 425243 h 496976"/>
              <a:gd name="connsiteX15-81" fmla="*/ 146010 w 1024233"/>
              <a:gd name="connsiteY15-82" fmla="*/ 425243 h 496976"/>
              <a:gd name="connsiteX16-83" fmla="*/ 146010 w 1024233"/>
              <a:gd name="connsiteY16-84" fmla="*/ 421348 h 496976"/>
              <a:gd name="connsiteX17-85" fmla="*/ 142617 w 1024233"/>
              <a:gd name="connsiteY17-86" fmla="*/ 421521 h 496976"/>
              <a:gd name="connsiteX18-87" fmla="*/ 142617 w 1024233"/>
              <a:gd name="connsiteY18-88" fmla="*/ 421521 h 496976"/>
              <a:gd name="connsiteX19-89" fmla="*/ 140282 w 1024233"/>
              <a:gd name="connsiteY19-90" fmla="*/ 421639 h 496976"/>
              <a:gd name="connsiteX20-91" fmla="*/ 55285 w 1024233"/>
              <a:gd name="connsiteY20-92" fmla="*/ 374569 h 496976"/>
              <a:gd name="connsiteX21-93" fmla="*/ 2640 w 1024233"/>
              <a:gd name="connsiteY21-94" fmla="*/ 171091 h 496976"/>
              <a:gd name="connsiteX22-95" fmla="*/ 123512 w 1024233"/>
              <a:gd name="connsiteY22-96" fmla="*/ 2381 h 496976"/>
              <a:gd name="connsiteX23-97" fmla="*/ 142617 w 1024233"/>
              <a:gd name="connsiteY23-98" fmla="*/ 0 h 49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</a:cxnLst>
            <a:rect l="l" t="t" r="r" b="b"/>
            <a:pathLst>
              <a:path w="1024233" h="496976">
                <a:moveTo>
                  <a:pt x="142617" y="0"/>
                </a:moveTo>
                <a:lnTo>
                  <a:pt x="142617" y="99898"/>
                </a:lnTo>
                <a:lnTo>
                  <a:pt x="142617" y="99898"/>
                </a:lnTo>
                <a:lnTo>
                  <a:pt x="142617" y="62495"/>
                </a:lnTo>
                <a:lnTo>
                  <a:pt x="150854" y="70041"/>
                </a:lnTo>
                <a:cubicBezTo>
                  <a:pt x="158460" y="75155"/>
                  <a:pt x="168616" y="79887"/>
                  <a:pt x="180869" y="84108"/>
                </a:cubicBezTo>
                <a:lnTo>
                  <a:pt x="181157" y="84183"/>
                </a:lnTo>
                <a:cubicBezTo>
                  <a:pt x="181271" y="84495"/>
                  <a:pt x="181386" y="84806"/>
                  <a:pt x="181500" y="85118"/>
                </a:cubicBezTo>
                <a:lnTo>
                  <a:pt x="184778" y="85118"/>
                </a:lnTo>
                <a:lnTo>
                  <a:pt x="782438" y="85118"/>
                </a:lnTo>
                <a:lnTo>
                  <a:pt x="782438" y="13385"/>
                </a:lnTo>
                <a:lnTo>
                  <a:pt x="873901" y="104848"/>
                </a:lnTo>
                <a:lnTo>
                  <a:pt x="1024233" y="255180"/>
                </a:lnTo>
                <a:lnTo>
                  <a:pt x="782438" y="496976"/>
                </a:lnTo>
                <a:lnTo>
                  <a:pt x="782438" y="425243"/>
                </a:lnTo>
                <a:lnTo>
                  <a:pt x="146010" y="425243"/>
                </a:lnTo>
                <a:lnTo>
                  <a:pt x="146010" y="421348"/>
                </a:lnTo>
                <a:lnTo>
                  <a:pt x="142617" y="421521"/>
                </a:lnTo>
                <a:lnTo>
                  <a:pt x="142617" y="421521"/>
                </a:lnTo>
                <a:lnTo>
                  <a:pt x="140282" y="421639"/>
                </a:lnTo>
                <a:cubicBezTo>
                  <a:pt x="110280" y="418947"/>
                  <a:pt x="80512" y="403533"/>
                  <a:pt x="55285" y="374569"/>
                </a:cubicBezTo>
                <a:cubicBezTo>
                  <a:pt x="12570" y="325525"/>
                  <a:pt x="-7642" y="247404"/>
                  <a:pt x="2640" y="171091"/>
                </a:cubicBezTo>
                <a:cubicBezTo>
                  <a:pt x="14405" y="83774"/>
                  <a:pt x="63234" y="17568"/>
                  <a:pt x="123512" y="2381"/>
                </a:cubicBezTo>
                <a:lnTo>
                  <a:pt x="14261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sp>
        <p:nvSpPr>
          <p:cNvPr id="178" name="任意多边形: 形状 177"/>
          <p:cNvSpPr/>
          <p:nvPr/>
        </p:nvSpPr>
        <p:spPr>
          <a:xfrm>
            <a:off x="5625465" y="4700905"/>
            <a:ext cx="852170" cy="410210"/>
          </a:xfrm>
          <a:custGeom>
            <a:avLst/>
            <a:gdLst>
              <a:gd name="connsiteX0" fmla="*/ 142617 w 1024233"/>
              <a:gd name="connsiteY0" fmla="*/ 0 h 496976"/>
              <a:gd name="connsiteX1" fmla="*/ 142617 w 1024233"/>
              <a:gd name="connsiteY1" fmla="*/ 99898 h 496976"/>
              <a:gd name="connsiteX2" fmla="*/ 142617 w 1024233"/>
              <a:gd name="connsiteY2" fmla="*/ 99898 h 496976"/>
              <a:gd name="connsiteX3" fmla="*/ 142617 w 1024233"/>
              <a:gd name="connsiteY3" fmla="*/ 62495 h 496976"/>
              <a:gd name="connsiteX4" fmla="*/ 150854 w 1024233"/>
              <a:gd name="connsiteY4" fmla="*/ 70041 h 496976"/>
              <a:gd name="connsiteX5" fmla="*/ 180869 w 1024233"/>
              <a:gd name="connsiteY5" fmla="*/ 84108 h 496976"/>
              <a:gd name="connsiteX6" fmla="*/ 181157 w 1024233"/>
              <a:gd name="connsiteY6" fmla="*/ 84183 h 496976"/>
              <a:gd name="connsiteX7" fmla="*/ 181500 w 1024233"/>
              <a:gd name="connsiteY7" fmla="*/ 85118 h 496976"/>
              <a:gd name="connsiteX8" fmla="*/ 184778 w 1024233"/>
              <a:gd name="connsiteY8" fmla="*/ 85118 h 496976"/>
              <a:gd name="connsiteX9" fmla="*/ 782438 w 1024233"/>
              <a:gd name="connsiteY9" fmla="*/ 85118 h 496976"/>
              <a:gd name="connsiteX10" fmla="*/ 782438 w 1024233"/>
              <a:gd name="connsiteY10" fmla="*/ 13385 h 496976"/>
              <a:gd name="connsiteX11" fmla="*/ 873901 w 1024233"/>
              <a:gd name="connsiteY11" fmla="*/ 104848 h 496976"/>
              <a:gd name="connsiteX12" fmla="*/ 1024233 w 1024233"/>
              <a:gd name="connsiteY12" fmla="*/ 255180 h 496976"/>
              <a:gd name="connsiteX13" fmla="*/ 782438 w 1024233"/>
              <a:gd name="connsiteY13" fmla="*/ 496976 h 496976"/>
              <a:gd name="connsiteX14" fmla="*/ 782438 w 1024233"/>
              <a:gd name="connsiteY14" fmla="*/ 425243 h 496976"/>
              <a:gd name="connsiteX15" fmla="*/ 146010 w 1024233"/>
              <a:gd name="connsiteY15" fmla="*/ 425243 h 496976"/>
              <a:gd name="connsiteX16" fmla="*/ 146010 w 1024233"/>
              <a:gd name="connsiteY16" fmla="*/ 421348 h 496976"/>
              <a:gd name="connsiteX17" fmla="*/ 142617 w 1024233"/>
              <a:gd name="connsiteY17" fmla="*/ 421521 h 496976"/>
              <a:gd name="connsiteX18" fmla="*/ 142617 w 1024233"/>
              <a:gd name="connsiteY18" fmla="*/ 378028 h 496976"/>
              <a:gd name="connsiteX19" fmla="*/ 142617 w 1024233"/>
              <a:gd name="connsiteY19" fmla="*/ 378028 h 496976"/>
              <a:gd name="connsiteX20" fmla="*/ 142617 w 1024233"/>
              <a:gd name="connsiteY20" fmla="*/ 421521 h 496976"/>
              <a:gd name="connsiteX21" fmla="*/ 140282 w 1024233"/>
              <a:gd name="connsiteY21" fmla="*/ 421639 h 496976"/>
              <a:gd name="connsiteX22" fmla="*/ 55285 w 1024233"/>
              <a:gd name="connsiteY22" fmla="*/ 374569 h 496976"/>
              <a:gd name="connsiteX23" fmla="*/ 2640 w 1024233"/>
              <a:gd name="connsiteY23" fmla="*/ 171091 h 496976"/>
              <a:gd name="connsiteX24" fmla="*/ 123512 w 1024233"/>
              <a:gd name="connsiteY24" fmla="*/ 2381 h 496976"/>
              <a:gd name="connsiteX0-1" fmla="*/ 142617 w 1024233"/>
              <a:gd name="connsiteY0-2" fmla="*/ 0 h 496976"/>
              <a:gd name="connsiteX1-3" fmla="*/ 142617 w 1024233"/>
              <a:gd name="connsiteY1-4" fmla="*/ 99898 h 496976"/>
              <a:gd name="connsiteX2-5" fmla="*/ 142617 w 1024233"/>
              <a:gd name="connsiteY2-6" fmla="*/ 99898 h 496976"/>
              <a:gd name="connsiteX3-7" fmla="*/ 142617 w 1024233"/>
              <a:gd name="connsiteY3-8" fmla="*/ 62495 h 496976"/>
              <a:gd name="connsiteX4-9" fmla="*/ 150854 w 1024233"/>
              <a:gd name="connsiteY4-10" fmla="*/ 70041 h 496976"/>
              <a:gd name="connsiteX5-11" fmla="*/ 180869 w 1024233"/>
              <a:gd name="connsiteY5-12" fmla="*/ 84108 h 496976"/>
              <a:gd name="connsiteX6-13" fmla="*/ 181157 w 1024233"/>
              <a:gd name="connsiteY6-14" fmla="*/ 84183 h 496976"/>
              <a:gd name="connsiteX7-15" fmla="*/ 181500 w 1024233"/>
              <a:gd name="connsiteY7-16" fmla="*/ 85118 h 496976"/>
              <a:gd name="connsiteX8-17" fmla="*/ 184778 w 1024233"/>
              <a:gd name="connsiteY8-18" fmla="*/ 85118 h 496976"/>
              <a:gd name="connsiteX9-19" fmla="*/ 782438 w 1024233"/>
              <a:gd name="connsiteY9-20" fmla="*/ 85118 h 496976"/>
              <a:gd name="connsiteX10-21" fmla="*/ 782438 w 1024233"/>
              <a:gd name="connsiteY10-22" fmla="*/ 13385 h 496976"/>
              <a:gd name="connsiteX11-23" fmla="*/ 873901 w 1024233"/>
              <a:gd name="connsiteY11-24" fmla="*/ 104848 h 496976"/>
              <a:gd name="connsiteX12-25" fmla="*/ 1024233 w 1024233"/>
              <a:gd name="connsiteY12-26" fmla="*/ 255180 h 496976"/>
              <a:gd name="connsiteX13-27" fmla="*/ 782438 w 1024233"/>
              <a:gd name="connsiteY13-28" fmla="*/ 496976 h 496976"/>
              <a:gd name="connsiteX14-29" fmla="*/ 782438 w 1024233"/>
              <a:gd name="connsiteY14-30" fmla="*/ 425243 h 496976"/>
              <a:gd name="connsiteX15-31" fmla="*/ 146010 w 1024233"/>
              <a:gd name="connsiteY15-32" fmla="*/ 425243 h 496976"/>
              <a:gd name="connsiteX16-33" fmla="*/ 146010 w 1024233"/>
              <a:gd name="connsiteY16-34" fmla="*/ 421348 h 496976"/>
              <a:gd name="connsiteX17-35" fmla="*/ 142617 w 1024233"/>
              <a:gd name="connsiteY17-36" fmla="*/ 421521 h 496976"/>
              <a:gd name="connsiteX18-37" fmla="*/ 142617 w 1024233"/>
              <a:gd name="connsiteY18-38" fmla="*/ 378028 h 496976"/>
              <a:gd name="connsiteX19-39" fmla="*/ 142617 w 1024233"/>
              <a:gd name="connsiteY19-40" fmla="*/ 421521 h 496976"/>
              <a:gd name="connsiteX20-41" fmla="*/ 140282 w 1024233"/>
              <a:gd name="connsiteY20-42" fmla="*/ 421639 h 496976"/>
              <a:gd name="connsiteX21-43" fmla="*/ 55285 w 1024233"/>
              <a:gd name="connsiteY21-44" fmla="*/ 374569 h 496976"/>
              <a:gd name="connsiteX22-45" fmla="*/ 2640 w 1024233"/>
              <a:gd name="connsiteY22-46" fmla="*/ 171091 h 496976"/>
              <a:gd name="connsiteX23-47" fmla="*/ 123512 w 1024233"/>
              <a:gd name="connsiteY23-48" fmla="*/ 2381 h 496976"/>
              <a:gd name="connsiteX24-49" fmla="*/ 142617 w 1024233"/>
              <a:gd name="connsiteY24-50" fmla="*/ 0 h 496976"/>
              <a:gd name="connsiteX0-51" fmla="*/ 142617 w 1024233"/>
              <a:gd name="connsiteY0-52" fmla="*/ 0 h 496976"/>
              <a:gd name="connsiteX1-53" fmla="*/ 142617 w 1024233"/>
              <a:gd name="connsiteY1-54" fmla="*/ 99898 h 496976"/>
              <a:gd name="connsiteX2-55" fmla="*/ 142617 w 1024233"/>
              <a:gd name="connsiteY2-56" fmla="*/ 99898 h 496976"/>
              <a:gd name="connsiteX3-57" fmla="*/ 142617 w 1024233"/>
              <a:gd name="connsiteY3-58" fmla="*/ 62495 h 496976"/>
              <a:gd name="connsiteX4-59" fmla="*/ 150854 w 1024233"/>
              <a:gd name="connsiteY4-60" fmla="*/ 70041 h 496976"/>
              <a:gd name="connsiteX5-61" fmla="*/ 180869 w 1024233"/>
              <a:gd name="connsiteY5-62" fmla="*/ 84108 h 496976"/>
              <a:gd name="connsiteX6-63" fmla="*/ 181157 w 1024233"/>
              <a:gd name="connsiteY6-64" fmla="*/ 84183 h 496976"/>
              <a:gd name="connsiteX7-65" fmla="*/ 181500 w 1024233"/>
              <a:gd name="connsiteY7-66" fmla="*/ 85118 h 496976"/>
              <a:gd name="connsiteX8-67" fmla="*/ 184778 w 1024233"/>
              <a:gd name="connsiteY8-68" fmla="*/ 85118 h 496976"/>
              <a:gd name="connsiteX9-69" fmla="*/ 782438 w 1024233"/>
              <a:gd name="connsiteY9-70" fmla="*/ 85118 h 496976"/>
              <a:gd name="connsiteX10-71" fmla="*/ 782438 w 1024233"/>
              <a:gd name="connsiteY10-72" fmla="*/ 13385 h 496976"/>
              <a:gd name="connsiteX11-73" fmla="*/ 873901 w 1024233"/>
              <a:gd name="connsiteY11-74" fmla="*/ 104848 h 496976"/>
              <a:gd name="connsiteX12-75" fmla="*/ 1024233 w 1024233"/>
              <a:gd name="connsiteY12-76" fmla="*/ 255180 h 496976"/>
              <a:gd name="connsiteX13-77" fmla="*/ 782438 w 1024233"/>
              <a:gd name="connsiteY13-78" fmla="*/ 496976 h 496976"/>
              <a:gd name="connsiteX14-79" fmla="*/ 782438 w 1024233"/>
              <a:gd name="connsiteY14-80" fmla="*/ 425243 h 496976"/>
              <a:gd name="connsiteX15-81" fmla="*/ 146010 w 1024233"/>
              <a:gd name="connsiteY15-82" fmla="*/ 425243 h 496976"/>
              <a:gd name="connsiteX16-83" fmla="*/ 146010 w 1024233"/>
              <a:gd name="connsiteY16-84" fmla="*/ 421348 h 496976"/>
              <a:gd name="connsiteX17-85" fmla="*/ 142617 w 1024233"/>
              <a:gd name="connsiteY17-86" fmla="*/ 421521 h 496976"/>
              <a:gd name="connsiteX18-87" fmla="*/ 142617 w 1024233"/>
              <a:gd name="connsiteY18-88" fmla="*/ 421521 h 496976"/>
              <a:gd name="connsiteX19-89" fmla="*/ 140282 w 1024233"/>
              <a:gd name="connsiteY19-90" fmla="*/ 421639 h 496976"/>
              <a:gd name="connsiteX20-91" fmla="*/ 55285 w 1024233"/>
              <a:gd name="connsiteY20-92" fmla="*/ 374569 h 496976"/>
              <a:gd name="connsiteX21-93" fmla="*/ 2640 w 1024233"/>
              <a:gd name="connsiteY21-94" fmla="*/ 171091 h 496976"/>
              <a:gd name="connsiteX22-95" fmla="*/ 123512 w 1024233"/>
              <a:gd name="connsiteY22-96" fmla="*/ 2381 h 496976"/>
              <a:gd name="connsiteX23-97" fmla="*/ 142617 w 1024233"/>
              <a:gd name="connsiteY23-98" fmla="*/ 0 h 49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</a:cxnLst>
            <a:rect l="l" t="t" r="r" b="b"/>
            <a:pathLst>
              <a:path w="1024233" h="496976">
                <a:moveTo>
                  <a:pt x="142617" y="0"/>
                </a:moveTo>
                <a:lnTo>
                  <a:pt x="142617" y="99898"/>
                </a:lnTo>
                <a:lnTo>
                  <a:pt x="142617" y="99898"/>
                </a:lnTo>
                <a:lnTo>
                  <a:pt x="142617" y="62495"/>
                </a:lnTo>
                <a:lnTo>
                  <a:pt x="150854" y="70041"/>
                </a:lnTo>
                <a:cubicBezTo>
                  <a:pt x="158460" y="75155"/>
                  <a:pt x="168616" y="79887"/>
                  <a:pt x="180869" y="84108"/>
                </a:cubicBezTo>
                <a:lnTo>
                  <a:pt x="181157" y="84183"/>
                </a:lnTo>
                <a:cubicBezTo>
                  <a:pt x="181271" y="84495"/>
                  <a:pt x="181386" y="84806"/>
                  <a:pt x="181500" y="85118"/>
                </a:cubicBezTo>
                <a:lnTo>
                  <a:pt x="184778" y="85118"/>
                </a:lnTo>
                <a:lnTo>
                  <a:pt x="782438" y="85118"/>
                </a:lnTo>
                <a:lnTo>
                  <a:pt x="782438" y="13385"/>
                </a:lnTo>
                <a:lnTo>
                  <a:pt x="873901" y="104848"/>
                </a:lnTo>
                <a:lnTo>
                  <a:pt x="1024233" y="255180"/>
                </a:lnTo>
                <a:lnTo>
                  <a:pt x="782438" y="496976"/>
                </a:lnTo>
                <a:lnTo>
                  <a:pt x="782438" y="425243"/>
                </a:lnTo>
                <a:lnTo>
                  <a:pt x="146010" y="425243"/>
                </a:lnTo>
                <a:lnTo>
                  <a:pt x="146010" y="421348"/>
                </a:lnTo>
                <a:lnTo>
                  <a:pt x="142617" y="421521"/>
                </a:lnTo>
                <a:lnTo>
                  <a:pt x="142617" y="421521"/>
                </a:lnTo>
                <a:lnTo>
                  <a:pt x="140282" y="421639"/>
                </a:lnTo>
                <a:cubicBezTo>
                  <a:pt x="110280" y="418947"/>
                  <a:pt x="80512" y="403533"/>
                  <a:pt x="55285" y="374569"/>
                </a:cubicBezTo>
                <a:cubicBezTo>
                  <a:pt x="12570" y="325525"/>
                  <a:pt x="-7642" y="247404"/>
                  <a:pt x="2640" y="171091"/>
                </a:cubicBezTo>
                <a:cubicBezTo>
                  <a:pt x="14405" y="83774"/>
                  <a:pt x="63234" y="17568"/>
                  <a:pt x="123512" y="2381"/>
                </a:cubicBezTo>
                <a:lnTo>
                  <a:pt x="14261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sp>
        <p:nvSpPr>
          <p:cNvPr id="197" name="任意多边形: 形状 196"/>
          <p:cNvSpPr/>
          <p:nvPr/>
        </p:nvSpPr>
        <p:spPr>
          <a:xfrm>
            <a:off x="5625465" y="5817235"/>
            <a:ext cx="852170" cy="410210"/>
          </a:xfrm>
          <a:custGeom>
            <a:avLst/>
            <a:gdLst>
              <a:gd name="connsiteX0" fmla="*/ 142617 w 1024233"/>
              <a:gd name="connsiteY0" fmla="*/ 0 h 496976"/>
              <a:gd name="connsiteX1" fmla="*/ 142617 w 1024233"/>
              <a:gd name="connsiteY1" fmla="*/ 99898 h 496976"/>
              <a:gd name="connsiteX2" fmla="*/ 142617 w 1024233"/>
              <a:gd name="connsiteY2" fmla="*/ 99898 h 496976"/>
              <a:gd name="connsiteX3" fmla="*/ 142617 w 1024233"/>
              <a:gd name="connsiteY3" fmla="*/ 62495 h 496976"/>
              <a:gd name="connsiteX4" fmla="*/ 150854 w 1024233"/>
              <a:gd name="connsiteY4" fmla="*/ 70041 h 496976"/>
              <a:gd name="connsiteX5" fmla="*/ 180869 w 1024233"/>
              <a:gd name="connsiteY5" fmla="*/ 84108 h 496976"/>
              <a:gd name="connsiteX6" fmla="*/ 181157 w 1024233"/>
              <a:gd name="connsiteY6" fmla="*/ 84183 h 496976"/>
              <a:gd name="connsiteX7" fmla="*/ 181500 w 1024233"/>
              <a:gd name="connsiteY7" fmla="*/ 85118 h 496976"/>
              <a:gd name="connsiteX8" fmla="*/ 184778 w 1024233"/>
              <a:gd name="connsiteY8" fmla="*/ 85118 h 496976"/>
              <a:gd name="connsiteX9" fmla="*/ 782438 w 1024233"/>
              <a:gd name="connsiteY9" fmla="*/ 85118 h 496976"/>
              <a:gd name="connsiteX10" fmla="*/ 782438 w 1024233"/>
              <a:gd name="connsiteY10" fmla="*/ 13385 h 496976"/>
              <a:gd name="connsiteX11" fmla="*/ 873901 w 1024233"/>
              <a:gd name="connsiteY11" fmla="*/ 104848 h 496976"/>
              <a:gd name="connsiteX12" fmla="*/ 1024233 w 1024233"/>
              <a:gd name="connsiteY12" fmla="*/ 255180 h 496976"/>
              <a:gd name="connsiteX13" fmla="*/ 782438 w 1024233"/>
              <a:gd name="connsiteY13" fmla="*/ 496976 h 496976"/>
              <a:gd name="connsiteX14" fmla="*/ 782438 w 1024233"/>
              <a:gd name="connsiteY14" fmla="*/ 425243 h 496976"/>
              <a:gd name="connsiteX15" fmla="*/ 146010 w 1024233"/>
              <a:gd name="connsiteY15" fmla="*/ 425243 h 496976"/>
              <a:gd name="connsiteX16" fmla="*/ 146010 w 1024233"/>
              <a:gd name="connsiteY16" fmla="*/ 421348 h 496976"/>
              <a:gd name="connsiteX17" fmla="*/ 142617 w 1024233"/>
              <a:gd name="connsiteY17" fmla="*/ 421521 h 496976"/>
              <a:gd name="connsiteX18" fmla="*/ 142617 w 1024233"/>
              <a:gd name="connsiteY18" fmla="*/ 378028 h 496976"/>
              <a:gd name="connsiteX19" fmla="*/ 142617 w 1024233"/>
              <a:gd name="connsiteY19" fmla="*/ 378028 h 496976"/>
              <a:gd name="connsiteX20" fmla="*/ 142617 w 1024233"/>
              <a:gd name="connsiteY20" fmla="*/ 421521 h 496976"/>
              <a:gd name="connsiteX21" fmla="*/ 140282 w 1024233"/>
              <a:gd name="connsiteY21" fmla="*/ 421639 h 496976"/>
              <a:gd name="connsiteX22" fmla="*/ 55285 w 1024233"/>
              <a:gd name="connsiteY22" fmla="*/ 374569 h 496976"/>
              <a:gd name="connsiteX23" fmla="*/ 2640 w 1024233"/>
              <a:gd name="connsiteY23" fmla="*/ 171091 h 496976"/>
              <a:gd name="connsiteX24" fmla="*/ 123512 w 1024233"/>
              <a:gd name="connsiteY24" fmla="*/ 2381 h 496976"/>
              <a:gd name="connsiteX0-1" fmla="*/ 142617 w 1024233"/>
              <a:gd name="connsiteY0-2" fmla="*/ 0 h 496976"/>
              <a:gd name="connsiteX1-3" fmla="*/ 142617 w 1024233"/>
              <a:gd name="connsiteY1-4" fmla="*/ 99898 h 496976"/>
              <a:gd name="connsiteX2-5" fmla="*/ 142617 w 1024233"/>
              <a:gd name="connsiteY2-6" fmla="*/ 99898 h 496976"/>
              <a:gd name="connsiteX3-7" fmla="*/ 142617 w 1024233"/>
              <a:gd name="connsiteY3-8" fmla="*/ 62495 h 496976"/>
              <a:gd name="connsiteX4-9" fmla="*/ 150854 w 1024233"/>
              <a:gd name="connsiteY4-10" fmla="*/ 70041 h 496976"/>
              <a:gd name="connsiteX5-11" fmla="*/ 180869 w 1024233"/>
              <a:gd name="connsiteY5-12" fmla="*/ 84108 h 496976"/>
              <a:gd name="connsiteX6-13" fmla="*/ 181157 w 1024233"/>
              <a:gd name="connsiteY6-14" fmla="*/ 84183 h 496976"/>
              <a:gd name="connsiteX7-15" fmla="*/ 181500 w 1024233"/>
              <a:gd name="connsiteY7-16" fmla="*/ 85118 h 496976"/>
              <a:gd name="connsiteX8-17" fmla="*/ 184778 w 1024233"/>
              <a:gd name="connsiteY8-18" fmla="*/ 85118 h 496976"/>
              <a:gd name="connsiteX9-19" fmla="*/ 782438 w 1024233"/>
              <a:gd name="connsiteY9-20" fmla="*/ 85118 h 496976"/>
              <a:gd name="connsiteX10-21" fmla="*/ 782438 w 1024233"/>
              <a:gd name="connsiteY10-22" fmla="*/ 13385 h 496976"/>
              <a:gd name="connsiteX11-23" fmla="*/ 873901 w 1024233"/>
              <a:gd name="connsiteY11-24" fmla="*/ 104848 h 496976"/>
              <a:gd name="connsiteX12-25" fmla="*/ 1024233 w 1024233"/>
              <a:gd name="connsiteY12-26" fmla="*/ 255180 h 496976"/>
              <a:gd name="connsiteX13-27" fmla="*/ 782438 w 1024233"/>
              <a:gd name="connsiteY13-28" fmla="*/ 496976 h 496976"/>
              <a:gd name="connsiteX14-29" fmla="*/ 782438 w 1024233"/>
              <a:gd name="connsiteY14-30" fmla="*/ 425243 h 496976"/>
              <a:gd name="connsiteX15-31" fmla="*/ 146010 w 1024233"/>
              <a:gd name="connsiteY15-32" fmla="*/ 425243 h 496976"/>
              <a:gd name="connsiteX16-33" fmla="*/ 146010 w 1024233"/>
              <a:gd name="connsiteY16-34" fmla="*/ 421348 h 496976"/>
              <a:gd name="connsiteX17-35" fmla="*/ 142617 w 1024233"/>
              <a:gd name="connsiteY17-36" fmla="*/ 421521 h 496976"/>
              <a:gd name="connsiteX18-37" fmla="*/ 142617 w 1024233"/>
              <a:gd name="connsiteY18-38" fmla="*/ 378028 h 496976"/>
              <a:gd name="connsiteX19-39" fmla="*/ 142617 w 1024233"/>
              <a:gd name="connsiteY19-40" fmla="*/ 421521 h 496976"/>
              <a:gd name="connsiteX20-41" fmla="*/ 140282 w 1024233"/>
              <a:gd name="connsiteY20-42" fmla="*/ 421639 h 496976"/>
              <a:gd name="connsiteX21-43" fmla="*/ 55285 w 1024233"/>
              <a:gd name="connsiteY21-44" fmla="*/ 374569 h 496976"/>
              <a:gd name="connsiteX22-45" fmla="*/ 2640 w 1024233"/>
              <a:gd name="connsiteY22-46" fmla="*/ 171091 h 496976"/>
              <a:gd name="connsiteX23-47" fmla="*/ 123512 w 1024233"/>
              <a:gd name="connsiteY23-48" fmla="*/ 2381 h 496976"/>
              <a:gd name="connsiteX24-49" fmla="*/ 142617 w 1024233"/>
              <a:gd name="connsiteY24-50" fmla="*/ 0 h 496976"/>
              <a:gd name="connsiteX0-51" fmla="*/ 142617 w 1024233"/>
              <a:gd name="connsiteY0-52" fmla="*/ 0 h 496976"/>
              <a:gd name="connsiteX1-53" fmla="*/ 142617 w 1024233"/>
              <a:gd name="connsiteY1-54" fmla="*/ 99898 h 496976"/>
              <a:gd name="connsiteX2-55" fmla="*/ 142617 w 1024233"/>
              <a:gd name="connsiteY2-56" fmla="*/ 99898 h 496976"/>
              <a:gd name="connsiteX3-57" fmla="*/ 142617 w 1024233"/>
              <a:gd name="connsiteY3-58" fmla="*/ 62495 h 496976"/>
              <a:gd name="connsiteX4-59" fmla="*/ 150854 w 1024233"/>
              <a:gd name="connsiteY4-60" fmla="*/ 70041 h 496976"/>
              <a:gd name="connsiteX5-61" fmla="*/ 180869 w 1024233"/>
              <a:gd name="connsiteY5-62" fmla="*/ 84108 h 496976"/>
              <a:gd name="connsiteX6-63" fmla="*/ 181157 w 1024233"/>
              <a:gd name="connsiteY6-64" fmla="*/ 84183 h 496976"/>
              <a:gd name="connsiteX7-65" fmla="*/ 181500 w 1024233"/>
              <a:gd name="connsiteY7-66" fmla="*/ 85118 h 496976"/>
              <a:gd name="connsiteX8-67" fmla="*/ 184778 w 1024233"/>
              <a:gd name="connsiteY8-68" fmla="*/ 85118 h 496976"/>
              <a:gd name="connsiteX9-69" fmla="*/ 782438 w 1024233"/>
              <a:gd name="connsiteY9-70" fmla="*/ 85118 h 496976"/>
              <a:gd name="connsiteX10-71" fmla="*/ 782438 w 1024233"/>
              <a:gd name="connsiteY10-72" fmla="*/ 13385 h 496976"/>
              <a:gd name="connsiteX11-73" fmla="*/ 873901 w 1024233"/>
              <a:gd name="connsiteY11-74" fmla="*/ 104848 h 496976"/>
              <a:gd name="connsiteX12-75" fmla="*/ 1024233 w 1024233"/>
              <a:gd name="connsiteY12-76" fmla="*/ 255180 h 496976"/>
              <a:gd name="connsiteX13-77" fmla="*/ 782438 w 1024233"/>
              <a:gd name="connsiteY13-78" fmla="*/ 496976 h 496976"/>
              <a:gd name="connsiteX14-79" fmla="*/ 782438 w 1024233"/>
              <a:gd name="connsiteY14-80" fmla="*/ 425243 h 496976"/>
              <a:gd name="connsiteX15-81" fmla="*/ 146010 w 1024233"/>
              <a:gd name="connsiteY15-82" fmla="*/ 425243 h 496976"/>
              <a:gd name="connsiteX16-83" fmla="*/ 146010 w 1024233"/>
              <a:gd name="connsiteY16-84" fmla="*/ 421348 h 496976"/>
              <a:gd name="connsiteX17-85" fmla="*/ 142617 w 1024233"/>
              <a:gd name="connsiteY17-86" fmla="*/ 421521 h 496976"/>
              <a:gd name="connsiteX18-87" fmla="*/ 142617 w 1024233"/>
              <a:gd name="connsiteY18-88" fmla="*/ 421521 h 496976"/>
              <a:gd name="connsiteX19-89" fmla="*/ 140282 w 1024233"/>
              <a:gd name="connsiteY19-90" fmla="*/ 421639 h 496976"/>
              <a:gd name="connsiteX20-91" fmla="*/ 55285 w 1024233"/>
              <a:gd name="connsiteY20-92" fmla="*/ 374569 h 496976"/>
              <a:gd name="connsiteX21-93" fmla="*/ 2640 w 1024233"/>
              <a:gd name="connsiteY21-94" fmla="*/ 171091 h 496976"/>
              <a:gd name="connsiteX22-95" fmla="*/ 123512 w 1024233"/>
              <a:gd name="connsiteY22-96" fmla="*/ 2381 h 496976"/>
              <a:gd name="connsiteX23-97" fmla="*/ 142617 w 1024233"/>
              <a:gd name="connsiteY23-98" fmla="*/ 0 h 49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</a:cxnLst>
            <a:rect l="l" t="t" r="r" b="b"/>
            <a:pathLst>
              <a:path w="1024233" h="496976">
                <a:moveTo>
                  <a:pt x="142617" y="0"/>
                </a:moveTo>
                <a:lnTo>
                  <a:pt x="142617" y="99898"/>
                </a:lnTo>
                <a:lnTo>
                  <a:pt x="142617" y="99898"/>
                </a:lnTo>
                <a:lnTo>
                  <a:pt x="142617" y="62495"/>
                </a:lnTo>
                <a:lnTo>
                  <a:pt x="150854" y="70041"/>
                </a:lnTo>
                <a:cubicBezTo>
                  <a:pt x="158460" y="75155"/>
                  <a:pt x="168616" y="79887"/>
                  <a:pt x="180869" y="84108"/>
                </a:cubicBezTo>
                <a:lnTo>
                  <a:pt x="181157" y="84183"/>
                </a:lnTo>
                <a:cubicBezTo>
                  <a:pt x="181271" y="84495"/>
                  <a:pt x="181386" y="84806"/>
                  <a:pt x="181500" y="85118"/>
                </a:cubicBezTo>
                <a:lnTo>
                  <a:pt x="184778" y="85118"/>
                </a:lnTo>
                <a:lnTo>
                  <a:pt x="782438" y="85118"/>
                </a:lnTo>
                <a:lnTo>
                  <a:pt x="782438" y="13385"/>
                </a:lnTo>
                <a:lnTo>
                  <a:pt x="873901" y="104848"/>
                </a:lnTo>
                <a:lnTo>
                  <a:pt x="1024233" y="255180"/>
                </a:lnTo>
                <a:lnTo>
                  <a:pt x="782438" y="496976"/>
                </a:lnTo>
                <a:lnTo>
                  <a:pt x="782438" y="425243"/>
                </a:lnTo>
                <a:lnTo>
                  <a:pt x="146010" y="425243"/>
                </a:lnTo>
                <a:lnTo>
                  <a:pt x="146010" y="421348"/>
                </a:lnTo>
                <a:lnTo>
                  <a:pt x="142617" y="421521"/>
                </a:lnTo>
                <a:lnTo>
                  <a:pt x="142617" y="421521"/>
                </a:lnTo>
                <a:lnTo>
                  <a:pt x="140282" y="421639"/>
                </a:lnTo>
                <a:cubicBezTo>
                  <a:pt x="110280" y="418947"/>
                  <a:pt x="80512" y="403533"/>
                  <a:pt x="55285" y="374569"/>
                </a:cubicBezTo>
                <a:cubicBezTo>
                  <a:pt x="12570" y="325525"/>
                  <a:pt x="-7642" y="247404"/>
                  <a:pt x="2640" y="171091"/>
                </a:cubicBezTo>
                <a:cubicBezTo>
                  <a:pt x="14405" y="83774"/>
                  <a:pt x="63234" y="17568"/>
                  <a:pt x="123512" y="2381"/>
                </a:cubicBezTo>
                <a:lnTo>
                  <a:pt x="14261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Normal" panose="020B0400000000000000" charset="-122"/>
              <a:cs typeface="思源黑体 CN Normal" panose="020B0400000000000000" charset="-122"/>
              <a:sym typeface="思源黑体 CN Bold" panose="020B0800000000000000" pitchFamily="34" charset="-122"/>
            </a:endParaRPr>
          </a:p>
        </p:txBody>
      </p:sp>
      <p:sp>
        <p:nvSpPr>
          <p:cNvPr id="17" name="AutoShape 5"/>
          <p:cNvSpPr txBox="1"/>
          <p:nvPr/>
        </p:nvSpPr>
        <p:spPr>
          <a:xfrm>
            <a:off x="1478915" y="2184400"/>
            <a:ext cx="4284345" cy="39325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问题：</a:t>
            </a:r>
            <a:endParaRPr lang="en-US" sz="1600"/>
          </a:p>
          <a:p>
            <a:pPr marL="0" indent="0" algn="l">
              <a:lnSpc>
                <a:spcPct val="142000"/>
              </a:lnSpc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LiDAR 与相机视角不同、语义不一致，难以有效融合</a:t>
            </a:r>
            <a:endParaRPr sz="2800"/>
          </a:p>
          <a:p>
            <a:pPr marL="0" indent="0" algn="l">
              <a:lnSpc>
                <a:spcPct val="142000"/>
              </a:lnSpc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方法核心组件：</a:t>
            </a:r>
            <a:endParaRPr lang="en-US" b="1" i="0" u="none" strike="noStrike">
              <a:solidFill>
                <a:srgbClr val="1826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42000"/>
              </a:lnSpc>
              <a:buClr>
                <a:srgbClr val="69788C"/>
              </a:buClr>
              <a:buChar char="•"/>
            </a:pPr>
            <a:r>
              <a:rPr lang="en-US" b="1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BEV Queries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可学习的鸟瞰图查询向量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42000"/>
              </a:lnSpc>
              <a:buClr>
                <a:srgbClr val="69788C"/>
              </a:buClr>
              <a:buChar char="•"/>
            </a:pPr>
            <a:r>
              <a:rPr lang="en-US" b="1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空间交叉注意力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相机特征与 BEV 交互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42000"/>
              </a:lnSpc>
              <a:buClr>
                <a:srgbClr val="69788C"/>
              </a:buClr>
              <a:buChar char="•"/>
            </a:pPr>
            <a:r>
              <a:rPr lang="en-US" b="1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时序自注意力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融合历史 BEV 特征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42000"/>
              </a:lnSpc>
              <a:buClr>
                <a:srgbClr val="69788C"/>
              </a:buClr>
              <a:buChar char="•"/>
            </a:pPr>
            <a:r>
              <a:rPr lang="en-US" b="1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可变形注意力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降低计算复杂度，聚焦关键区域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7"/>
          <p:cNvSpPr/>
          <p:nvPr/>
        </p:nvSpPr>
        <p:spPr>
          <a:xfrm>
            <a:off x="6280150" y="2606675"/>
            <a:ext cx="4886325" cy="889000"/>
          </a:xfrm>
          <a:prstGeom prst="roundRect">
            <a:avLst>
              <a:gd name="adj" fmla="val 8571"/>
            </a:avLst>
          </a:prstGeom>
          <a:solidFill>
            <a:schemeClr val="accent2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8"/>
          <p:cNvSpPr txBox="1"/>
          <p:nvPr/>
        </p:nvSpPr>
        <p:spPr>
          <a:xfrm>
            <a:off x="6534150" y="2684145"/>
            <a:ext cx="4376420" cy="6946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5385B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nuScenes Test 性能</a:t>
            </a:r>
            <a:endParaRPr lang="en-US" sz="1600" b="1">
              <a:solidFill>
                <a:srgbClr val="5385BD"/>
              </a:solidFill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NDS 74.1% · mAP 提升显著 · 纯视觉方案达到 SOTA</a:t>
            </a:r>
            <a:endParaRPr lang="en-US" sz="16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9"/>
          <p:cNvSpPr txBox="1"/>
          <p:nvPr/>
        </p:nvSpPr>
        <p:spPr>
          <a:xfrm>
            <a:off x="6635750" y="3609975"/>
            <a:ext cx="421894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学术意义：</a:t>
            </a:r>
            <a:endParaRPr lang="en-US" sz="1600"/>
          </a:p>
          <a:p>
            <a:pPr marL="165100" indent="-165100" algn="l">
              <a:lnSpc>
                <a:spcPct val="150000"/>
              </a:lnSpc>
              <a:buClr>
                <a:srgbClr val="69788C"/>
              </a:buClr>
              <a:buChar char="•"/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 BEV 表示框架，支持检测、分割、跟踪多任务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0000"/>
              </a:lnSpc>
              <a:buClr>
                <a:srgbClr val="69788C"/>
              </a:buClr>
              <a:buChar char="•"/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开创时空融合新范式，成为后续工作的基础范式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0000"/>
              </a:lnSpc>
              <a:buClr>
                <a:srgbClr val="69788C"/>
              </a:buClr>
              <a:buChar char="•"/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 Occupancy、端到端 UniAD 等工作奠定表示基础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 txBox="1"/>
          <p:nvPr/>
        </p:nvSpPr>
        <p:spPr>
          <a:xfrm>
            <a:off x="601345" y="15367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5385B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Faster R-CNN 核心创新</a:t>
            </a:r>
            <a:endParaRPr lang="en-US" sz="2000" b="1" i="0" u="none" strike="noStrike">
              <a:solidFill>
                <a:srgbClr val="5385B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38175" y="22987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519D78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800"/>
          </a:p>
        </p:txBody>
      </p:sp>
      <p:sp>
        <p:nvSpPr>
          <p:cNvPr id="6" name="AutoShape 6"/>
          <p:cNvSpPr txBox="1"/>
          <p:nvPr/>
        </p:nvSpPr>
        <p:spPr>
          <a:xfrm>
            <a:off x="638175" y="24257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共享卷积特征</a:t>
            </a:r>
            <a:endParaRPr lang="en-US" sz="1600" b="0" i="0" u="none" strike="noStrike">
              <a:solidFill>
                <a:srgbClr val="1826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85925">
            <a:off x="2162254" y="26098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9788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8" name="AutoShape 8"/>
          <p:cNvSpPr/>
          <p:nvPr/>
        </p:nvSpPr>
        <p:spPr>
          <a:xfrm>
            <a:off x="2670175" y="2298700"/>
            <a:ext cx="1270000" cy="635000"/>
          </a:xfrm>
          <a:prstGeom prst="roundRect">
            <a:avLst>
              <a:gd name="adj" fmla="val 8000"/>
            </a:avLst>
          </a:prstGeom>
          <a:solidFill>
            <a:srgbClr val="519D78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2670175" y="24257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RPN 区域提议</a:t>
            </a:r>
            <a:endParaRPr lang="en-US" sz="1600" b="0" i="0" u="none" strike="noStrike">
              <a:solidFill>
                <a:srgbClr val="1826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85925">
            <a:off x="3940254" y="26098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9788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1" name="AutoShape 11"/>
          <p:cNvSpPr/>
          <p:nvPr/>
        </p:nvSpPr>
        <p:spPr>
          <a:xfrm>
            <a:off x="4448175" y="2298700"/>
            <a:ext cx="1270000" cy="635000"/>
          </a:xfrm>
          <a:prstGeom prst="roundRect">
            <a:avLst>
              <a:gd name="adj" fmla="val 8000"/>
            </a:avLst>
          </a:prstGeom>
          <a:solidFill>
            <a:srgbClr val="1E3C78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4448175" y="24257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检测头</a:t>
            </a:r>
            <a:endParaRPr lang="en-US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 txBox="1"/>
          <p:nvPr/>
        </p:nvSpPr>
        <p:spPr>
          <a:xfrm>
            <a:off x="517525" y="3353435"/>
            <a:ext cx="526669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0000"/>
              </a:lnSpc>
              <a:buClr>
                <a:srgbClr val="18263A"/>
              </a:buClr>
              <a:buChar char="•"/>
              <a:defRPr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RPN 区域提议网络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替代选择性搜索，端到端生成候选框</a:t>
            </a:r>
            <a:endParaRPr lang="en-US" sz="1600"/>
          </a:p>
          <a:p>
            <a:pPr marL="165100" indent="-165100" algn="l">
              <a:lnSpc>
                <a:spcPct val="150000"/>
              </a:lnSpc>
              <a:buClr>
                <a:srgbClr val="18263A"/>
              </a:buClr>
              <a:buChar char="•"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Anchor Boxes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多尺度、多比例的先验框设计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0000"/>
              </a:lnSpc>
              <a:buClr>
                <a:srgbClr val="18263A"/>
              </a:buClr>
              <a:buChar char="•"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共享卷积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提议网络与检测网络共享特征，大幅提速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0000"/>
              </a:lnSpc>
              <a:buClr>
                <a:srgbClr val="18263A"/>
              </a:buClr>
              <a:buChar char="•"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四步交替训练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联合优化共享卷积与两个子网络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6350000" y="1536065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对自动驾驶检测的深远影响</a:t>
            </a:r>
            <a:endParaRPr lang="en-US" sz="2000" b="1" i="0" u="none" strike="noStrike">
              <a:solidFill>
                <a:srgbClr val="1E3C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 txBox="1"/>
          <p:nvPr/>
        </p:nvSpPr>
        <p:spPr>
          <a:xfrm>
            <a:off x="6350000" y="2190750"/>
            <a:ext cx="5080000" cy="37071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奠定范式：</a:t>
            </a:r>
            <a:endParaRPr lang="en-US" sz="1600"/>
          </a:p>
          <a:p>
            <a:pPr marL="0" indent="0" algn="l">
              <a:lnSpc>
                <a:spcPct val="150000"/>
              </a:lnSpc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"深度检测 + 区域提议"成为后续检测框架的标准范式</a:t>
            </a:r>
            <a:endParaRPr sz="2800"/>
          </a:p>
          <a:p>
            <a:pPr marL="0" indent="0" algn="l">
              <a:lnSpc>
                <a:spcPct val="150000"/>
              </a:lnSpc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影响 3D 检测：</a:t>
            </a:r>
            <a:endParaRPr lang="en-US" b="1" i="0" u="none" strike="noStrike">
              <a:solidFill>
                <a:srgbClr val="1826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0000"/>
              </a:lnSpc>
              <a:buClr>
                <a:srgbClr val="69788C"/>
              </a:buClr>
              <a:buChar char="•"/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区域提议思想被 VoxelNet、PointPillars 等 3D 检测继承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0000"/>
              </a:lnSpc>
              <a:buClr>
                <a:srgbClr val="69788C"/>
              </a:buClr>
              <a:buChar char="•"/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多尺度 Anchor 设计启发了 3D Anchor 的维度设计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0000"/>
              </a:lnSpc>
              <a:buClr>
                <a:srgbClr val="69788C"/>
              </a:buClr>
              <a:buChar char="•"/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共享特征提取思路成为多任务检测的基础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517625" y="292500"/>
            <a:ext cx="3429000" cy="1663700"/>
            <a:chOff x="508000" y="254000"/>
            <a:chExt cx="3429000" cy="1663700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8000" y="379580"/>
              <a:ext cx="3429000" cy="0"/>
            </a:xfrm>
            <a:prstGeom prst="line">
              <a:avLst/>
            </a:prstGeom>
            <a:ln w="19050">
              <a:gradFill>
                <a:gsLst>
                  <a:gs pos="3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660400" y="254000"/>
              <a:ext cx="0" cy="166370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4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文本框 73"/>
          <p:cNvSpPr txBox="1"/>
          <p:nvPr/>
        </p:nvSpPr>
        <p:spPr>
          <a:xfrm>
            <a:off x="666750" y="455930"/>
            <a:ext cx="1103947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目标检测演进（一）：2</a:t>
            </a:r>
            <a:r>
              <a:rPr lang="en-US" altLang="zh-CN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D </a:t>
            </a:r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检测与 </a:t>
            </a:r>
            <a:r>
              <a:rPr lang="en-US" altLang="zh-CN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Faster R-CNN</a:t>
            </a:r>
            <a:endParaRPr lang="en-US" altLang="zh-CN" sz="3200" dirty="0">
              <a:solidFill>
                <a:schemeClr val="accent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锐字奥运精神拼搏简免费-闪" panose="02010604000000000000" charset="-122"/>
              <a:ea typeface="锐字奥运精神拼搏简免费-闪" panose="02010604000000000000" charset="-122"/>
              <a:cs typeface="锐字奥运精神拼搏简免费-闪" panose="02010604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3"/>
          <p:cNvCxnSpPr/>
          <p:nvPr/>
        </p:nvCxnSpPr>
        <p:spPr>
          <a:xfrm rot="-57290">
            <a:off x="762053" y="1136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19D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1524000"/>
            <a:ext cx="3302000" cy="508000"/>
          </a:xfrm>
          <a:prstGeom prst="roundRect">
            <a:avLst>
              <a:gd name="adj" fmla="val 10000"/>
            </a:avLst>
          </a:prstGeom>
          <a:solidFill>
            <a:schemeClr val="accent2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762000" y="1625600"/>
            <a:ext cx="330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视觉 3D 检测</a:t>
            </a:r>
            <a:endParaRPr lang="en-US" sz="2000" b="1" i="0" u="none" strike="noStrike">
              <a:solidFill>
                <a:srgbClr val="1826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669925" y="2077720"/>
            <a:ext cx="3353435" cy="27031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-152400" algn="l">
              <a:lnSpc>
                <a:spcPct val="150000"/>
              </a:lnSpc>
              <a:buClr>
                <a:srgbClr val="69788C"/>
              </a:buClr>
              <a:buChar char="•"/>
              <a:defRPr/>
            </a:pPr>
            <a:r>
              <a:rPr lang="en-US" b="1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单目 3D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Mono3D、MonoDepth</a:t>
            </a:r>
            <a:endParaRPr lang="en-US" sz="1600"/>
          </a:p>
          <a:p>
            <a:pPr marL="152400" indent="-152400" algn="l">
              <a:lnSpc>
                <a:spcPct val="150000"/>
              </a:lnSpc>
              <a:buClr>
                <a:srgbClr val="69788C"/>
              </a:buClr>
              <a:buChar char="•"/>
            </a:pPr>
            <a:r>
              <a:rPr lang="en-US" b="1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双目 3D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视差估计辅助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-152400" algn="l">
              <a:lnSpc>
                <a:spcPct val="150000"/>
              </a:lnSpc>
              <a:buClr>
                <a:srgbClr val="69788C"/>
              </a:buClr>
              <a:buChar char="•"/>
            </a:pPr>
            <a:r>
              <a:rPr lang="en-US" b="1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深度估计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单目深度监督</a:t>
            </a:r>
            <a:endParaRPr sz="2800"/>
          </a:p>
          <a:p>
            <a:pPr marL="0" indent="0" algn="l">
              <a:lnSpc>
                <a:spcPct val="150000"/>
              </a:lnSpc>
            </a:pPr>
            <a:r>
              <a:rPr lang="en-US" b="0" i="1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优势：成本低、部署易</a:t>
            </a:r>
            <a:endParaRPr lang="en-US" b="0" i="1" u="none" strike="noStrike">
              <a:solidFill>
                <a:schemeClr val="accent1">
                  <a:lumMod val="60000"/>
                  <a:lumOff val="4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b="0" i="1" u="none" strike="noStrike">
                <a:solidFill>
                  <a:srgbClr val="C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局限：精度受深度估计制约</a:t>
            </a:r>
            <a:endParaRPr lang="en-US" b="0" i="1" u="none" strike="noStrike">
              <a:solidFill>
                <a:srgbClr val="C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445000" y="1524000"/>
            <a:ext cx="3302000" cy="508000"/>
          </a:xfrm>
          <a:prstGeom prst="roundRect">
            <a:avLst>
              <a:gd name="adj" fmla="val 10000"/>
            </a:avLst>
          </a:prstGeom>
          <a:solidFill>
            <a:schemeClr val="accent2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accent2"/>
              </a:solidFill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4445000" y="1625600"/>
            <a:ext cx="330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LiDAR 3D 检测</a:t>
            </a:r>
            <a:endParaRPr lang="en-US" sz="2000" b="1" i="0" u="none" strike="noStrike">
              <a:solidFill>
                <a:srgbClr val="1826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4572000" y="2222500"/>
            <a:ext cx="3048000" cy="28251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-152400" algn="l">
              <a:lnSpc>
                <a:spcPct val="150000"/>
              </a:lnSpc>
              <a:buClr>
                <a:srgbClr val="69788C"/>
              </a:buClr>
              <a:buChar char="•"/>
              <a:defRPr/>
            </a:pPr>
            <a:r>
              <a:rPr lang="en-US" b="1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体素法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VoxelNet、PointPillars</a:t>
            </a:r>
            <a:endParaRPr lang="en-US" sz="1600"/>
          </a:p>
          <a:p>
            <a:pPr marL="152400" indent="-152400" algn="l">
              <a:lnSpc>
                <a:spcPct val="150000"/>
              </a:lnSpc>
              <a:buClr>
                <a:srgbClr val="69788C"/>
              </a:buClr>
              <a:buChar char="•"/>
            </a:pPr>
            <a:r>
              <a:rPr lang="en-US" b="1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点法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PointRCNN、VoteNet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-152400" algn="l">
              <a:lnSpc>
                <a:spcPct val="150000"/>
              </a:lnSpc>
              <a:buClr>
                <a:srgbClr val="69788C"/>
              </a:buClr>
              <a:buChar char="•"/>
            </a:pPr>
            <a:r>
              <a:rPr lang="en-US" b="1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伪图像法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距离图像投影</a:t>
            </a:r>
            <a:endParaRPr sz="2800"/>
          </a:p>
          <a:p>
            <a:pPr marL="0" indent="0" algn="l">
              <a:lnSpc>
                <a:spcPct val="150000"/>
              </a:lnSpc>
            </a:pPr>
            <a:r>
              <a:rPr lang="en-US" b="0" i="1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优势：几何精度高</a:t>
            </a:r>
            <a:endParaRPr lang="en-US" b="0" i="1" u="none" strike="noStrike">
              <a:solidFill>
                <a:schemeClr val="accent1">
                  <a:lumMod val="60000"/>
                  <a:lumOff val="4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b="0" i="1" u="none" strike="noStrike">
                <a:solidFill>
                  <a:srgbClr val="C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局限：成本高、无语义</a:t>
            </a:r>
            <a:endParaRPr lang="en-US" b="0" i="1" u="none" strike="noStrike">
              <a:solidFill>
                <a:srgbClr val="C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128000" y="1524000"/>
            <a:ext cx="3302000" cy="508000"/>
          </a:xfrm>
          <a:prstGeom prst="roundRect">
            <a:avLst>
              <a:gd name="adj" fmla="val 10000"/>
            </a:avLst>
          </a:prstGeom>
          <a:solidFill>
            <a:srgbClr val="1E3C7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8128000" y="1625600"/>
            <a:ext cx="330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 BEV 检测（主流）</a:t>
            </a:r>
            <a:endParaRPr lang="en-US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8255000" y="2222500"/>
            <a:ext cx="3048000" cy="31070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-152400" algn="l">
              <a:lnSpc>
                <a:spcPct val="150000"/>
              </a:lnSpc>
              <a:buClr>
                <a:srgbClr val="69788C"/>
              </a:buClr>
              <a:buChar char="•"/>
              <a:defRPr/>
            </a:pPr>
            <a:r>
              <a:rPr lang="en-US" b="1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纯相机 BEV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BEVFormer、DETR3D、PETR</a:t>
            </a:r>
            <a:endParaRPr lang="en-US" sz="1600"/>
          </a:p>
          <a:p>
            <a:pPr marL="152400" indent="-152400" algn="l">
              <a:lnSpc>
                <a:spcPct val="150000"/>
              </a:lnSpc>
              <a:buClr>
                <a:srgbClr val="69788C"/>
              </a:buClr>
              <a:buChar char="•"/>
            </a:pPr>
            <a:r>
              <a:rPr lang="en-US" b="1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相机+LiDAR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早期融合/晚期融合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-152400" algn="l">
              <a:lnSpc>
                <a:spcPct val="150000"/>
              </a:lnSpc>
              <a:buClr>
                <a:srgbClr val="69788C"/>
              </a:buClr>
              <a:buChar char="•"/>
            </a:pPr>
            <a:r>
              <a:rPr lang="en-US" b="1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多传感器融合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Camera+LiDAR+Radar</a:t>
            </a:r>
            <a:endParaRPr sz="2800"/>
          </a:p>
          <a:p>
            <a:pPr marL="0" indent="0" algn="l">
              <a:lnSpc>
                <a:spcPct val="150000"/>
              </a:lnSpc>
            </a:pPr>
            <a:r>
              <a:rPr lang="en-US" b="0" i="1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优势：统一表示、鲁棒性强</a:t>
            </a:r>
            <a:endParaRPr lang="en-US" b="0" i="1" u="none" strike="noStrike">
              <a:solidFill>
                <a:schemeClr val="accent1">
                  <a:lumMod val="60000"/>
                  <a:lumOff val="4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b="0" i="1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方向：时序融合、Occupancy</a:t>
            </a:r>
            <a:endParaRPr lang="en-US" b="0" i="1" u="none" strike="noStrike">
              <a:solidFill>
                <a:srgbClr val="1E3C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 txBox="1"/>
          <p:nvPr/>
        </p:nvSpPr>
        <p:spPr>
          <a:xfrm>
            <a:off x="762000" y="63500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 / 25</a:t>
            </a:r>
            <a:endParaRPr lang="en-US" sz="1100"/>
          </a:p>
        </p:txBody>
      </p:sp>
      <p:grpSp>
        <p:nvGrpSpPr>
          <p:cNvPr id="76" name="组合 75"/>
          <p:cNvGrpSpPr/>
          <p:nvPr/>
        </p:nvGrpSpPr>
        <p:grpSpPr>
          <a:xfrm>
            <a:off x="517625" y="292500"/>
            <a:ext cx="3429000" cy="1663700"/>
            <a:chOff x="508000" y="254000"/>
            <a:chExt cx="3429000" cy="1663700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8000" y="379580"/>
              <a:ext cx="3429000" cy="0"/>
            </a:xfrm>
            <a:prstGeom prst="line">
              <a:avLst/>
            </a:prstGeom>
            <a:ln w="19050">
              <a:gradFill>
                <a:gsLst>
                  <a:gs pos="3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660400" y="254000"/>
              <a:ext cx="0" cy="166370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4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文本框 73"/>
          <p:cNvSpPr txBox="1"/>
          <p:nvPr/>
        </p:nvSpPr>
        <p:spPr>
          <a:xfrm>
            <a:off x="666750" y="455930"/>
            <a:ext cx="1103947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目标检测演进（二）：3</a:t>
            </a:r>
            <a:r>
              <a:rPr lang="en-US" altLang="zh-CN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D </a:t>
            </a:r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检测与 </a:t>
            </a:r>
            <a:r>
              <a:rPr lang="en-US" altLang="zh-CN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BEV </a:t>
            </a:r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检测</a:t>
            </a:r>
            <a:endParaRPr lang="zh-CN" altLang="en-US" sz="3200" dirty="0">
              <a:solidFill>
                <a:schemeClr val="accent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锐字奥运精神拼搏简免费-闪" panose="02010604000000000000" charset="-122"/>
              <a:ea typeface="锐字奥运精神拼搏简免费-闪" panose="02010604000000000000" charset="-122"/>
              <a:cs typeface="锐字奥运精神拼搏简免费-闪" panose="02010604000000000000" charset="-122"/>
            </a:endParaRPr>
          </a:p>
        </p:txBody>
      </p:sp>
      <p:sp>
        <p:nvSpPr>
          <p:cNvPr id="85" name="圆角矩形 84"/>
          <p:cNvSpPr/>
          <p:nvPr/>
        </p:nvSpPr>
        <p:spPr>
          <a:xfrm>
            <a:off x="517525" y="5758815"/>
            <a:ext cx="11255375" cy="704215"/>
          </a:xfrm>
          <a:prstGeom prst="roundRect">
            <a:avLst>
              <a:gd name="adj" fmla="val 10685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演进路径：2</a:t>
            </a:r>
            <a:r>
              <a:rPr lang="en-US" altLang="zh-CN" sz="2000"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D </a:t>
            </a:r>
            <a:r>
              <a:rPr lang="zh-CN" altLang="en-US" sz="2000"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框检测 → 3</a:t>
            </a:r>
            <a:r>
              <a:rPr lang="en-US" altLang="zh-CN" sz="2000"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D </a:t>
            </a:r>
            <a:r>
              <a:rPr lang="zh-CN" altLang="en-US" sz="2000"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点云检测 → </a:t>
            </a:r>
            <a:r>
              <a:rPr lang="en-US" altLang="zh-CN" sz="2000"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BEV </a:t>
            </a:r>
            <a:r>
              <a:rPr lang="zh-CN" altLang="en-US" sz="2000"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统一表示检测 → 多模态时序融合</a:t>
            </a:r>
            <a:endParaRPr lang="zh-CN" altLang="en-US" sz="2000">
              <a:latin typeface="锐字奥运精神拼搏简免费-闪" panose="02010604000000000000" charset="-122"/>
              <a:ea typeface="锐字奥运精神拼搏简免费-闪" panose="02010604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:/Users/Mindburglar/Desktop/微信图片_20251027180943_217_144.png微信图片_20251027180943_217_1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5756" b="5756"/>
          <a:stretch>
            <a:fillRect/>
          </a:stretch>
        </p:blipFill>
        <p:spPr>
          <a:xfrm>
            <a:off x="729163" y="1850468"/>
            <a:ext cx="4950767" cy="173293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14300" dist="127000" dir="2700000" algn="ctr" rotWithShape="0">
              <a:prstClr val="black">
                <a:alpha val="10000"/>
              </a:prstClr>
            </a:outerShdw>
          </a:effectLst>
        </p:spPr>
      </p:pic>
      <p:grpSp>
        <p:nvGrpSpPr>
          <p:cNvPr id="13" name="组合 12"/>
          <p:cNvGrpSpPr/>
          <p:nvPr/>
        </p:nvGrpSpPr>
        <p:grpSpPr>
          <a:xfrm>
            <a:off x="517625" y="292500"/>
            <a:ext cx="3429000" cy="1663700"/>
            <a:chOff x="508000" y="254000"/>
            <a:chExt cx="3429000" cy="1663700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508000" y="379580"/>
              <a:ext cx="3429000" cy="0"/>
            </a:xfrm>
            <a:prstGeom prst="line">
              <a:avLst/>
            </a:prstGeom>
            <a:ln w="19050">
              <a:gradFill>
                <a:gsLst>
                  <a:gs pos="3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660400" y="254000"/>
              <a:ext cx="0" cy="166370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4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1" name="直接连接符 90"/>
          <p:cNvCxnSpPr/>
          <p:nvPr>
            <p:custDataLst>
              <p:tags r:id="rId3"/>
            </p:custDataLst>
          </p:nvPr>
        </p:nvCxnSpPr>
        <p:spPr>
          <a:xfrm>
            <a:off x="849436" y="3763010"/>
            <a:ext cx="4950767" cy="0"/>
          </a:xfrm>
          <a:prstGeom prst="line">
            <a:avLst/>
          </a:prstGeom>
          <a:ln>
            <a:solidFill>
              <a:schemeClr val="accent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组合 91"/>
          <p:cNvGrpSpPr/>
          <p:nvPr>
            <p:custDataLst>
              <p:tags r:id="rId4"/>
            </p:custDataLst>
          </p:nvPr>
        </p:nvGrpSpPr>
        <p:grpSpPr>
          <a:xfrm>
            <a:off x="5941275" y="1870177"/>
            <a:ext cx="5565140" cy="1680210"/>
            <a:chOff x="5887260" y="1316082"/>
            <a:chExt cx="5565139" cy="1680210"/>
          </a:xfrm>
        </p:grpSpPr>
        <p:sp>
          <p:nvSpPr>
            <p:cNvPr id="93" name="佳佳PPT"/>
            <p:cNvSpPr/>
            <p:nvPr>
              <p:custDataLst>
                <p:tags r:id="rId5"/>
              </p:custDataLst>
            </p:nvPr>
          </p:nvSpPr>
          <p:spPr>
            <a:xfrm>
              <a:off x="6304455" y="1570082"/>
              <a:ext cx="5147944" cy="142621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  <a:effectLst>
              <a:outerShdw blurRad="114300" dist="127000" dir="2700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94" name="文本框 45"/>
            <p:cNvSpPr txBox="1"/>
            <p:nvPr>
              <p:custDataLst>
                <p:tags r:id="rId6"/>
              </p:custDataLst>
            </p:nvPr>
          </p:nvSpPr>
          <p:spPr>
            <a:xfrm>
              <a:off x="6404322" y="1825771"/>
              <a:ext cx="4233465" cy="11703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45720" rIns="0" bIns="45720" anchor="t" anchorCtr="0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buSzPct val="25000"/>
                <a:defRPr kumimoji="0" sz="1200" b="0" i="0" u="none" strike="noStrike" cap="none" normalizeH="0" baseline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800" b="1" dirty="0">
                  <a:latin typeface="黑体" panose="02010609060101010101" charset="-122"/>
                  <a:ea typeface="黑体" panose="02010609060101010101" charset="-122"/>
                </a:rPr>
                <a:t>• </a:t>
              </a:r>
              <a:r>
                <a:rPr lang="zh-CN" altLang="en-US" sz="1800" b="1" dirty="0">
                  <a:latin typeface="黑体" panose="02010609060101010101" charset="-122"/>
                  <a:ea typeface="黑体" panose="02010609060101010101" charset="-122"/>
                </a:rPr>
                <a:t>使用摄像头感知环境</a:t>
              </a:r>
              <a:endParaRPr lang="zh-CN" altLang="en-US" sz="1800" b="1" dirty="0">
                <a:latin typeface="黑体" panose="02010609060101010101" charset="-122"/>
                <a:ea typeface="黑体" panose="02010609060101010101" charset="-122"/>
              </a:endParaRPr>
            </a:p>
            <a:p>
              <a:r>
                <a:rPr lang="en-US" altLang="zh-CN" sz="1800" b="1" dirty="0">
                  <a:latin typeface="黑体" panose="02010609060101010101" charset="-122"/>
                  <a:ea typeface="黑体" panose="02010609060101010101" charset="-122"/>
                </a:rPr>
                <a:t>• </a:t>
              </a:r>
              <a:r>
                <a:rPr lang="zh-CN" altLang="en-US" sz="1800" b="1" dirty="0">
                  <a:latin typeface="黑体" panose="02010609060101010101" charset="-122"/>
                  <a:ea typeface="黑体" panose="02010609060101010101" charset="-122"/>
                </a:rPr>
                <a:t>成本低、实现简单</a:t>
              </a:r>
              <a:endParaRPr lang="zh-CN" altLang="en-US" sz="1800" b="1" dirty="0">
                <a:latin typeface="黑体" panose="02010609060101010101" charset="-122"/>
                <a:ea typeface="黑体" panose="02010609060101010101" charset="-122"/>
              </a:endParaRPr>
            </a:p>
            <a:p>
              <a:r>
                <a:rPr lang="en-US" altLang="zh-CN" sz="1800" b="1" dirty="0">
                  <a:latin typeface="黑体" panose="02010609060101010101" charset="-122"/>
                  <a:ea typeface="黑体" panose="02010609060101010101" charset="-122"/>
                </a:rPr>
                <a:t>• </a:t>
              </a:r>
              <a:r>
                <a:rPr lang="zh-CN" altLang="en-US" sz="1800" b="1" dirty="0">
                  <a:latin typeface="黑体" panose="02010609060101010101" charset="-122"/>
                  <a:ea typeface="黑体" panose="02010609060101010101" charset="-122"/>
                </a:rPr>
                <a:t>但对光照、雨雪等天气敏感</a:t>
              </a:r>
              <a:endParaRPr lang="zh-CN" altLang="en-US" sz="1800" b="1" dirty="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95" name="平行四边形 94"/>
            <p:cNvSpPr/>
            <p:nvPr>
              <p:custDataLst>
                <p:tags r:id="rId7"/>
              </p:custDataLst>
            </p:nvPr>
          </p:nvSpPr>
          <p:spPr>
            <a:xfrm>
              <a:off x="10307337" y="2629778"/>
              <a:ext cx="1145041" cy="188164"/>
            </a:xfrm>
            <a:prstGeom prst="parallelogram">
              <a:avLst/>
            </a:prstGeom>
            <a:gradFill>
              <a:gsLst>
                <a:gs pos="0">
                  <a:schemeClr val="accent1"/>
                </a:gs>
                <a:gs pos="100000">
                  <a:srgbClr val="FFFFFF">
                    <a:alpha val="30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rgbClr val="6096E6">
                <a:shade val="50000"/>
              </a:srgbClr>
            </a:lnRef>
            <a:fillRef idx="1">
              <a:srgbClr val="6096E6"/>
            </a:fillRef>
            <a:effectRef idx="0">
              <a:srgbClr val="6096E6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>
                  <a:solidFill>
                    <a:srgbClr val="FFFFFF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endParaRPr>
            </a:p>
          </p:txBody>
        </p:sp>
        <p:sp>
          <p:nvSpPr>
            <p:cNvPr id="96" name="燕尾形 121"/>
            <p:cNvSpPr/>
            <p:nvPr>
              <p:custDataLst>
                <p:tags r:id="rId8"/>
              </p:custDataLst>
            </p:nvPr>
          </p:nvSpPr>
          <p:spPr>
            <a:xfrm>
              <a:off x="6151420" y="1403077"/>
              <a:ext cx="2910839" cy="422910"/>
            </a:xfrm>
            <a:prstGeom prst="chevron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>
                  <a:solidFill>
                    <a:srgbClr val="FFFFFF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7" name="燕尾形 122"/>
            <p:cNvSpPr/>
            <p:nvPr>
              <p:custDataLst>
                <p:tags r:id="rId9"/>
              </p:custDataLst>
            </p:nvPr>
          </p:nvSpPr>
          <p:spPr>
            <a:xfrm>
              <a:off x="5887260" y="1316082"/>
              <a:ext cx="3119754" cy="45466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  <a:effectLst>
              <a:outerShdw blurRad="114300" dist="127000" dir="2700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98" name="文本框 49"/>
            <p:cNvSpPr txBox="1"/>
            <p:nvPr>
              <p:custDataLst>
                <p:tags r:id="rId10"/>
              </p:custDataLst>
            </p:nvPr>
          </p:nvSpPr>
          <p:spPr>
            <a:xfrm>
              <a:off x="5996480" y="1355452"/>
              <a:ext cx="3205479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纯视觉方案（</a:t>
              </a:r>
              <a:r>
                <a:rPr lang="en-US" altLang="zh-CN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Tesla</a:t>
              </a:r>
              <a:r>
                <a:rPr lang="zh-CN" alt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主导</a:t>
              </a:r>
              <a:r>
                <a:rPr lang="zh-CN" altLang="en-U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）</a:t>
              </a:r>
              <a:endPara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669925" y="1152525"/>
            <a:ext cx="23609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技术路径对比</a:t>
            </a:r>
            <a:endParaRPr lang="zh-CN" altLang="en-US" sz="2400" b="1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1"/>
            </p:custDataLst>
          </p:nvPr>
        </p:nvGrpSpPr>
        <p:grpSpPr>
          <a:xfrm>
            <a:off x="608545" y="4195547"/>
            <a:ext cx="5596890" cy="1680210"/>
            <a:chOff x="5855510" y="1316082"/>
            <a:chExt cx="5596889" cy="1680210"/>
          </a:xfrm>
        </p:grpSpPr>
        <p:sp>
          <p:nvSpPr>
            <p:cNvPr id="8" name="佳佳PPT"/>
            <p:cNvSpPr/>
            <p:nvPr>
              <p:custDataLst>
                <p:tags r:id="rId12"/>
              </p:custDataLst>
            </p:nvPr>
          </p:nvSpPr>
          <p:spPr>
            <a:xfrm>
              <a:off x="6304455" y="1570082"/>
              <a:ext cx="5147944" cy="142621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  <a:effectLst>
              <a:outerShdw blurRad="114300" dist="127000" dir="2700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10" name="文本框 45"/>
            <p:cNvSpPr txBox="1"/>
            <p:nvPr>
              <p:custDataLst>
                <p:tags r:id="rId13"/>
              </p:custDataLst>
            </p:nvPr>
          </p:nvSpPr>
          <p:spPr>
            <a:xfrm>
              <a:off x="6404322" y="1825771"/>
              <a:ext cx="4233465" cy="11703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45720" rIns="0" bIns="45720" anchor="t" anchorCtr="0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buSzPct val="25000"/>
                <a:defRPr kumimoji="0" sz="1200" b="0" i="0" u="none" strike="noStrike" cap="none" normalizeH="0" baseline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800" b="1" dirty="0">
                  <a:latin typeface="黑体" panose="02010609060101010101" charset="-122"/>
                  <a:ea typeface="黑体" panose="02010609060101010101" charset="-122"/>
                </a:rPr>
                <a:t>• </a:t>
              </a:r>
              <a:r>
                <a:rPr lang="zh-CN" altLang="en-US" sz="1800" b="1" dirty="0">
                  <a:latin typeface="黑体" panose="02010609060101010101" charset="-122"/>
                  <a:ea typeface="黑体" panose="02010609060101010101" charset="-122"/>
                </a:rPr>
                <a:t>摄像头</a:t>
              </a:r>
              <a:r>
                <a:rPr lang="en-US" altLang="zh-CN" sz="1800" b="1" dirty="0">
                  <a:latin typeface="黑体" panose="02010609060101010101" charset="-122"/>
                  <a:ea typeface="黑体" panose="02010609060101010101" charset="-122"/>
                </a:rPr>
                <a:t> + LiDAR + </a:t>
              </a:r>
              <a:r>
                <a:rPr lang="zh-CN" altLang="en-US" sz="1800" b="1" dirty="0">
                  <a:latin typeface="黑体" panose="02010609060101010101" charset="-122"/>
                  <a:ea typeface="黑体" panose="02010609060101010101" charset="-122"/>
                </a:rPr>
                <a:t>毫米波雷达</a:t>
              </a:r>
              <a:endParaRPr lang="zh-CN" altLang="en-US" sz="1800" b="1" dirty="0">
                <a:latin typeface="黑体" panose="02010609060101010101" charset="-122"/>
                <a:ea typeface="黑体" panose="02010609060101010101" charset="-122"/>
              </a:endParaRPr>
            </a:p>
            <a:p>
              <a:r>
                <a:rPr lang="en-US" altLang="zh-CN" sz="1800" b="1" dirty="0">
                  <a:latin typeface="黑体" panose="02010609060101010101" charset="-122"/>
                  <a:ea typeface="黑体" panose="02010609060101010101" charset="-122"/>
                </a:rPr>
                <a:t>• </a:t>
              </a:r>
              <a:r>
                <a:rPr lang="zh-CN" altLang="en-US" sz="1800" b="1" dirty="0">
                  <a:latin typeface="黑体" panose="02010609060101010101" charset="-122"/>
                  <a:ea typeface="黑体" panose="02010609060101010101" charset="-122"/>
                </a:rPr>
                <a:t>感知精度高，适应性强</a:t>
              </a:r>
              <a:endParaRPr lang="zh-CN" altLang="en-US" sz="1800" b="1" dirty="0">
                <a:latin typeface="黑体" panose="02010609060101010101" charset="-122"/>
                <a:ea typeface="黑体" panose="02010609060101010101" charset="-122"/>
              </a:endParaRPr>
            </a:p>
            <a:p>
              <a:r>
                <a:rPr lang="en-US" altLang="zh-CN" sz="1800" b="1" dirty="0">
                  <a:latin typeface="黑体" panose="02010609060101010101" charset="-122"/>
                  <a:ea typeface="黑体" panose="02010609060101010101" charset="-122"/>
                </a:rPr>
                <a:t>• </a:t>
              </a:r>
              <a:r>
                <a:rPr lang="zh-CN" altLang="en-US" sz="1800" b="1" dirty="0">
                  <a:latin typeface="黑体" panose="02010609060101010101" charset="-122"/>
                  <a:ea typeface="黑体" panose="02010609060101010101" charset="-122"/>
                </a:rPr>
                <a:t>成本与系统复杂度较高</a:t>
              </a:r>
              <a:endParaRPr lang="zh-CN" altLang="en-US" sz="1800" b="1" dirty="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1" name="平行四边形 10"/>
            <p:cNvSpPr/>
            <p:nvPr>
              <p:custDataLst>
                <p:tags r:id="rId14"/>
              </p:custDataLst>
            </p:nvPr>
          </p:nvSpPr>
          <p:spPr>
            <a:xfrm>
              <a:off x="10307337" y="2629778"/>
              <a:ext cx="1145041" cy="188164"/>
            </a:xfrm>
            <a:prstGeom prst="parallelogram">
              <a:avLst/>
            </a:prstGeom>
            <a:gradFill>
              <a:gsLst>
                <a:gs pos="0">
                  <a:schemeClr val="accent1"/>
                </a:gs>
                <a:gs pos="100000">
                  <a:srgbClr val="FFFFFF">
                    <a:alpha val="30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rgbClr val="6096E6">
                <a:shade val="50000"/>
              </a:srgbClr>
            </a:lnRef>
            <a:fillRef idx="1">
              <a:srgbClr val="6096E6"/>
            </a:fillRef>
            <a:effectRef idx="0">
              <a:srgbClr val="6096E6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>
                  <a:solidFill>
                    <a:srgbClr val="FFFFFF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endParaRPr>
            </a:p>
          </p:txBody>
        </p:sp>
        <p:sp>
          <p:nvSpPr>
            <p:cNvPr id="14" name="燕尾形 121"/>
            <p:cNvSpPr/>
            <p:nvPr>
              <p:custDataLst>
                <p:tags r:id="rId15"/>
              </p:custDataLst>
            </p:nvPr>
          </p:nvSpPr>
          <p:spPr>
            <a:xfrm>
              <a:off x="6151420" y="1403077"/>
              <a:ext cx="4895849" cy="422910"/>
            </a:xfrm>
            <a:prstGeom prst="chevron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>
                  <a:solidFill>
                    <a:srgbClr val="FFFFFF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5" name="燕尾形 122"/>
            <p:cNvSpPr/>
            <p:nvPr>
              <p:custDataLst>
                <p:tags r:id="rId16"/>
              </p:custDataLst>
            </p:nvPr>
          </p:nvSpPr>
          <p:spPr>
            <a:xfrm>
              <a:off x="5887260" y="1316082"/>
              <a:ext cx="5040629" cy="45466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  <a:effectLst>
              <a:outerShdw blurRad="114300" dist="127000" dir="2700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16" name="文本框 49"/>
            <p:cNvSpPr txBox="1"/>
            <p:nvPr>
              <p:custDataLst>
                <p:tags r:id="rId17"/>
              </p:custDataLst>
            </p:nvPr>
          </p:nvSpPr>
          <p:spPr>
            <a:xfrm>
              <a:off x="5855510" y="1346562"/>
              <a:ext cx="5191759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多传感器融合方案（Waymo / 百度主导）</a:t>
              </a:r>
              <a:endPara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18"/>
          <a:srcRect t="-3035" r="-2772"/>
          <a:stretch>
            <a:fillRect/>
          </a:stretch>
        </p:blipFill>
        <p:spPr>
          <a:xfrm>
            <a:off x="6304915" y="3971290"/>
            <a:ext cx="5139055" cy="2243455"/>
          </a:xfrm>
          <a:prstGeom prst="round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666750" y="455930"/>
            <a:ext cx="1103947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目标检测演进（二）：3</a:t>
            </a:r>
            <a:r>
              <a:rPr lang="en-US" altLang="zh-CN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D </a:t>
            </a:r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检测与 </a:t>
            </a:r>
            <a:r>
              <a:rPr lang="en-US" altLang="zh-CN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BEV </a:t>
            </a:r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检测</a:t>
            </a:r>
            <a:endParaRPr lang="zh-CN" altLang="en-US" sz="3200" dirty="0">
              <a:solidFill>
                <a:schemeClr val="accent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锐字奥运精神拼搏简免费-闪" panose="02010604000000000000" charset="-122"/>
              <a:ea typeface="锐字奥运精神拼搏简免费-闪" panose="02010604000000000000" charset="-122"/>
              <a:cs typeface="锐字奥运精神拼搏简免费-闪" panose="02010604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燕尾形 122"/>
          <p:cNvSpPr/>
          <p:nvPr>
            <p:custDataLst>
              <p:tags r:id="rId1"/>
            </p:custDataLst>
          </p:nvPr>
        </p:nvSpPr>
        <p:spPr>
          <a:xfrm>
            <a:off x="6942455" y="1403350"/>
            <a:ext cx="3429635" cy="553085"/>
          </a:xfrm>
          <a:prstGeom prst="chevron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114300" dist="127000" dir="2700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</p:txBody>
      </p:sp>
      <p:sp>
        <p:nvSpPr>
          <p:cNvPr id="97" name="燕尾形 122"/>
          <p:cNvSpPr/>
          <p:nvPr>
            <p:custDataLst>
              <p:tags r:id="rId2"/>
            </p:custDataLst>
          </p:nvPr>
        </p:nvSpPr>
        <p:spPr>
          <a:xfrm>
            <a:off x="302260" y="1403350"/>
            <a:ext cx="4948555" cy="553085"/>
          </a:xfrm>
          <a:prstGeom prst="chevron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114300" dist="127000" dir="2700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</p:txBody>
      </p:sp>
      <p:sp>
        <p:nvSpPr>
          <p:cNvPr id="16" name="圆角矩形 15"/>
          <p:cNvSpPr/>
          <p:nvPr>
            <p:custDataLst>
              <p:tags r:id="rId3"/>
            </p:custDataLst>
          </p:nvPr>
        </p:nvSpPr>
        <p:spPr>
          <a:xfrm>
            <a:off x="4791075" y="2397125"/>
            <a:ext cx="1590040" cy="22923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4"/>
            </p:custDataLst>
          </p:nvPr>
        </p:nvSpPr>
        <p:spPr>
          <a:xfrm>
            <a:off x="2510155" y="2371725"/>
            <a:ext cx="1771015" cy="22923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1" name="圆角矩形 60"/>
          <p:cNvSpPr/>
          <p:nvPr>
            <p:custDataLst>
              <p:tags r:id="rId5"/>
            </p:custDataLst>
          </p:nvPr>
        </p:nvSpPr>
        <p:spPr>
          <a:xfrm>
            <a:off x="410210" y="2371725"/>
            <a:ext cx="1590040" cy="22923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762000" y="147701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多目标跟踪 (MOT) 技术演进</a:t>
            </a:r>
            <a:endParaRPr lang="en-US" sz="2400" b="1" i="0" u="none" strike="noStrike">
              <a:solidFill>
                <a:schemeClr val="accent1">
                  <a:lumMod val="60000"/>
                  <a:lumOff val="4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580390" y="2849245"/>
            <a:ext cx="165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传统方法</a:t>
            </a:r>
            <a:endParaRPr lang="en-US" sz="1600"/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卡尔曼滤波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图搜索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匈牙利匹配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85925">
            <a:off x="2000329" y="3350895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9788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7" name="AutoShape 7"/>
          <p:cNvSpPr txBox="1"/>
          <p:nvPr/>
        </p:nvSpPr>
        <p:spPr>
          <a:xfrm>
            <a:off x="2739390" y="2849245"/>
            <a:ext cx="165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神经网络方法</a:t>
            </a:r>
            <a:endParaRPr lang="en-US" sz="1600"/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CNN 特征提取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RNN / LSTM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数据关联学习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-85925">
            <a:off x="4283154" y="3350895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9788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9" name="AutoShape 9"/>
          <p:cNvSpPr txBox="1"/>
          <p:nvPr/>
        </p:nvSpPr>
        <p:spPr>
          <a:xfrm>
            <a:off x="4898390" y="2849245"/>
            <a:ext cx="1337945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端到端</a:t>
            </a:r>
            <a:endParaRPr lang="en-US" sz="1600"/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MOTR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TrackFormer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UniAD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7382510" y="147701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chemeClr val="accent2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场景理解任务</a:t>
            </a:r>
            <a:endParaRPr lang="en-US" sz="2400" b="1" i="0" u="none" strike="noStrike">
              <a:solidFill>
                <a:schemeClr val="accent2">
                  <a:lumMod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 txBox="1"/>
          <p:nvPr/>
        </p:nvSpPr>
        <p:spPr>
          <a:xfrm>
            <a:off x="6976745" y="2145665"/>
            <a:ext cx="4729480" cy="27444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  <a:defRPr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语义分割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像素级类别标注</a:t>
            </a:r>
            <a:endParaRPr lang="en-US" sz="1600"/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实例分割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区分同一类别的不同个体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全景分割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语义+实例统一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深度估计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单目/双目/LiDAR引导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光流/场景流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像素运动、3D运动场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517625" y="292500"/>
            <a:ext cx="3429000" cy="1663700"/>
            <a:chOff x="508000" y="254000"/>
            <a:chExt cx="3429000" cy="1663700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8000" y="379580"/>
              <a:ext cx="3429000" cy="0"/>
            </a:xfrm>
            <a:prstGeom prst="line">
              <a:avLst/>
            </a:prstGeom>
            <a:ln w="19050">
              <a:gradFill>
                <a:gsLst>
                  <a:gs pos="3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660400" y="254000"/>
              <a:ext cx="0" cy="166370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4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文本框 73"/>
          <p:cNvSpPr txBox="1"/>
          <p:nvPr/>
        </p:nvSpPr>
        <p:spPr>
          <a:xfrm>
            <a:off x="666750" y="455930"/>
            <a:ext cx="1103947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跟踪技术演进与场景理解</a:t>
            </a:r>
            <a:endParaRPr lang="zh-CN" altLang="en-US" sz="3200" dirty="0">
              <a:solidFill>
                <a:schemeClr val="accent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锐字奥运精神拼搏简免费-闪" panose="02010604000000000000" charset="-122"/>
              <a:ea typeface="锐字奥运精神拼搏简免费-闪" panose="02010604000000000000" charset="-122"/>
              <a:cs typeface="锐字奥运精神拼搏简免费-闪" panose="02010604000000000000" charset="-122"/>
            </a:endParaRPr>
          </a:p>
        </p:txBody>
      </p:sp>
      <p:sp>
        <p:nvSpPr>
          <p:cNvPr id="85" name="圆角矩形 84"/>
          <p:cNvSpPr/>
          <p:nvPr/>
        </p:nvSpPr>
        <p:spPr>
          <a:xfrm>
            <a:off x="450850" y="5386705"/>
            <a:ext cx="11255375" cy="1092200"/>
          </a:xfrm>
          <a:prstGeom prst="roundRect">
            <a:avLst>
              <a:gd name="adj" fmla="val 10685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核心作用：为检测、跟踪、规划提供像素级/点级语义信息，是环境理解的底层支撑。</a:t>
            </a:r>
            <a:endParaRPr lang="zh-CN" altLang="en-US" sz="2000">
              <a:latin typeface="锐字奥运精神拼搏简免费-闪" panose="02010604000000000000" charset="-122"/>
              <a:ea typeface="锐字奥运精神拼搏简免费-闪" panose="02010604000000000000" charset="-122"/>
            </a:endParaRPr>
          </a:p>
          <a:p>
            <a:pPr algn="ctr"/>
            <a:r>
              <a:rPr lang="zh-CN" altLang="en-US" sz="2000"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趋势：从单任务走向多任务统一，从2</a:t>
            </a:r>
            <a:r>
              <a:rPr lang="en-US" altLang="zh-CN" sz="2000"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D</a:t>
            </a:r>
            <a:r>
              <a:rPr lang="zh-CN" altLang="en-US" sz="2000"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走向</a:t>
            </a:r>
            <a:r>
              <a:rPr lang="en-US" altLang="zh-CN" sz="2000"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BEV 3D</a:t>
            </a:r>
            <a:r>
              <a:rPr lang="zh-CN" altLang="en-US" sz="2000"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表示，从静态走向动态时序建模。</a:t>
            </a:r>
            <a:endParaRPr lang="zh-CN" altLang="en-US" sz="2000">
              <a:latin typeface="锐字奥运精神拼搏简免费-闪" panose="02010604000000000000" charset="-122"/>
              <a:ea typeface="锐字奥运精神拼搏简免费-闪" panose="02010604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3"/>
          <p:cNvCxnSpPr/>
          <p:nvPr/>
        </p:nvCxnSpPr>
        <p:spPr>
          <a:xfrm rot="-57290">
            <a:off x="762053" y="1136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19D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669925" y="1650365"/>
            <a:ext cx="5380990" cy="1143635"/>
          </a:xfrm>
          <a:prstGeom prst="roundRect">
            <a:avLst>
              <a:gd name="adj" fmla="val 7500"/>
            </a:avLst>
          </a:prstGeom>
          <a:solidFill>
            <a:srgbClr val="519D7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875665" y="1841500"/>
            <a:ext cx="5101590" cy="7854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b="1" i="0" u="none" strike="noStrike">
                <a:solidFill>
                  <a:srgbClr val="519D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传感器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：单传感器 → 多传感器 → 多模态融合</a:t>
            </a:r>
            <a:endParaRPr lang="en-US" sz="1600"/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从各自为战到互补增强，标定与同步复杂度上升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50000" y="1650365"/>
            <a:ext cx="5288915" cy="1143635"/>
          </a:xfrm>
          <a:prstGeom prst="roundRect">
            <a:avLst>
              <a:gd name="adj" fmla="val 7500"/>
            </a:avLst>
          </a:prstGeom>
          <a:solidFill>
            <a:srgbClr val="519D7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6604000" y="1841500"/>
            <a:ext cx="5101590" cy="7854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b="1" i="0" u="none" strike="noStrike">
                <a:solidFill>
                  <a:srgbClr val="519D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环境模型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：2D → 3D → BEV → Occupancy</a:t>
            </a:r>
            <a:endParaRPr lang="en-US" sz="1600"/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从稀疏检测框到稠密3D占用，表示越来越统一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69925" y="2920365"/>
            <a:ext cx="5380990" cy="1143635"/>
          </a:xfrm>
          <a:prstGeom prst="roundRect">
            <a:avLst>
              <a:gd name="adj" fmla="val 7500"/>
            </a:avLst>
          </a:prstGeom>
          <a:solidFill>
            <a:srgbClr val="519D7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875665" y="3111500"/>
            <a:ext cx="5101590" cy="7854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b="1" i="0" u="none" strike="noStrike">
                <a:solidFill>
                  <a:srgbClr val="519D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目标检测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：2D 框 → 3D 框 → BEV 检测 → 时空融合</a:t>
            </a:r>
            <a:endParaRPr lang="en-US" sz="1600"/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Faster R-CNN 奠基，BEVFormer 开创时空融合范式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350000" y="2920365"/>
            <a:ext cx="5288915" cy="1143635"/>
          </a:xfrm>
          <a:prstGeom prst="roundRect">
            <a:avLst>
              <a:gd name="adj" fmla="val 7500"/>
            </a:avLst>
          </a:prstGeom>
          <a:solidFill>
            <a:srgbClr val="519D7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6604000" y="3111500"/>
            <a:ext cx="5101590" cy="7854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b="1" i="0" u="none" strike="noStrike">
                <a:solidFill>
                  <a:srgbClr val="519D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跟踪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：传统滤波 → 神经网络 → 端到端</a:t>
            </a:r>
            <a:endParaRPr lang="en-US" sz="1600"/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从分离式检测+关联到端到端联合优化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664710"/>
            <a:ext cx="10668000" cy="1143000"/>
          </a:xfrm>
          <a:prstGeom prst="roundRect">
            <a:avLst>
              <a:gd name="adj" fmla="val 6666"/>
            </a:avLst>
          </a:prstGeom>
          <a:solidFill>
            <a:srgbClr val="1E3C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1143000" y="4855210"/>
            <a:ext cx="990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总体趋势：</a:t>
            </a:r>
            <a:r>
              <a:rPr lang="en-US" sz="2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统一表示 · 时序融合 · 多任务协同 · 端到端</a:t>
            </a:r>
            <a:endParaRPr lang="en-US" sz="1600"/>
          </a:p>
          <a:p>
            <a:pPr marL="0" indent="0" algn="l">
              <a:lnSpc>
                <a:spcPct val="133000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感知不再是独立模块，而是与预测、规划深度耦合，向"规划导向"的方向演进</a:t>
            </a:r>
            <a:endParaRPr lang="en-US" sz="20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517625" y="292500"/>
            <a:ext cx="3429000" cy="1663700"/>
            <a:chOff x="508000" y="254000"/>
            <a:chExt cx="3429000" cy="1663700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8000" y="379580"/>
              <a:ext cx="3429000" cy="0"/>
            </a:xfrm>
            <a:prstGeom prst="line">
              <a:avLst/>
            </a:prstGeom>
            <a:ln w="19050">
              <a:gradFill>
                <a:gsLst>
                  <a:gs pos="3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660400" y="254000"/>
              <a:ext cx="0" cy="166370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4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文本框 73"/>
          <p:cNvSpPr txBox="1"/>
          <p:nvPr/>
        </p:nvSpPr>
        <p:spPr>
          <a:xfrm>
            <a:off x="666750" y="455930"/>
            <a:ext cx="1103947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感知模块演进小结</a:t>
            </a:r>
            <a:endParaRPr lang="zh-CN" altLang="en-US" sz="3200" dirty="0">
              <a:solidFill>
                <a:schemeClr val="accent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锐字奥运精神拼搏简免费-闪" panose="02010604000000000000" charset="-122"/>
              <a:ea typeface="锐字奥运精神拼搏简免费-闪" panose="02010604000000000000" charset="-122"/>
              <a:cs typeface="锐字奥运精神拼搏简免费-闪" panose="02010604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蓝色的高楼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76171" cy="6858000"/>
          </a:xfrm>
          <a:prstGeom prst="rect">
            <a:avLst/>
          </a:prstGeom>
        </p:spPr>
      </p:pic>
      <p:sp>
        <p:nvSpPr>
          <p:cNvPr id="4" name="任意多边形: 形状 3"/>
          <p:cNvSpPr/>
          <p:nvPr/>
        </p:nvSpPr>
        <p:spPr>
          <a:xfrm>
            <a:off x="1" y="0"/>
            <a:ext cx="12276171" cy="6858000"/>
          </a:xfrm>
          <a:custGeom>
            <a:avLst/>
            <a:gdLst>
              <a:gd name="connsiteX0" fmla="*/ 9083451 w 12276171"/>
              <a:gd name="connsiteY0" fmla="*/ 0 h 6858000"/>
              <a:gd name="connsiteX1" fmla="*/ 12276171 w 12276171"/>
              <a:gd name="connsiteY1" fmla="*/ 0 h 6858000"/>
              <a:gd name="connsiteX2" fmla="*/ 12276171 w 12276171"/>
              <a:gd name="connsiteY2" fmla="*/ 6858000 h 6858000"/>
              <a:gd name="connsiteX3" fmla="*/ 9083453 w 12276171"/>
              <a:gd name="connsiteY3" fmla="*/ 6858000 h 6858000"/>
              <a:gd name="connsiteX4" fmla="*/ 9154685 w 12276171"/>
              <a:gd name="connsiteY4" fmla="*/ 6796298 h 6858000"/>
              <a:gd name="connsiteX5" fmla="*/ 10645060 w 12276171"/>
              <a:gd name="connsiteY5" fmla="*/ 3429001 h 6858000"/>
              <a:gd name="connsiteX6" fmla="*/ 9154685 w 12276171"/>
              <a:gd name="connsiteY6" fmla="*/ 61705 h 6858000"/>
              <a:gd name="connsiteX7" fmla="*/ 0 w 12276171"/>
              <a:gd name="connsiteY7" fmla="*/ 0 h 6858000"/>
              <a:gd name="connsiteX8" fmla="*/ 3108549 w 12276171"/>
              <a:gd name="connsiteY8" fmla="*/ 0 h 6858000"/>
              <a:gd name="connsiteX9" fmla="*/ 3037315 w 12276171"/>
              <a:gd name="connsiteY9" fmla="*/ 61705 h 6858000"/>
              <a:gd name="connsiteX10" fmla="*/ 1546940 w 12276171"/>
              <a:gd name="connsiteY10" fmla="*/ 3429001 h 6858000"/>
              <a:gd name="connsiteX11" fmla="*/ 3037315 w 12276171"/>
              <a:gd name="connsiteY11" fmla="*/ 6796298 h 6858000"/>
              <a:gd name="connsiteX12" fmla="*/ 3108547 w 12276171"/>
              <a:gd name="connsiteY12" fmla="*/ 6858000 h 6858000"/>
              <a:gd name="connsiteX13" fmla="*/ 0 w 12276171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76171" h="6858000">
                <a:moveTo>
                  <a:pt x="9083451" y="0"/>
                </a:moveTo>
                <a:lnTo>
                  <a:pt x="12276171" y="0"/>
                </a:lnTo>
                <a:lnTo>
                  <a:pt x="12276171" y="6858000"/>
                </a:lnTo>
                <a:lnTo>
                  <a:pt x="9083453" y="6858000"/>
                </a:lnTo>
                <a:lnTo>
                  <a:pt x="9154685" y="6796298"/>
                </a:lnTo>
                <a:cubicBezTo>
                  <a:pt x="10070254" y="5964148"/>
                  <a:pt x="10645060" y="4763701"/>
                  <a:pt x="10645060" y="3429001"/>
                </a:cubicBezTo>
                <a:cubicBezTo>
                  <a:pt x="10645060" y="2094301"/>
                  <a:pt x="10070254" y="893855"/>
                  <a:pt x="9154685" y="61705"/>
                </a:cubicBezTo>
                <a:close/>
                <a:moveTo>
                  <a:pt x="0" y="0"/>
                </a:moveTo>
                <a:lnTo>
                  <a:pt x="3108549" y="0"/>
                </a:lnTo>
                <a:lnTo>
                  <a:pt x="3037315" y="61705"/>
                </a:lnTo>
                <a:cubicBezTo>
                  <a:pt x="2121747" y="893855"/>
                  <a:pt x="1546940" y="2094301"/>
                  <a:pt x="1546940" y="3429001"/>
                </a:cubicBezTo>
                <a:cubicBezTo>
                  <a:pt x="1546940" y="4763701"/>
                  <a:pt x="2121747" y="5964148"/>
                  <a:pt x="3037315" y="6796298"/>
                </a:cubicBezTo>
                <a:lnTo>
                  <a:pt x="3108547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3306000" y="639000"/>
            <a:ext cx="5580000" cy="5580000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44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953801" y="4832060"/>
            <a:ext cx="428440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 </a:t>
            </a:r>
            <a:endParaRPr lang="en-US" altLang="zh-CN" sz="140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648328" y="2398880"/>
            <a:ext cx="8895347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+mj-ea"/>
                <a:ea typeface="+mj-ea"/>
              </a:rPr>
              <a:t>规划模块</a:t>
            </a:r>
            <a:endParaRPr lang="zh-CN" altLang="en-US" sz="5400" b="1" dirty="0">
              <a:solidFill>
                <a:schemeClr val="bg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+mj-ea"/>
              <a:ea typeface="+mj-ea"/>
            </a:endParaRPr>
          </a:p>
          <a:p>
            <a:pPr algn="ctr"/>
            <a:r>
              <a:rPr lang="zh-CN" altLang="en-US" sz="5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+mj-ea"/>
                <a:ea typeface="+mj-ea"/>
              </a:rPr>
              <a:t>技术路线演进</a:t>
            </a:r>
            <a:endParaRPr lang="zh-CN" altLang="en-US" sz="5400" b="1" dirty="0">
              <a:solidFill>
                <a:schemeClr val="bg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48328" y="747370"/>
            <a:ext cx="8895347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gradFill>
                  <a:gsLst>
                    <a:gs pos="72000">
                      <a:schemeClr val="bg1">
                        <a:alpha val="0"/>
                      </a:schemeClr>
                    </a:gs>
                    <a:gs pos="0">
                      <a:schemeClr val="accent2">
                        <a:lumMod val="20000"/>
                        <a:lumOff val="80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+mj-ea"/>
                <a:ea typeface="+mj-ea"/>
              </a:rPr>
              <a:t>03</a:t>
            </a:r>
            <a:endParaRPr lang="zh-CN" altLang="en-US" sz="13800" dirty="0">
              <a:gradFill>
                <a:gsLst>
                  <a:gs pos="72000">
                    <a:schemeClr val="bg1">
                      <a:alpha val="0"/>
                    </a:schemeClr>
                  </a:gs>
                  <a:gs pos="0">
                    <a:schemeClr val="accent2">
                      <a:lumMod val="20000"/>
                      <a:lumOff val="80000"/>
                    </a:schemeClr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0894369" y="6060244"/>
            <a:ext cx="819753" cy="262630"/>
            <a:chOff x="10894368" y="6060244"/>
            <a:chExt cx="819753" cy="262630"/>
          </a:xfrm>
        </p:grpSpPr>
        <p:sp>
          <p:nvSpPr>
            <p:cNvPr id="14" name="半闭框 25"/>
            <p:cNvSpPr/>
            <p:nvPr/>
          </p:nvSpPr>
          <p:spPr>
            <a:xfrm rot="8100000">
              <a:off x="11451491" y="6060244"/>
              <a:ext cx="262630" cy="262630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半闭框 25"/>
            <p:cNvSpPr/>
            <p:nvPr/>
          </p:nvSpPr>
          <p:spPr>
            <a:xfrm rot="8100000">
              <a:off x="11172929" y="6060244"/>
              <a:ext cx="262630" cy="262630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半闭框 25"/>
            <p:cNvSpPr/>
            <p:nvPr/>
          </p:nvSpPr>
          <p:spPr>
            <a:xfrm rot="8100000">
              <a:off x="10894368" y="6060244"/>
              <a:ext cx="262630" cy="262630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3512185" y="4044950"/>
            <a:ext cx="51682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Planning</a:t>
            </a:r>
            <a:endParaRPr lang="en-US" altLang="zh-CN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5795187" y="5613401"/>
            <a:ext cx="685800" cy="0"/>
          </a:xfrm>
          <a:prstGeom prst="line">
            <a:avLst/>
          </a:prstGeom>
          <a:ln w="3492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3"/>
          <p:cNvCxnSpPr/>
          <p:nvPr/>
        </p:nvCxnSpPr>
        <p:spPr>
          <a:xfrm rot="-57290">
            <a:off x="762053" y="1136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E3C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1905000" y="1651000"/>
            <a:ext cx="8382000" cy="889000"/>
          </a:xfrm>
          <a:prstGeom prst="roundRect">
            <a:avLst>
              <a:gd name="adj" fmla="val 8571"/>
            </a:avLst>
          </a:prstGeom>
          <a:solidFill>
            <a:srgbClr val="1E3C78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>
            <p:custDataLst>
              <p:tags r:id="rId2"/>
            </p:custDataLst>
          </p:nvPr>
        </p:nvSpPr>
        <p:spPr>
          <a:xfrm>
            <a:off x="2159000" y="18034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全局路径规划</a:t>
            </a:r>
            <a:endParaRPr lang="en-US" sz="14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Global Routing</a:t>
            </a:r>
            <a:endParaRPr lang="en-US" sz="1400" b="1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 txBox="1"/>
          <p:nvPr>
            <p:custDataLst>
              <p:tags r:id="rId3"/>
            </p:custDataLst>
          </p:nvPr>
        </p:nvSpPr>
        <p:spPr>
          <a:xfrm>
            <a:off x="4698365" y="1905000"/>
            <a:ext cx="520763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起点到终点的道路级路径 · Dijkstra / A* / 分层导航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>
            <p:custDataLst>
              <p:tags r:id="rId4"/>
            </p:custDataLst>
          </p:nvPr>
        </p:nvCxnSpPr>
        <p:spPr>
          <a:xfrm rot="5262563">
            <a:off x="5937250" y="2692527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9788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1905000" y="2857500"/>
            <a:ext cx="8382000" cy="889000"/>
          </a:xfrm>
          <a:prstGeom prst="roundRect">
            <a:avLst>
              <a:gd name="adj" fmla="val 8571"/>
            </a:avLst>
          </a:prstGeom>
          <a:solidFill>
            <a:srgbClr val="1E3C78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>
            <p:custDataLst>
              <p:tags r:id="rId6"/>
            </p:custDataLst>
          </p:nvPr>
        </p:nvSpPr>
        <p:spPr>
          <a:xfrm>
            <a:off x="2159000" y="30099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局部行为规划</a:t>
            </a:r>
            <a:endParaRPr lang="en-US" sz="14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Behavioral Planning</a:t>
            </a:r>
            <a:endParaRPr lang="en-US" sz="1400" b="1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 txBox="1"/>
          <p:nvPr>
            <p:custDataLst>
              <p:tags r:id="rId7"/>
            </p:custDataLst>
          </p:nvPr>
        </p:nvSpPr>
        <p:spPr>
          <a:xfrm>
            <a:off x="4699000" y="3111500"/>
            <a:ext cx="558736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跟车、变道、超车、让行、汇入 · 规则 / MDP / DRL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>
            <p:custDataLst>
              <p:tags r:id="rId8"/>
            </p:custDataLst>
          </p:nvPr>
        </p:nvCxnSpPr>
        <p:spPr>
          <a:xfrm rot="5262563">
            <a:off x="5937250" y="3899027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9788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1905000" y="4064000"/>
            <a:ext cx="8382000" cy="889000"/>
          </a:xfrm>
          <a:prstGeom prst="roundRect">
            <a:avLst>
              <a:gd name="adj" fmla="val 8571"/>
            </a:avLst>
          </a:prstGeom>
          <a:solidFill>
            <a:srgbClr val="1E3C78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>
            <p:custDataLst>
              <p:tags r:id="rId10"/>
            </p:custDataLst>
          </p:nvPr>
        </p:nvSpPr>
        <p:spPr>
          <a:xfrm>
            <a:off x="2159000" y="42164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局部轨迹规划</a:t>
            </a:r>
            <a:endParaRPr lang="en-US" sz="14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DCE1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Motion Planning</a:t>
            </a:r>
            <a:endParaRPr lang="en-US" sz="1400" b="1" i="0" u="none" strike="noStrike">
              <a:solidFill>
                <a:srgbClr val="DCE1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 txBox="1"/>
          <p:nvPr>
            <p:custDataLst>
              <p:tags r:id="rId11"/>
            </p:custDataLst>
          </p:nvPr>
        </p:nvSpPr>
        <p:spPr>
          <a:xfrm>
            <a:off x="4698365" y="4235450"/>
            <a:ext cx="529209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生成短期舒适安全轨迹 · Frenet 坐标 / 最优控制 / 学习型</a:t>
            </a:r>
            <a:endParaRPr lang="en-US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 txBox="1"/>
          <p:nvPr/>
        </p:nvSpPr>
        <p:spPr>
          <a:xfrm>
            <a:off x="762000" y="63500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13 / 25</a:t>
            </a:r>
            <a:endParaRPr lang="en-US" sz="1100"/>
          </a:p>
        </p:txBody>
      </p:sp>
      <p:grpSp>
        <p:nvGrpSpPr>
          <p:cNvPr id="76" name="组合 75"/>
          <p:cNvGrpSpPr/>
          <p:nvPr/>
        </p:nvGrpSpPr>
        <p:grpSpPr>
          <a:xfrm>
            <a:off x="517625" y="292500"/>
            <a:ext cx="3429000" cy="1663700"/>
            <a:chOff x="508000" y="254000"/>
            <a:chExt cx="3429000" cy="1663700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8000" y="379580"/>
              <a:ext cx="3429000" cy="0"/>
            </a:xfrm>
            <a:prstGeom prst="line">
              <a:avLst/>
            </a:prstGeom>
            <a:ln w="19050">
              <a:gradFill>
                <a:gsLst>
                  <a:gs pos="3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660400" y="254000"/>
              <a:ext cx="0" cy="166370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4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文本框 73"/>
          <p:cNvSpPr txBox="1"/>
          <p:nvPr/>
        </p:nvSpPr>
        <p:spPr>
          <a:xfrm>
            <a:off x="666750" y="455930"/>
            <a:ext cx="1103947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规划模块总览：路径规划、行为决策、轨迹跟踪</a:t>
            </a:r>
            <a:endParaRPr lang="zh-CN" altLang="en-US" sz="3200" dirty="0">
              <a:solidFill>
                <a:schemeClr val="accent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锐字奥运精神拼搏简免费-闪" panose="02010604000000000000" charset="-122"/>
              <a:ea typeface="锐字奥运精神拼搏简免费-闪" panose="02010604000000000000" charset="-122"/>
              <a:cs typeface="锐字奥运精神拼搏简免费-闪" panose="02010604000000000000" charset="-122"/>
            </a:endParaRPr>
          </a:p>
        </p:txBody>
      </p:sp>
      <p:sp>
        <p:nvSpPr>
          <p:cNvPr id="85" name="圆角矩形 84"/>
          <p:cNvSpPr/>
          <p:nvPr/>
        </p:nvSpPr>
        <p:spPr>
          <a:xfrm>
            <a:off x="1025525" y="5359400"/>
            <a:ext cx="10536555" cy="704215"/>
          </a:xfrm>
          <a:prstGeom prst="roundRect">
            <a:avLst>
              <a:gd name="adj" fmla="val 10685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↓ 轨迹输出给控制器，由 </a:t>
            </a:r>
            <a:r>
              <a:rPr lang="en-US" altLang="zh-CN" sz="2800"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PID / MPC </a:t>
            </a:r>
            <a:r>
              <a:rPr lang="zh-CN" altLang="en-US" sz="2800">
                <a:latin typeface="锐字奥运精神拼搏简免费-闪" panose="02010604000000000000" charset="-122"/>
                <a:ea typeface="锐字奥运精神拼搏简免费-闪" panose="02010604000000000000" charset="-122"/>
              </a:rPr>
              <a:t>完成精确跟踪 ↓</a:t>
            </a:r>
            <a:endParaRPr lang="zh-CN" altLang="en-US" sz="2800">
              <a:latin typeface="锐字奥运精神拼搏简免费-闪" panose="02010604000000000000" charset="-122"/>
              <a:ea typeface="锐字奥运精神拼搏简免费-闪" panose="02010604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3"/>
          <p:cNvCxnSpPr/>
          <p:nvPr/>
        </p:nvCxnSpPr>
        <p:spPr>
          <a:xfrm rot="-57290">
            <a:off x="762053" y="1136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E3C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762000" y="129286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问题：</a:t>
            </a:r>
            <a:r>
              <a:rPr lang="en-US" sz="24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在有向图路网中寻找从起点到终点的最小代价路径</a:t>
            </a:r>
            <a:endParaRPr lang="en-US" sz="24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662940" y="2113915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方法分类</a:t>
            </a:r>
            <a:endParaRPr lang="en-US" sz="2400" b="1" i="0" u="none" strike="noStrike">
              <a:solidFill>
                <a:srgbClr val="1E3C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86740" y="2934970"/>
          <a:ext cx="5080000" cy="280162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3556000"/>
              </a:tblGrid>
              <a:tr h="469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分类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代表方法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8">
                        <a:alpha val="100000"/>
                      </a:srgbClr>
                    </a:solidFill>
                  </a:tcPr>
                </a:tc>
              </a:tr>
              <a:tr h="584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1826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目标导向</a:t>
                      </a:r>
                      <a:endParaRPr lang="en-US" sz="1800" b="1" i="0" u="none" strike="noStrike">
                        <a:solidFill>
                          <a:srgbClr val="18263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6978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Dijkstra、A*、D* 等启发式搜索</a:t>
                      </a:r>
                      <a:endParaRPr lang="en-US" sz="1800" b="0" i="0" u="none" strike="noStrike">
                        <a:solidFill>
                          <a:srgbClr val="69788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4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1826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分隔法</a:t>
                      </a:r>
                      <a:endParaRPr lang="en-US" sz="1800" b="1" i="0" u="none" strike="noStrike">
                        <a:solidFill>
                          <a:srgbClr val="18263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6978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把连续空间划分为网格或路网</a:t>
                      </a:r>
                      <a:endParaRPr lang="en-US" sz="1800" b="0" i="0" u="none" strike="noStrike">
                        <a:solidFill>
                          <a:srgbClr val="69788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4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1826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分层法</a:t>
                      </a:r>
                      <a:endParaRPr lang="en-US" sz="1800" b="1" i="0" u="none" strike="noStrike">
                        <a:solidFill>
                          <a:srgbClr val="18263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6978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高层路网 + 底层细化，提升效率</a:t>
                      </a:r>
                      <a:endParaRPr lang="en-US" sz="1800" b="0" i="0" u="none" strike="noStrike">
                        <a:solidFill>
                          <a:srgbClr val="69788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1826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有界跳法</a:t>
                      </a:r>
                      <a:endParaRPr lang="en-US" sz="1800" b="1" i="0" u="none" strike="noStrike">
                        <a:solidFill>
                          <a:srgbClr val="18263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6978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在有限邻域内跳跃搜索</a:t>
                      </a:r>
                      <a:endParaRPr lang="en-US" sz="1800" b="0" i="0" u="none" strike="noStrike">
                        <a:solidFill>
                          <a:srgbClr val="69788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76" name="组合 75"/>
          <p:cNvGrpSpPr/>
          <p:nvPr/>
        </p:nvGrpSpPr>
        <p:grpSpPr>
          <a:xfrm>
            <a:off x="517625" y="292500"/>
            <a:ext cx="3429000" cy="1663700"/>
            <a:chOff x="508000" y="254000"/>
            <a:chExt cx="3429000" cy="1663700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8000" y="379580"/>
              <a:ext cx="3429000" cy="0"/>
            </a:xfrm>
            <a:prstGeom prst="line">
              <a:avLst/>
            </a:prstGeom>
            <a:ln w="19050">
              <a:gradFill>
                <a:gsLst>
                  <a:gs pos="3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660400" y="254000"/>
              <a:ext cx="0" cy="166370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4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文本框 73"/>
          <p:cNvSpPr txBox="1"/>
          <p:nvPr/>
        </p:nvSpPr>
        <p:spPr>
          <a:xfrm>
            <a:off x="666750" y="455930"/>
            <a:ext cx="1103947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规划模块——全局路径规划演进</a:t>
            </a:r>
            <a:endParaRPr lang="zh-CN" altLang="en-US" sz="3200" dirty="0">
              <a:solidFill>
                <a:schemeClr val="accent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锐字奥运精神拼搏简免费-闪" panose="02010604000000000000" charset="-122"/>
              <a:ea typeface="锐字奥运精神拼搏简免费-闪" panose="02010604000000000000" charset="-122"/>
              <a:cs typeface="锐字奥运精神拼搏简免费-闪" panose="02010604000000000000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1"/>
            </p:custDataLst>
          </p:nvPr>
        </p:nvGrpSpPr>
        <p:grpSpPr>
          <a:xfrm>
            <a:off x="5934075" y="2230755"/>
            <a:ext cx="6024245" cy="4033520"/>
            <a:chOff x="5758770" y="1316082"/>
            <a:chExt cx="5856604" cy="4071994"/>
          </a:xfrm>
        </p:grpSpPr>
        <p:sp>
          <p:nvSpPr>
            <p:cNvPr id="12" name="佳佳PPT"/>
            <p:cNvSpPr/>
            <p:nvPr>
              <p:custDataLst>
                <p:tags r:id="rId2"/>
              </p:custDataLst>
            </p:nvPr>
          </p:nvSpPr>
          <p:spPr>
            <a:xfrm>
              <a:off x="5758770" y="1637893"/>
              <a:ext cx="5856604" cy="3750183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  <a:effectLst>
              <a:outerShdw blurRad="114300" dist="127000" dir="2700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14" name="平行四边形 13"/>
            <p:cNvSpPr/>
            <p:nvPr>
              <p:custDataLst>
                <p:tags r:id="rId3"/>
              </p:custDataLst>
            </p:nvPr>
          </p:nvSpPr>
          <p:spPr>
            <a:xfrm>
              <a:off x="10182022" y="4918351"/>
              <a:ext cx="1145041" cy="188164"/>
            </a:xfrm>
            <a:prstGeom prst="parallelogram">
              <a:avLst/>
            </a:prstGeom>
            <a:gradFill>
              <a:gsLst>
                <a:gs pos="0">
                  <a:schemeClr val="accent1"/>
                </a:gs>
                <a:gs pos="100000">
                  <a:srgbClr val="FFFFFF">
                    <a:alpha val="30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rgbClr val="6096E6">
                <a:shade val="50000"/>
              </a:srgbClr>
            </a:lnRef>
            <a:fillRef idx="1">
              <a:srgbClr val="6096E6"/>
            </a:fillRef>
            <a:effectRef idx="0">
              <a:srgbClr val="6096E6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>
                  <a:solidFill>
                    <a:srgbClr val="FFFFFF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endParaRPr>
            </a:p>
          </p:txBody>
        </p:sp>
        <p:sp>
          <p:nvSpPr>
            <p:cNvPr id="15" name="燕尾形 121"/>
            <p:cNvSpPr/>
            <p:nvPr>
              <p:custDataLst>
                <p:tags r:id="rId4"/>
              </p:custDataLst>
            </p:nvPr>
          </p:nvSpPr>
          <p:spPr>
            <a:xfrm>
              <a:off x="6151420" y="1403077"/>
              <a:ext cx="4895849" cy="422910"/>
            </a:xfrm>
            <a:prstGeom prst="chevron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lstStyle>
              <a:defPPr>
                <a:defRPr lang="zh-CN">
                  <a:solidFill>
                    <a:srgbClr val="FFFFFF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6" name="燕尾形 122"/>
            <p:cNvSpPr/>
            <p:nvPr>
              <p:custDataLst>
                <p:tags r:id="rId5"/>
              </p:custDataLst>
            </p:nvPr>
          </p:nvSpPr>
          <p:spPr>
            <a:xfrm>
              <a:off x="5887260" y="1316082"/>
              <a:ext cx="5040629" cy="45466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  <a:effectLst>
              <a:outerShdw blurRad="114300" dist="127000" dir="2700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17" name="文本框 49"/>
            <p:cNvSpPr txBox="1"/>
            <p:nvPr>
              <p:custDataLst>
                <p:tags r:id="rId6"/>
              </p:custDataLst>
            </p:nvPr>
          </p:nvSpPr>
          <p:spPr>
            <a:xfrm>
              <a:off x="5855510" y="1346562"/>
              <a:ext cx="5191759" cy="464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经典算法与应用</a:t>
              </a:r>
              <a:endPara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8" name="AutoShape 8"/>
          <p:cNvSpPr txBox="1"/>
          <p:nvPr/>
        </p:nvSpPr>
        <p:spPr>
          <a:xfrm>
            <a:off x="6155055" y="3089910"/>
            <a:ext cx="5274945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  <a:defRPr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Dijkstra</a:t>
            </a: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无权/有权图最短路径，完备但慢</a:t>
            </a:r>
            <a:endParaRPr lang="en-US"/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A* 算法</a:t>
            </a: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加入启发函数，大幅提升搜索效率</a:t>
            </a:r>
            <a:endParaRPr lang="en-US" sz="20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RRT</a:t>
            </a: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采样-based 方法，适合高维空间</a:t>
            </a:r>
            <a:endParaRPr lang="en-US" sz="20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分层规划</a:t>
            </a: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城市路网导航的工业标准方案</a:t>
            </a:r>
            <a:endParaRPr lang="en-US" sz="20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3"/>
          <p:cNvCxnSpPr/>
          <p:nvPr/>
        </p:nvCxnSpPr>
        <p:spPr>
          <a:xfrm rot="-57290">
            <a:off x="762053" y="1136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E3C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04215" y="1543685"/>
            <a:ext cx="5080000" cy="762000"/>
          </a:xfrm>
          <a:prstGeom prst="roundRect">
            <a:avLst>
              <a:gd name="adj" fmla="val 10000"/>
            </a:avLst>
          </a:prstGeom>
          <a:solidFill>
            <a:srgbClr val="5385BD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>
            <p:custDataLst>
              <p:tags r:id="rId2"/>
            </p:custDataLst>
          </p:nvPr>
        </p:nvSpPr>
        <p:spPr>
          <a:xfrm>
            <a:off x="1007745" y="169291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规则式决策</a:t>
            </a:r>
            <a:endParaRPr lang="en-US" sz="2400" b="1" i="0" u="none" strike="noStrike">
              <a:solidFill>
                <a:srgbClr val="1E3C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 txBox="1"/>
          <p:nvPr>
            <p:custDataLst>
              <p:tags r:id="rId3"/>
            </p:custDataLst>
          </p:nvPr>
        </p:nvSpPr>
        <p:spPr>
          <a:xfrm>
            <a:off x="753745" y="2461895"/>
            <a:ext cx="482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0000"/>
              </a:lnSpc>
              <a:buClr>
                <a:srgbClr val="18263A"/>
              </a:buClr>
              <a:buChar char="•"/>
              <a:defRPr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有限状态机 (FSM)</a:t>
            </a:r>
            <a:b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状态离散跳转，工程实现简单</a:t>
            </a:r>
            <a:endParaRPr lang="en-US"/>
          </a:p>
          <a:p>
            <a:pPr marL="165100" indent="-165100" algn="l">
              <a:lnSpc>
                <a:spcPct val="150000"/>
              </a:lnSpc>
              <a:buClr>
                <a:srgbClr val="18263A"/>
              </a:buClr>
              <a:buChar char="•"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决策树 / 行为树</a:t>
            </a:r>
            <a:b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层级化组织驾驶行为逻辑</a:t>
            </a:r>
            <a:endParaRPr lang="en-US" sz="20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6292215" y="1543685"/>
            <a:ext cx="5080000" cy="762000"/>
          </a:xfrm>
          <a:prstGeom prst="roundRect">
            <a:avLst>
              <a:gd name="adj" fmla="val 10000"/>
            </a:avLst>
          </a:prstGeom>
          <a:solidFill>
            <a:srgbClr val="5385BD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>
            <p:custDataLst>
              <p:tags r:id="rId5"/>
            </p:custDataLst>
          </p:nvPr>
        </p:nvSpPr>
        <p:spPr>
          <a:xfrm>
            <a:off x="6595745" y="169291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概率式决策</a:t>
            </a:r>
            <a:endParaRPr lang="en-US" sz="2400" b="1" i="0" u="none" strike="noStrike">
              <a:solidFill>
                <a:srgbClr val="1E3C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>
            <p:custDataLst>
              <p:tags r:id="rId6"/>
            </p:custDataLst>
          </p:nvPr>
        </p:nvSpPr>
        <p:spPr>
          <a:xfrm>
            <a:off x="6341745" y="2461895"/>
            <a:ext cx="482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0000"/>
              </a:lnSpc>
              <a:buClr>
                <a:srgbClr val="18263A"/>
              </a:buClr>
              <a:buChar char="•"/>
              <a:defRPr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MDP 马尔可夫决策过程</a:t>
            </a:r>
            <a:b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已知环境状态下的最优决策</a:t>
            </a:r>
            <a:endParaRPr lang="en-US"/>
          </a:p>
          <a:p>
            <a:pPr marL="165100" indent="-165100" algn="l">
              <a:lnSpc>
                <a:spcPct val="150000"/>
              </a:lnSpc>
              <a:buClr>
                <a:srgbClr val="18263A"/>
              </a:buClr>
              <a:buChar char="•"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POMDP 部分可观测 MDP</a:t>
            </a:r>
            <a:b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处理环境不确定性与部分观测</a:t>
            </a:r>
            <a:endParaRPr lang="en-US" sz="20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961890"/>
            <a:ext cx="10668000" cy="981075"/>
          </a:xfrm>
          <a:prstGeom prst="roundRect">
            <a:avLst>
              <a:gd name="adj" fmla="val 10000"/>
            </a:avLst>
          </a:prstGeom>
          <a:solidFill>
            <a:srgbClr val="F5F0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1016000" y="520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优势：</a:t>
            </a: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可解释性强、易于调试、安全可控 | </a:t>
            </a:r>
            <a:endParaRPr lang="en-US" sz="20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局限：</a:t>
            </a: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难以覆盖复杂动态交互场景，长尾场景处理能力弱</a:t>
            </a:r>
            <a:endParaRPr lang="en-US" sz="20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 txBox="1"/>
          <p:nvPr/>
        </p:nvSpPr>
        <p:spPr>
          <a:xfrm>
            <a:off x="762000" y="64135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 / 25</a:t>
            </a:r>
            <a:endParaRPr lang="en-US" sz="1100"/>
          </a:p>
        </p:txBody>
      </p:sp>
      <p:grpSp>
        <p:nvGrpSpPr>
          <p:cNvPr id="76" name="组合 75"/>
          <p:cNvGrpSpPr/>
          <p:nvPr/>
        </p:nvGrpSpPr>
        <p:grpSpPr>
          <a:xfrm>
            <a:off x="517625" y="292500"/>
            <a:ext cx="3429000" cy="1663700"/>
            <a:chOff x="508000" y="254000"/>
            <a:chExt cx="3429000" cy="1663700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8000" y="379580"/>
              <a:ext cx="3429000" cy="0"/>
            </a:xfrm>
            <a:prstGeom prst="line">
              <a:avLst/>
            </a:prstGeom>
            <a:ln w="19050">
              <a:gradFill>
                <a:gsLst>
                  <a:gs pos="3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660400" y="254000"/>
              <a:ext cx="0" cy="166370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4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文本框 73"/>
          <p:cNvSpPr txBox="1"/>
          <p:nvPr/>
        </p:nvSpPr>
        <p:spPr>
          <a:xfrm>
            <a:off x="666750" y="455930"/>
            <a:ext cx="1103947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行为决策演进（一）：规则与概率方法</a:t>
            </a:r>
            <a:endParaRPr lang="zh-CN" altLang="en-US" sz="3200" dirty="0">
              <a:solidFill>
                <a:schemeClr val="accent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锐字奥运精神拼搏简免费-闪" panose="02010604000000000000" charset="-122"/>
              <a:ea typeface="锐字奥运精神拼搏简免费-闪" panose="02010604000000000000" charset="-122"/>
              <a:cs typeface="锐字奥运精神拼搏简免费-闪" panose="02010604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图形"/>
          <p:cNvSpPr/>
          <p:nvPr>
            <p:custDataLst>
              <p:tags r:id="rId1"/>
            </p:custDataLst>
          </p:nvPr>
        </p:nvSpPr>
        <p:spPr>
          <a:xfrm>
            <a:off x="6204585" y="3874135"/>
            <a:ext cx="4861560" cy="2724150"/>
          </a:xfrm>
          <a:prstGeom prst="roundRect">
            <a:avLst>
              <a:gd name="adj" fmla="val 5284"/>
            </a:avLst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0"/>
          </a:gradFill>
          <a:ln>
            <a:noFill/>
          </a:ln>
          <a:effectLst>
            <a:outerShdw blurRad="1016000" dist="381000" dir="2100000" sx="90000" sy="9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阿里巴巴普惠体" panose="00020600040101010101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57290">
            <a:off x="762053" y="1136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E3C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762000" y="1460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DRL 基础与关键算法</a:t>
            </a:r>
            <a:endParaRPr lang="en-US" sz="2400" b="1" i="0" u="none" strike="noStrike">
              <a:solidFill>
                <a:srgbClr val="1E3C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609600" y="1698625"/>
            <a:ext cx="508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基本框架：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MDP、策略 π、值函数 V、Q 函数</a:t>
            </a:r>
            <a:endParaRPr lang="en-US" sz="1600"/>
          </a:p>
          <a:p>
            <a:pPr marL="0" indent="0" algn="l">
              <a:lnSpc>
                <a:spcPct val="142000"/>
              </a:lnSpc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关键算法：</a:t>
            </a:r>
            <a:endParaRPr lang="en-US" b="1" i="0" u="none" strike="noStrike">
              <a:solidFill>
                <a:srgbClr val="1826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609600" y="3157855"/>
          <a:ext cx="5080000" cy="165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/>
                <a:gridCol w="3429000"/>
              </a:tblGrid>
              <a:tr h="419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算法类型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代表算法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8">
                        <a:alpha val="100000"/>
                      </a:srgbClr>
                    </a:solidFill>
                  </a:tcPr>
                </a:tc>
              </a:tr>
              <a:tr h="419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826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值函数方法</a:t>
                      </a:r>
                      <a:endParaRPr lang="en-US" sz="1600" b="0" i="0" u="none" strike="noStrike">
                        <a:solidFill>
                          <a:srgbClr val="18263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6978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DQN、Double DQN</a:t>
                      </a:r>
                      <a:endParaRPr lang="en-US" sz="1600" b="0" i="0" u="none" strike="noStrike">
                        <a:solidFill>
                          <a:srgbClr val="69788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9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826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策略梯度</a:t>
                      </a:r>
                      <a:endParaRPr lang="en-US" sz="1600" b="0" i="0" u="none" strike="noStrike">
                        <a:solidFill>
                          <a:srgbClr val="18263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6978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DDPG、A3C、A2C</a:t>
                      </a:r>
                      <a:endParaRPr lang="en-US" sz="1600" b="0" i="0" u="none" strike="noStrike">
                        <a:solidFill>
                          <a:srgbClr val="69788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37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826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Actor-Critic</a:t>
                      </a:r>
                      <a:endParaRPr lang="en-US" sz="1600" b="0" i="0" u="none" strike="noStrike">
                        <a:solidFill>
                          <a:srgbClr val="18263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6978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SAC、PPO</a:t>
                      </a:r>
                      <a:endParaRPr lang="en-US" sz="1600" b="0" i="0" u="none" strike="noStrike">
                        <a:solidFill>
                          <a:srgbClr val="69788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/>
          <p:cNvSpPr txBox="1"/>
          <p:nvPr/>
        </p:nvSpPr>
        <p:spPr>
          <a:xfrm>
            <a:off x="6350000" y="1460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自动驾驶应用场景</a:t>
            </a:r>
            <a:endParaRPr lang="en-US" sz="2400" b="1" i="0" u="none" strike="noStrike">
              <a:solidFill>
                <a:srgbClr val="1E3C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6350000" y="1968500"/>
            <a:ext cx="508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42000"/>
              </a:lnSpc>
              <a:buClr>
                <a:srgbClr val="69788C"/>
              </a:buClr>
              <a:buChar char="•"/>
              <a:defRPr/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车道保持、自适应巡航</a:t>
            </a:r>
            <a:endParaRPr lang="en-US" sz="1600"/>
          </a:p>
          <a:p>
            <a:pPr marL="165100" indent="-165100" algn="l">
              <a:lnSpc>
                <a:spcPct val="142000"/>
              </a:lnSpc>
              <a:buClr>
                <a:srgbClr val="69788C"/>
              </a:buClr>
              <a:buChar char="•"/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变道决策、匝道汇入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42000"/>
              </a:lnSpc>
              <a:buClr>
                <a:srgbClr val="69788C"/>
              </a:buClr>
              <a:buChar char="•"/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超车、交叉口通行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42000"/>
              </a:lnSpc>
              <a:buClr>
                <a:srgbClr val="69788C"/>
              </a:buClr>
              <a:buChar char="•"/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运动规划、轨迹优化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17525" y="5232400"/>
            <a:ext cx="5080000" cy="1270000"/>
          </a:xfrm>
          <a:prstGeom prst="roundRect">
            <a:avLst>
              <a:gd name="adj" fmla="val 6000"/>
            </a:avLst>
          </a:prstGeom>
          <a:solidFill>
            <a:schemeClr val="accent2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610235" y="5334000"/>
            <a:ext cx="4986655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1" i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优势：</a:t>
            </a:r>
            <a:r>
              <a:rPr lang="en-US" sz="16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减少人工规则，适应复杂场景</a:t>
            </a:r>
            <a:endParaRPr lang="en-US" sz="1400"/>
          </a:p>
          <a:p>
            <a:pPr marL="0" indent="0" algn="l">
              <a:lnSpc>
                <a:spcPct val="133000"/>
              </a:lnSpc>
            </a:pPr>
            <a:r>
              <a:rPr lang="en-US" sz="1600" b="1" i="0" u="none" strike="noStrike">
                <a:solidFill>
                  <a:srgbClr val="C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挑战：</a:t>
            </a:r>
            <a:r>
              <a:rPr lang="en-US" sz="16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样本效率低、安全验证难、Sim-to-Real Gap</a:t>
            </a:r>
            <a:endParaRPr lang="en-US" sz="16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517625" y="292500"/>
            <a:ext cx="3429000" cy="1663700"/>
            <a:chOff x="508000" y="254000"/>
            <a:chExt cx="3429000" cy="1663700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8000" y="379580"/>
              <a:ext cx="3429000" cy="0"/>
            </a:xfrm>
            <a:prstGeom prst="line">
              <a:avLst/>
            </a:prstGeom>
            <a:ln w="19050">
              <a:gradFill>
                <a:gsLst>
                  <a:gs pos="3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660400" y="254000"/>
              <a:ext cx="0" cy="166370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4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文本框 73"/>
          <p:cNvSpPr txBox="1"/>
          <p:nvPr/>
        </p:nvSpPr>
        <p:spPr>
          <a:xfrm>
            <a:off x="666750" y="455930"/>
            <a:ext cx="1103947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行为决策演进（二）：</a:t>
            </a:r>
            <a:r>
              <a:rPr lang="en-US" altLang="zh-CN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DRL </a:t>
            </a:r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在自动驾驶中的应用</a:t>
            </a:r>
            <a:endParaRPr lang="zh-CN" altLang="en-US" sz="3200" dirty="0">
              <a:solidFill>
                <a:schemeClr val="accent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锐字奥运精神拼搏简免费-闪" panose="02010604000000000000" charset="-122"/>
              <a:ea typeface="锐字奥运精神拼搏简免费-闪" panose="02010604000000000000" charset="-122"/>
              <a:cs typeface="锐字奥运精神拼搏简免费-闪" panose="02010604000000000000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510" y="3940175"/>
            <a:ext cx="4283710" cy="2409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3"/>
          <p:cNvCxnSpPr/>
          <p:nvPr/>
        </p:nvCxnSpPr>
        <p:spPr>
          <a:xfrm rot="-57290">
            <a:off x="762053" y="1136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E3C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669925" y="13716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核心思想：坐标解耦</a:t>
            </a:r>
            <a:endParaRPr lang="en-US" sz="2400" b="1" i="0" u="none" strike="noStrike">
              <a:solidFill>
                <a:srgbClr val="1E3C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762000" y="1968500"/>
            <a:ext cx="508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6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在Frenet坐标系下，沿参考线的方向 s 为纵向，垂直参考线的方向 d 为横向。</a:t>
            </a:r>
            <a:endParaRPr lang="en-US" sz="1400"/>
          </a:p>
          <a:p>
            <a:pPr marL="0" indent="0" algn="l">
              <a:lnSpc>
                <a:spcPct val="142000"/>
              </a:lnSpc>
            </a:pPr>
            <a:r>
              <a:rPr lang="en-US" sz="16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横向和纵向轨迹可以独立生成，再合并为完整轨迹。</a:t>
            </a:r>
            <a:endParaRPr lang="en-US" sz="1600" b="1" i="0" u="none" strike="noStrike">
              <a:solidFill>
                <a:srgbClr val="1826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3429000"/>
            <a:ext cx="5080000" cy="1270000"/>
          </a:xfrm>
          <a:prstGeom prst="roundRect">
            <a:avLst>
              <a:gd name="adj" fmla="val 6000"/>
            </a:avLst>
          </a:prstGeom>
          <a:solidFill>
            <a:srgbClr val="5385BD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1016000" y="35814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横向轨迹 (d 方向)</a:t>
            </a:r>
            <a:endParaRPr lang="en-US" sz="1400"/>
          </a:p>
          <a:p>
            <a:pPr marL="0"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五次多项式优化 · jerk 最小化</a:t>
            </a:r>
            <a:endParaRPr lang="en-US" sz="16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目标：舒适、平滑的横向移动</a:t>
            </a:r>
            <a:endParaRPr lang="en-US" sz="16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4889500"/>
            <a:ext cx="5080000" cy="1143000"/>
          </a:xfrm>
          <a:prstGeom prst="roundRect">
            <a:avLst>
              <a:gd name="adj" fmla="val 6666"/>
            </a:avLst>
          </a:prstGeom>
          <a:solidFill>
            <a:srgbClr val="519D78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1016000" y="50419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1" i="0" u="none" strike="noStrike">
                <a:solidFill>
                  <a:srgbClr val="519D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纵向轨迹 (s 方向)</a:t>
            </a:r>
            <a:endParaRPr lang="en-US" sz="1400"/>
          </a:p>
          <a:p>
            <a:pPr marL="0"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跟车 / 汇入 / 停车 / 速度保持</a:t>
            </a:r>
            <a:endParaRPr lang="en-US" sz="16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恒定时间间隔法则、四次多项式</a:t>
            </a:r>
            <a:endParaRPr lang="en-US" sz="16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6350000" y="13716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成本函数与轨迹选择</a:t>
            </a:r>
            <a:endParaRPr lang="en-US" sz="2400" b="1" i="0" u="none" strike="noStrike">
              <a:solidFill>
                <a:srgbClr val="1E3C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 txBox="1"/>
          <p:nvPr/>
        </p:nvSpPr>
        <p:spPr>
          <a:xfrm>
            <a:off x="6435090" y="2755900"/>
            <a:ext cx="508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横向成本：</a:t>
            </a:r>
            <a:endParaRPr lang="en-US" sz="1600"/>
          </a:p>
          <a:p>
            <a:pPr marL="0" indent="0" algn="l">
              <a:lnSpc>
                <a:spcPct val="142000"/>
              </a:lnSpc>
            </a:pPr>
            <a:endParaRPr lang="en-US" b="1" i="0" u="none" strike="noStrike">
              <a:solidFill>
                <a:srgbClr val="1826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endParaRPr lang="en-US" b="1" i="0" u="none" strike="noStrike">
              <a:solidFill>
                <a:srgbClr val="1826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流程：</a:t>
            </a:r>
            <a:endParaRPr lang="en-US" b="1" i="0" u="none" strike="noStrike">
              <a:solidFill>
                <a:srgbClr val="1826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42000"/>
              </a:lnSpc>
              <a:buClr>
                <a:srgbClr val="69788C"/>
              </a:buClr>
              <a:buChar char="•"/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生成候选轨迹集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42000"/>
              </a:lnSpc>
              <a:buClr>
                <a:srgbClr val="69788C"/>
              </a:buClr>
              <a:buChar char="•"/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碰撞检测与可行性检查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42000"/>
              </a:lnSpc>
              <a:buClr>
                <a:srgbClr val="69788C"/>
              </a:buClr>
              <a:buChar char="•"/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计算成本，选最优轨迹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517625" y="292500"/>
            <a:ext cx="3429000" cy="1663700"/>
            <a:chOff x="508000" y="254000"/>
            <a:chExt cx="3429000" cy="1663700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8000" y="379580"/>
              <a:ext cx="3429000" cy="0"/>
            </a:xfrm>
            <a:prstGeom prst="line">
              <a:avLst/>
            </a:prstGeom>
            <a:ln w="19050">
              <a:gradFill>
                <a:gsLst>
                  <a:gs pos="3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660400" y="254000"/>
              <a:ext cx="0" cy="166370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4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文本框 73"/>
          <p:cNvSpPr txBox="1"/>
          <p:nvPr/>
        </p:nvSpPr>
        <p:spPr>
          <a:xfrm>
            <a:off x="666750" y="455930"/>
            <a:ext cx="1103947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局部轨迹规划：</a:t>
            </a:r>
            <a:r>
              <a:rPr lang="en-US" altLang="zh-CN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Frenet Frame </a:t>
            </a:r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详解</a:t>
            </a:r>
            <a:endParaRPr lang="zh-CN" altLang="en-US" sz="3200" dirty="0">
              <a:solidFill>
                <a:schemeClr val="accent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锐字奥运精神拼搏简免费-闪" panose="02010604000000000000" charset="-122"/>
              <a:ea typeface="锐字奥运精神拼搏简免费-闪" panose="02010604000000000000" charset="-122"/>
              <a:cs typeface="锐字奥运精神拼搏简免费-闪" panose="02010604000000000000" charset="-122"/>
            </a:endParaRPr>
          </a:p>
        </p:txBody>
      </p:sp>
      <p:pic>
        <p:nvPicPr>
          <p:cNvPr id="14" name="图片 13"/>
          <p:cNvPicPr/>
          <p:nvPr/>
        </p:nvPicPr>
        <p:blipFill>
          <a:blip r:embed="rId1"/>
          <a:stretch>
            <a:fillRect/>
          </a:stretch>
        </p:blipFill>
        <p:spPr>
          <a:xfrm>
            <a:off x="7103110" y="3073400"/>
            <a:ext cx="2709545" cy="3987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3"/>
          <p:cNvCxnSpPr/>
          <p:nvPr/>
        </p:nvCxnSpPr>
        <p:spPr>
          <a:xfrm rot="-57290">
            <a:off x="762053" y="1136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E3C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270000" y="1778000"/>
            <a:ext cx="3556000" cy="1016000"/>
          </a:xfrm>
          <a:prstGeom prst="roundRect">
            <a:avLst>
              <a:gd name="adj" fmla="val 7500"/>
            </a:avLst>
          </a:prstGeom>
          <a:solidFill>
            <a:srgbClr val="1E3C78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1270000" y="19685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2400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规划模块</a:t>
            </a:r>
            <a:endParaRPr lang="en-US"/>
          </a:p>
          <a:p>
            <a:pPr marL="0" indent="0" algn="ctr">
              <a:lnSpc>
                <a:spcPct val="117000"/>
              </a:lnSpc>
            </a:pPr>
            <a:r>
              <a:rPr lang="en-US" sz="2000" b="1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输出参考轨迹 (x, y, θ, v)</a:t>
            </a:r>
            <a:endParaRPr lang="en-US" sz="2000" b="1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57290">
            <a:off x="4826053" y="2279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9788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7" name="AutoShape 7"/>
          <p:cNvSpPr/>
          <p:nvPr/>
        </p:nvSpPr>
        <p:spPr>
          <a:xfrm>
            <a:off x="5588000" y="1778000"/>
            <a:ext cx="3556000" cy="1016000"/>
          </a:xfrm>
          <a:prstGeom prst="roundRect">
            <a:avLst>
              <a:gd name="adj" fmla="val 7500"/>
            </a:avLst>
          </a:prstGeom>
          <a:solidFill>
            <a:srgbClr val="69788C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5588000" y="19685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2400" b="1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控制器</a:t>
            </a:r>
            <a:endParaRPr lang="en-US"/>
          </a:p>
          <a:p>
            <a:pPr marL="0" indent="0" algn="ctr">
              <a:lnSpc>
                <a:spcPct val="117000"/>
              </a:lnSpc>
            </a:pPr>
            <a:r>
              <a:rPr lang="en-US" sz="2000" b="1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计算前轮转角 / 油门 / 制动</a:t>
            </a:r>
            <a:endParaRPr lang="en-US" sz="2000" b="1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762000" y="3302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经典控制方法</a:t>
            </a:r>
            <a:endParaRPr lang="en-US" sz="2400" b="1" i="0" u="none" strike="noStrike">
              <a:solidFill>
                <a:srgbClr val="1E3C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762000" y="3810000"/>
            <a:ext cx="508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  <a:defRPr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PID 控制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结构简单、鲁棒性强，工业最常用</a:t>
            </a:r>
            <a:endParaRPr lang="en-US" sz="1600"/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MPC 模型预测控制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处理约束、预测未来状态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LQR 线性二次调节器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最优控制理论经典方法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 txBox="1"/>
          <p:nvPr/>
        </p:nvSpPr>
        <p:spPr>
          <a:xfrm>
            <a:off x="6350000" y="3302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规划与控制的分工</a:t>
            </a:r>
            <a:endParaRPr lang="en-US" sz="2400" b="1" i="0" u="none" strike="noStrike">
              <a:solidFill>
                <a:srgbClr val="1E3C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350000" y="3810000"/>
            <a:ext cx="5080000" cy="1778000"/>
          </a:xfrm>
          <a:prstGeom prst="roundRect">
            <a:avLst>
              <a:gd name="adj" fmla="val 4285"/>
            </a:avLst>
          </a:prstGeom>
          <a:solidFill>
            <a:srgbClr val="F5F0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6604000" y="40005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规划负责"去哪"</a:t>
            </a:r>
            <a:endParaRPr lang="en-US" sz="1600"/>
          </a:p>
          <a:p>
            <a:pPr marL="0" indent="0" algn="l">
              <a:lnSpc>
                <a:spcPct val="150000"/>
              </a:lnSpc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决定路径、行为、轨迹，是决策层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控制负责"怎么走"</a:t>
            </a:r>
            <a:endParaRPr lang="en-US" b="1" i="0" u="none" strike="noStrike">
              <a:solidFill>
                <a:srgbClr val="1E3C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精确跟踪轨迹，是执行层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517625" y="292500"/>
            <a:ext cx="3429000" cy="1663700"/>
            <a:chOff x="508000" y="254000"/>
            <a:chExt cx="3429000" cy="1663700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8000" y="379580"/>
              <a:ext cx="3429000" cy="0"/>
            </a:xfrm>
            <a:prstGeom prst="line">
              <a:avLst/>
            </a:prstGeom>
            <a:ln w="19050">
              <a:gradFill>
                <a:gsLst>
                  <a:gs pos="3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660400" y="254000"/>
              <a:ext cx="0" cy="166370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4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文本框 73"/>
          <p:cNvSpPr txBox="1"/>
          <p:nvPr/>
        </p:nvSpPr>
        <p:spPr>
          <a:xfrm>
            <a:off x="666750" y="455930"/>
            <a:ext cx="1103947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规划模块——轨迹跟踪与控制</a:t>
            </a:r>
            <a:endParaRPr lang="zh-CN" altLang="en-US" sz="3200" dirty="0">
              <a:solidFill>
                <a:schemeClr val="accent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锐字奥运精神拼搏简免费-闪" panose="02010604000000000000" charset="-122"/>
              <a:ea typeface="锐字奥运精神拼搏简免费-闪" panose="02010604000000000000" charset="-122"/>
              <a:cs typeface="锐字奥运精神拼搏简免费-闪" panose="02010604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3"/>
          <p:cNvCxnSpPr/>
          <p:nvPr/>
        </p:nvCxnSpPr>
        <p:spPr>
          <a:xfrm rot="-57290">
            <a:off x="762053" y="1136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E3C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762000" y="1460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背景：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模块化pipeline存在误差累积、多任务负迁移问题</a:t>
            </a:r>
            <a:endParaRPr lang="en-US" sz="1600"/>
          </a:p>
          <a:p>
            <a:pPr marL="0" indent="0" algn="l">
              <a:lnSpc>
                <a:spcPct val="133000"/>
              </a:lnSpc>
            </a:pPr>
            <a:r>
              <a:rPr lang="en-US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核心思想：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规划导向设计——所有感知、预测任务都服务于最终规划目标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1778000" cy="762000"/>
          </a:xfrm>
          <a:prstGeom prst="roundRect">
            <a:avLst>
              <a:gd name="adj" fmla="val 6666"/>
            </a:avLst>
          </a:prstGeom>
          <a:solidFill>
            <a:srgbClr val="519D78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762000" y="2603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跟踪 Tracking</a:t>
            </a:r>
            <a:endParaRPr lang="en-US" sz="2000" b="1" i="0" u="none" strike="noStrike">
              <a:solidFill>
                <a:srgbClr val="1826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>
            <p:custDataLst>
              <p:tags r:id="rId1"/>
            </p:custDataLst>
          </p:nvPr>
        </p:nvCxnSpPr>
        <p:spPr>
          <a:xfrm rot="-137436">
            <a:off x="2540127" y="27876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9788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2857500" y="2413000"/>
            <a:ext cx="1778000" cy="762000"/>
          </a:xfrm>
          <a:prstGeom prst="roundRect">
            <a:avLst>
              <a:gd name="adj" fmla="val 6666"/>
            </a:avLst>
          </a:prstGeom>
          <a:solidFill>
            <a:srgbClr val="519D78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>
            <p:custDataLst>
              <p:tags r:id="rId3"/>
            </p:custDataLst>
          </p:nvPr>
        </p:nvSpPr>
        <p:spPr>
          <a:xfrm>
            <a:off x="2857500" y="2603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建图 Mapping</a:t>
            </a:r>
            <a:endParaRPr lang="en-US" sz="2000" b="1" i="0" u="none" strike="noStrike">
              <a:solidFill>
                <a:srgbClr val="1826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>
            <p:custDataLst>
              <p:tags r:id="rId4"/>
            </p:custDataLst>
          </p:nvPr>
        </p:nvCxnSpPr>
        <p:spPr>
          <a:xfrm rot="-137436">
            <a:off x="4635627" y="27876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9788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4953000" y="2413000"/>
            <a:ext cx="1778000" cy="762000"/>
          </a:xfrm>
          <a:prstGeom prst="roundRect">
            <a:avLst>
              <a:gd name="adj" fmla="val 6666"/>
            </a:avLst>
          </a:prstGeom>
          <a:solidFill>
            <a:srgbClr val="5385BD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>
            <p:custDataLst>
              <p:tags r:id="rId6"/>
            </p:custDataLst>
          </p:nvPr>
        </p:nvSpPr>
        <p:spPr>
          <a:xfrm>
            <a:off x="4953000" y="2603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运动预测</a:t>
            </a:r>
            <a:endParaRPr lang="en-US" sz="2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3" name="Connector 13"/>
          <p:cNvCxnSpPr/>
          <p:nvPr>
            <p:custDataLst>
              <p:tags r:id="rId7"/>
            </p:custDataLst>
          </p:nvPr>
        </p:nvCxnSpPr>
        <p:spPr>
          <a:xfrm rot="-137436">
            <a:off x="6731127" y="27876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9788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7048500" y="2413000"/>
            <a:ext cx="1778000" cy="762000"/>
          </a:xfrm>
          <a:prstGeom prst="roundRect">
            <a:avLst>
              <a:gd name="adj" fmla="val 6666"/>
            </a:avLst>
          </a:prstGeom>
          <a:solidFill>
            <a:srgbClr val="5385BD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>
            <p:custDataLst>
              <p:tags r:id="rId9"/>
            </p:custDataLst>
          </p:nvPr>
        </p:nvSpPr>
        <p:spPr>
          <a:xfrm>
            <a:off x="7048500" y="2603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占用预测</a:t>
            </a:r>
            <a:endParaRPr lang="en-US" sz="2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>
            <p:custDataLst>
              <p:tags r:id="rId10"/>
            </p:custDataLst>
          </p:nvPr>
        </p:nvCxnSpPr>
        <p:spPr>
          <a:xfrm rot="-137436">
            <a:off x="8826627" y="27876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9788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7" name="AutoShape 17"/>
          <p:cNvSpPr/>
          <p:nvPr>
            <p:custDataLst>
              <p:tags r:id="rId11"/>
            </p:custDataLst>
          </p:nvPr>
        </p:nvSpPr>
        <p:spPr>
          <a:xfrm>
            <a:off x="9144000" y="2413000"/>
            <a:ext cx="2032000" cy="762000"/>
          </a:xfrm>
          <a:prstGeom prst="roundRect">
            <a:avLst>
              <a:gd name="adj" fmla="val 6666"/>
            </a:avLst>
          </a:prstGeom>
          <a:solidFill>
            <a:srgbClr val="1E3C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 txBox="1"/>
          <p:nvPr>
            <p:custDataLst>
              <p:tags r:id="rId12"/>
            </p:custDataLst>
          </p:nvPr>
        </p:nvSpPr>
        <p:spPr>
          <a:xfrm>
            <a:off x="9144000" y="2603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 Planning</a:t>
            </a:r>
            <a:endParaRPr lang="en-US" sz="2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 txBox="1"/>
          <p:nvPr/>
        </p:nvSpPr>
        <p:spPr>
          <a:xfrm>
            <a:off x="762000" y="3528695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关键结果 (nuScenes)</a:t>
            </a:r>
            <a:endParaRPr lang="en-US" sz="2400" b="1" i="0" u="none" strike="noStrike">
              <a:solidFill>
                <a:srgbClr val="1E3C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762000" y="4207510"/>
          <a:ext cx="5080000" cy="165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2794000"/>
              </a:tblGrid>
              <a:tr h="419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任务指标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UniAD 性能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8">
                        <a:alpha val="100000"/>
                      </a:srgbClr>
                    </a:solidFill>
                  </a:tcPr>
                </a:tc>
              </a:tr>
              <a:tr h="4191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6978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跟踪 AMOTA</a:t>
                      </a:r>
                      <a:endParaRPr lang="en-US" sz="1600" b="0" i="0" u="none" strike="noStrike">
                        <a:solidFill>
                          <a:srgbClr val="69788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826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0.359</a:t>
                      </a:r>
                      <a:endParaRPr lang="en-US" sz="1600" b="1" i="0" u="none" strike="noStrike">
                        <a:solidFill>
                          <a:srgbClr val="18263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91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6978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运动预测 minADE</a:t>
                      </a:r>
                      <a:endParaRPr lang="en-US" sz="1600" b="0" i="0" u="none" strike="noStrike">
                        <a:solidFill>
                          <a:srgbClr val="69788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826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0.71 m</a:t>
                      </a:r>
                      <a:endParaRPr lang="en-US" sz="1600" b="1" i="0" u="none" strike="noStrike">
                        <a:solidFill>
                          <a:srgbClr val="18263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37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6978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规划 L2 误差 / 碰撞率</a:t>
                      </a:r>
                      <a:endParaRPr lang="en-US" sz="1600" b="0" i="0" u="none" strike="noStrike">
                        <a:solidFill>
                          <a:srgbClr val="69788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826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1.03 m / 0.31%</a:t>
                      </a:r>
                      <a:endParaRPr lang="en-US" sz="1600" b="1" i="0" u="none" strike="noStrike">
                        <a:solidFill>
                          <a:srgbClr val="18263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AutoShape 21"/>
          <p:cNvSpPr txBox="1"/>
          <p:nvPr/>
        </p:nvSpPr>
        <p:spPr>
          <a:xfrm>
            <a:off x="6445250" y="3619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技术亮点</a:t>
            </a:r>
            <a:endParaRPr lang="en-US" sz="2400" b="1" i="0" u="none" strike="noStrike">
              <a:solidFill>
                <a:srgbClr val="1E3C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 txBox="1"/>
          <p:nvPr/>
        </p:nvSpPr>
        <p:spPr>
          <a:xfrm>
            <a:off x="6350000" y="4153535"/>
            <a:ext cx="508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0000"/>
              </a:lnSpc>
              <a:buClr>
                <a:srgbClr val="18263A"/>
              </a:buClr>
              <a:buChar char="•"/>
              <a:defRPr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 Query 接口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各任务共享特征表示</a:t>
            </a:r>
            <a:endParaRPr lang="en-US" sz="1600"/>
          </a:p>
          <a:p>
            <a:pPr marL="165100" indent="-165100" algn="l">
              <a:lnSpc>
                <a:spcPct val="150000"/>
              </a:lnSpc>
              <a:buClr>
                <a:srgbClr val="18263A"/>
              </a:buClr>
              <a:buChar char="•"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规划导向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所有中间任务服务于规划目标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0000"/>
              </a:lnSpc>
              <a:buClr>
                <a:srgbClr val="18263A"/>
              </a:buClr>
              <a:buChar char="•"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端到端训练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避免模块化误差累积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 txBox="1"/>
          <p:nvPr/>
        </p:nvSpPr>
        <p:spPr>
          <a:xfrm>
            <a:off x="762000" y="64135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 / 25</a:t>
            </a:r>
            <a:endParaRPr lang="en-US" sz="1100"/>
          </a:p>
        </p:txBody>
      </p:sp>
      <p:grpSp>
        <p:nvGrpSpPr>
          <p:cNvPr id="76" name="组合 75"/>
          <p:cNvGrpSpPr/>
          <p:nvPr/>
        </p:nvGrpSpPr>
        <p:grpSpPr>
          <a:xfrm>
            <a:off x="517625" y="292500"/>
            <a:ext cx="3429000" cy="1663700"/>
            <a:chOff x="508000" y="254000"/>
            <a:chExt cx="3429000" cy="1663700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8000" y="379580"/>
              <a:ext cx="3429000" cy="0"/>
            </a:xfrm>
            <a:prstGeom prst="line">
              <a:avLst/>
            </a:prstGeom>
            <a:ln w="19050">
              <a:gradFill>
                <a:gsLst>
                  <a:gs pos="3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660400" y="254000"/>
              <a:ext cx="0" cy="166370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4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文本框 73"/>
          <p:cNvSpPr txBox="1"/>
          <p:nvPr/>
        </p:nvSpPr>
        <p:spPr>
          <a:xfrm>
            <a:off x="666750" y="455930"/>
            <a:ext cx="1103947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规划模块——端到端规划：</a:t>
            </a:r>
            <a:r>
              <a:rPr lang="en-US" altLang="zh-CN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UniAD</a:t>
            </a:r>
            <a:endParaRPr lang="en-US" altLang="zh-CN" sz="3200" dirty="0">
              <a:solidFill>
                <a:schemeClr val="accent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锐字奥运精神拼搏简免费-闪" panose="02010604000000000000" charset="-122"/>
              <a:ea typeface="锐字奥运精神拼搏简免费-闪" panose="02010604000000000000" charset="-122"/>
              <a:cs typeface="锐字奥运精神拼搏简免费-闪" panose="02010604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3"/>
          <p:cNvCxnSpPr/>
          <p:nvPr/>
        </p:nvCxnSpPr>
        <p:spPr>
          <a:xfrm rot="-57290">
            <a:off x="762053" y="1136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E3C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5810" y="1651000"/>
            <a:ext cx="5323840" cy="1016000"/>
          </a:xfrm>
          <a:prstGeom prst="roundRect">
            <a:avLst>
              <a:gd name="adj" fmla="val 7500"/>
            </a:avLst>
          </a:prstGeom>
          <a:solidFill>
            <a:srgbClr val="1E3C7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>
            <p:custDataLst>
              <p:tags r:id="rId2"/>
            </p:custDataLst>
          </p:nvPr>
        </p:nvSpPr>
        <p:spPr>
          <a:xfrm>
            <a:off x="914400" y="1841500"/>
            <a:ext cx="5175885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全局路径规划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：图搜索 → 分层/有界跳</a:t>
            </a:r>
            <a:endParaRPr lang="en-US" sz="1600"/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从Dijkstra/A*到分层导航，效率不断提升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6333490" y="1651000"/>
            <a:ext cx="5080000" cy="1016000"/>
          </a:xfrm>
          <a:prstGeom prst="roundRect">
            <a:avLst>
              <a:gd name="adj" fmla="val 7500"/>
            </a:avLst>
          </a:prstGeom>
          <a:solidFill>
            <a:srgbClr val="1E3C7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>
            <p:custDataLst>
              <p:tags r:id="rId4"/>
            </p:custDataLst>
          </p:nvPr>
        </p:nvSpPr>
        <p:spPr>
          <a:xfrm>
            <a:off x="6502400" y="1841500"/>
            <a:ext cx="5175885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行为决策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：规则 → 概率 → 学习型 → 端到端</a:t>
            </a:r>
            <a:endParaRPr lang="en-US" sz="1600"/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从FSM/MDP到DRL，再到端到端一体化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765175" y="2921000"/>
            <a:ext cx="5325110" cy="1016000"/>
          </a:xfrm>
          <a:prstGeom prst="roundRect">
            <a:avLst>
              <a:gd name="adj" fmla="val 7500"/>
            </a:avLst>
          </a:prstGeom>
          <a:solidFill>
            <a:srgbClr val="1E3C7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>
            <p:custDataLst>
              <p:tags r:id="rId6"/>
            </p:custDataLst>
          </p:nvPr>
        </p:nvSpPr>
        <p:spPr>
          <a:xfrm>
            <a:off x="914400" y="3111500"/>
            <a:ext cx="5175885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局部轨迹规划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：参数化 → 最优控制 → 学习/端到端</a:t>
            </a:r>
            <a:endParaRPr lang="en-US" sz="1600"/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Frenet Frame是经典最优控制代表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6333490" y="2921000"/>
            <a:ext cx="5080000" cy="1016000"/>
          </a:xfrm>
          <a:prstGeom prst="roundRect">
            <a:avLst>
              <a:gd name="adj" fmla="val 7500"/>
            </a:avLst>
          </a:prstGeom>
          <a:solidFill>
            <a:srgbClr val="1E3C7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>
            <p:custDataLst>
              <p:tags r:id="rId8"/>
            </p:custDataLst>
          </p:nvPr>
        </p:nvSpPr>
        <p:spPr>
          <a:xfrm>
            <a:off x="6502400" y="3111500"/>
            <a:ext cx="5175885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轨迹跟踪与控制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：PID/MPC 仍是主流</a:t>
            </a:r>
            <a:endParaRPr lang="en-US" sz="1600"/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成熟稳定，是规划与执行的可靠桥梁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318000"/>
            <a:ext cx="10668000" cy="1143000"/>
          </a:xfrm>
          <a:prstGeom prst="roundRect">
            <a:avLst>
              <a:gd name="adj" fmla="val 6666"/>
            </a:avLst>
          </a:prstGeom>
          <a:solidFill>
            <a:schemeClr val="accent3">
              <a:lumMod val="60000"/>
              <a:lumOff val="4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1143000" y="4508500"/>
            <a:ext cx="990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总体趋势：</a:t>
            </a:r>
            <a:r>
              <a:rPr lang="en-US" sz="2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规划导向 · 端到端 · 多任务协同</a:t>
            </a:r>
            <a:endParaRPr lang="en-US" sz="1600"/>
          </a:p>
          <a:p>
            <a:pPr marL="0" indent="0" algn="l">
              <a:lnSpc>
                <a:spcPct val="133000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规划不再是孤立模块，而是与感知、预测深度耦合，向"规划导向"的端到端范式演进</a:t>
            </a:r>
            <a:endParaRPr lang="en-US" sz="20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 txBox="1"/>
          <p:nvPr/>
        </p:nvSpPr>
        <p:spPr>
          <a:xfrm>
            <a:off x="762000" y="63500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 / 25</a:t>
            </a:r>
            <a:endParaRPr lang="en-US" sz="1100"/>
          </a:p>
        </p:txBody>
      </p:sp>
      <p:grpSp>
        <p:nvGrpSpPr>
          <p:cNvPr id="76" name="组合 75"/>
          <p:cNvGrpSpPr/>
          <p:nvPr/>
        </p:nvGrpSpPr>
        <p:grpSpPr>
          <a:xfrm>
            <a:off x="517625" y="292500"/>
            <a:ext cx="3429000" cy="1663700"/>
            <a:chOff x="508000" y="254000"/>
            <a:chExt cx="3429000" cy="1663700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8000" y="379580"/>
              <a:ext cx="3429000" cy="0"/>
            </a:xfrm>
            <a:prstGeom prst="line">
              <a:avLst/>
            </a:prstGeom>
            <a:ln w="19050">
              <a:gradFill>
                <a:gsLst>
                  <a:gs pos="3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660400" y="254000"/>
              <a:ext cx="0" cy="166370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4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文本框 73"/>
          <p:cNvSpPr txBox="1"/>
          <p:nvPr/>
        </p:nvSpPr>
        <p:spPr>
          <a:xfrm>
            <a:off x="666750" y="455930"/>
            <a:ext cx="1103947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规划模块演进小结</a:t>
            </a:r>
            <a:endParaRPr lang="zh-CN" altLang="en-US" sz="3200" dirty="0">
              <a:solidFill>
                <a:schemeClr val="accent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锐字奥运精神拼搏简免费-闪" panose="02010604000000000000" charset="-122"/>
              <a:ea typeface="锐字奥运精神拼搏简免费-闪" panose="02010604000000000000" charset="-122"/>
              <a:cs typeface="锐字奥运精神拼搏简免费-闪" panose="02010604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蓝色的高楼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76171" cy="6858000"/>
          </a:xfrm>
          <a:prstGeom prst="rect">
            <a:avLst/>
          </a:prstGeom>
        </p:spPr>
      </p:pic>
      <p:sp>
        <p:nvSpPr>
          <p:cNvPr id="4" name="任意多边形: 形状 3"/>
          <p:cNvSpPr/>
          <p:nvPr/>
        </p:nvSpPr>
        <p:spPr>
          <a:xfrm>
            <a:off x="1" y="0"/>
            <a:ext cx="12276171" cy="6858000"/>
          </a:xfrm>
          <a:custGeom>
            <a:avLst/>
            <a:gdLst>
              <a:gd name="connsiteX0" fmla="*/ 9083451 w 12276171"/>
              <a:gd name="connsiteY0" fmla="*/ 0 h 6858000"/>
              <a:gd name="connsiteX1" fmla="*/ 12276171 w 12276171"/>
              <a:gd name="connsiteY1" fmla="*/ 0 h 6858000"/>
              <a:gd name="connsiteX2" fmla="*/ 12276171 w 12276171"/>
              <a:gd name="connsiteY2" fmla="*/ 6858000 h 6858000"/>
              <a:gd name="connsiteX3" fmla="*/ 9083453 w 12276171"/>
              <a:gd name="connsiteY3" fmla="*/ 6858000 h 6858000"/>
              <a:gd name="connsiteX4" fmla="*/ 9154685 w 12276171"/>
              <a:gd name="connsiteY4" fmla="*/ 6796298 h 6858000"/>
              <a:gd name="connsiteX5" fmla="*/ 10645060 w 12276171"/>
              <a:gd name="connsiteY5" fmla="*/ 3429001 h 6858000"/>
              <a:gd name="connsiteX6" fmla="*/ 9154685 w 12276171"/>
              <a:gd name="connsiteY6" fmla="*/ 61705 h 6858000"/>
              <a:gd name="connsiteX7" fmla="*/ 0 w 12276171"/>
              <a:gd name="connsiteY7" fmla="*/ 0 h 6858000"/>
              <a:gd name="connsiteX8" fmla="*/ 3108549 w 12276171"/>
              <a:gd name="connsiteY8" fmla="*/ 0 h 6858000"/>
              <a:gd name="connsiteX9" fmla="*/ 3037315 w 12276171"/>
              <a:gd name="connsiteY9" fmla="*/ 61705 h 6858000"/>
              <a:gd name="connsiteX10" fmla="*/ 1546940 w 12276171"/>
              <a:gd name="connsiteY10" fmla="*/ 3429001 h 6858000"/>
              <a:gd name="connsiteX11" fmla="*/ 3037315 w 12276171"/>
              <a:gd name="connsiteY11" fmla="*/ 6796298 h 6858000"/>
              <a:gd name="connsiteX12" fmla="*/ 3108547 w 12276171"/>
              <a:gd name="connsiteY12" fmla="*/ 6858000 h 6858000"/>
              <a:gd name="connsiteX13" fmla="*/ 0 w 12276171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76171" h="6858000">
                <a:moveTo>
                  <a:pt x="9083451" y="0"/>
                </a:moveTo>
                <a:lnTo>
                  <a:pt x="12276171" y="0"/>
                </a:lnTo>
                <a:lnTo>
                  <a:pt x="12276171" y="6858000"/>
                </a:lnTo>
                <a:lnTo>
                  <a:pt x="9083453" y="6858000"/>
                </a:lnTo>
                <a:lnTo>
                  <a:pt x="9154685" y="6796298"/>
                </a:lnTo>
                <a:cubicBezTo>
                  <a:pt x="10070254" y="5964148"/>
                  <a:pt x="10645060" y="4763701"/>
                  <a:pt x="10645060" y="3429001"/>
                </a:cubicBezTo>
                <a:cubicBezTo>
                  <a:pt x="10645060" y="2094301"/>
                  <a:pt x="10070254" y="893855"/>
                  <a:pt x="9154685" y="61705"/>
                </a:cubicBezTo>
                <a:close/>
                <a:moveTo>
                  <a:pt x="0" y="0"/>
                </a:moveTo>
                <a:lnTo>
                  <a:pt x="3108549" y="0"/>
                </a:lnTo>
                <a:lnTo>
                  <a:pt x="3037315" y="61705"/>
                </a:lnTo>
                <a:cubicBezTo>
                  <a:pt x="2121747" y="893855"/>
                  <a:pt x="1546940" y="2094301"/>
                  <a:pt x="1546940" y="3429001"/>
                </a:cubicBezTo>
                <a:cubicBezTo>
                  <a:pt x="1546940" y="4763701"/>
                  <a:pt x="2121747" y="5964148"/>
                  <a:pt x="3037315" y="6796298"/>
                </a:cubicBezTo>
                <a:lnTo>
                  <a:pt x="3108547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3306000" y="639000"/>
            <a:ext cx="5580000" cy="5580000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44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953801" y="4832060"/>
            <a:ext cx="428440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 </a:t>
            </a:r>
            <a:endParaRPr lang="en-US" altLang="zh-CN" sz="140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589273" y="2636370"/>
            <a:ext cx="8895347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+mj-ea"/>
                <a:ea typeface="+mj-ea"/>
              </a:rPr>
              <a:t>当前挑战</a:t>
            </a:r>
            <a:endParaRPr lang="zh-CN" altLang="en-US" sz="6000" b="1" dirty="0">
              <a:solidFill>
                <a:schemeClr val="bg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48328" y="747370"/>
            <a:ext cx="8895347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gradFill>
                  <a:gsLst>
                    <a:gs pos="72000">
                      <a:schemeClr val="bg1">
                        <a:alpha val="0"/>
                      </a:schemeClr>
                    </a:gs>
                    <a:gs pos="0">
                      <a:schemeClr val="accent2">
                        <a:lumMod val="20000"/>
                        <a:lumOff val="80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+mj-ea"/>
                <a:ea typeface="+mj-ea"/>
              </a:rPr>
              <a:t>04</a:t>
            </a:r>
            <a:endParaRPr lang="zh-CN" altLang="en-US" sz="13800" dirty="0">
              <a:gradFill>
                <a:gsLst>
                  <a:gs pos="72000">
                    <a:schemeClr val="bg1">
                      <a:alpha val="0"/>
                    </a:schemeClr>
                  </a:gs>
                  <a:gs pos="0">
                    <a:schemeClr val="accent2">
                      <a:lumMod val="20000"/>
                      <a:lumOff val="80000"/>
                    </a:schemeClr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0" y="249891"/>
            <a:ext cx="1673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+mn-ea"/>
              </a:rPr>
              <a:t>LOGO</a:t>
            </a:r>
            <a:endParaRPr lang="zh-CN" altLang="en-US" sz="24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0894369" y="6060244"/>
            <a:ext cx="819753" cy="262630"/>
            <a:chOff x="10894368" y="6060244"/>
            <a:chExt cx="819753" cy="262630"/>
          </a:xfrm>
        </p:grpSpPr>
        <p:sp>
          <p:nvSpPr>
            <p:cNvPr id="14" name="半闭框 25"/>
            <p:cNvSpPr/>
            <p:nvPr/>
          </p:nvSpPr>
          <p:spPr>
            <a:xfrm rot="8100000">
              <a:off x="11451491" y="6060244"/>
              <a:ext cx="262630" cy="262630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半闭框 25"/>
            <p:cNvSpPr/>
            <p:nvPr/>
          </p:nvSpPr>
          <p:spPr>
            <a:xfrm rot="8100000">
              <a:off x="11172929" y="6060244"/>
              <a:ext cx="262630" cy="262630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半闭框 25"/>
            <p:cNvSpPr/>
            <p:nvPr/>
          </p:nvSpPr>
          <p:spPr>
            <a:xfrm rot="8100000">
              <a:off x="10894368" y="6060244"/>
              <a:ext cx="262630" cy="262630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4130407" y="4113122"/>
            <a:ext cx="401373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CN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hallenge</a:t>
            </a:r>
            <a:endParaRPr lang="en-US" altLang="zh-CN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5795187" y="5613401"/>
            <a:ext cx="685800" cy="0"/>
          </a:xfrm>
          <a:prstGeom prst="line">
            <a:avLst/>
          </a:prstGeom>
          <a:ln w="3492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37235" y="1259840"/>
            <a:ext cx="5080000" cy="635000"/>
          </a:xfrm>
          <a:prstGeom prst="roundRect">
            <a:avLst>
              <a:gd name="adj" fmla="val 12000"/>
            </a:avLst>
          </a:prstGeom>
          <a:solidFill>
            <a:srgbClr val="519D78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>
            <p:custDataLst>
              <p:tags r:id="rId2"/>
            </p:custDataLst>
          </p:nvPr>
        </p:nvSpPr>
        <p:spPr>
          <a:xfrm>
            <a:off x="991235" y="13462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519D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感知模块挑战</a:t>
            </a:r>
            <a:endParaRPr lang="en-US" sz="2800" b="1" i="0" u="none" strike="noStrike">
              <a:solidFill>
                <a:srgbClr val="519D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 txBox="1"/>
          <p:nvPr>
            <p:custDataLst>
              <p:tags r:id="rId3"/>
            </p:custDataLst>
          </p:nvPr>
        </p:nvSpPr>
        <p:spPr>
          <a:xfrm>
            <a:off x="737235" y="4379595"/>
            <a:ext cx="4826000" cy="205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  <a:defRPr/>
            </a:pPr>
            <a:r>
              <a:rPr lang="en-US" sz="16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环境变化</a:t>
            </a:r>
            <a:r>
              <a:rPr lang="en-US" sz="16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光照、天气、遮挡、夜间场景</a:t>
            </a:r>
            <a:endParaRPr lang="en-US" sz="1400"/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sz="16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传感器故障</a:t>
            </a:r>
            <a:r>
              <a:rPr lang="en-US" sz="16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LiDAR/相机失效、外参噪声</a:t>
            </a:r>
            <a:endParaRPr lang="en-US" sz="16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sz="16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标定与同步</a:t>
            </a:r>
            <a:r>
              <a:rPr lang="en-US" sz="16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多传感器融合的工程难点</a:t>
            </a:r>
            <a:endParaRPr lang="en-US" sz="16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sz="16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数据长尾</a:t>
            </a:r>
            <a:r>
              <a:rPr lang="en-US" sz="16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罕见场景、遮挡目标、Corner Case</a:t>
            </a:r>
            <a:endParaRPr lang="en-US" sz="16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6325235" y="1259840"/>
            <a:ext cx="5080000" cy="635000"/>
          </a:xfrm>
          <a:prstGeom prst="roundRect">
            <a:avLst>
              <a:gd name="adj" fmla="val 12000"/>
            </a:avLst>
          </a:prstGeom>
          <a:solidFill>
            <a:srgbClr val="1E3C78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>
            <p:custDataLst>
              <p:tags r:id="rId5"/>
            </p:custDataLst>
          </p:nvPr>
        </p:nvSpPr>
        <p:spPr>
          <a:xfrm>
            <a:off x="6579235" y="13462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规划模块挑战</a:t>
            </a:r>
            <a:endParaRPr lang="en-US" sz="2800" b="1" i="0" u="none" strike="noStrike">
              <a:solidFill>
                <a:srgbClr val="1E3C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>
            <p:custDataLst>
              <p:tags r:id="rId6"/>
            </p:custDataLst>
          </p:nvPr>
        </p:nvSpPr>
        <p:spPr>
          <a:xfrm>
            <a:off x="6325235" y="4248785"/>
            <a:ext cx="482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  <a:defRPr/>
            </a:pPr>
            <a:r>
              <a:rPr lang="en-US" sz="16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交通拥堵</a:t>
            </a:r>
            <a:r>
              <a:rPr lang="en-US" sz="16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密集交互、博弈、多智能体</a:t>
            </a:r>
            <a:endParaRPr lang="en-US" sz="1400"/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sz="16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动态场景</a:t>
            </a:r>
            <a:r>
              <a:rPr lang="en-US" sz="16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其他车辆/行人意图不确定</a:t>
            </a:r>
            <a:endParaRPr lang="en-US" sz="16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sz="16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长尾场景</a:t>
            </a:r>
            <a:r>
              <a:rPr lang="en-US" sz="16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施工区、事故区、异形车辆</a:t>
            </a:r>
            <a:endParaRPr lang="en-US" sz="16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sz="16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安全与舒适</a:t>
            </a:r>
            <a:r>
              <a:rPr lang="en-US" sz="16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jerk、加速度、碰撞风险平衡</a:t>
            </a:r>
            <a:endParaRPr lang="en-US" sz="16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517625" y="292500"/>
            <a:ext cx="3429000" cy="1663700"/>
            <a:chOff x="508000" y="254000"/>
            <a:chExt cx="3429000" cy="1663700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8000" y="379580"/>
              <a:ext cx="3429000" cy="0"/>
            </a:xfrm>
            <a:prstGeom prst="line">
              <a:avLst/>
            </a:prstGeom>
            <a:ln w="19050">
              <a:gradFill>
                <a:gsLst>
                  <a:gs pos="3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660400" y="254000"/>
              <a:ext cx="0" cy="166370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4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文本框 73"/>
          <p:cNvSpPr txBox="1"/>
          <p:nvPr/>
        </p:nvSpPr>
        <p:spPr>
          <a:xfrm>
            <a:off x="666750" y="455930"/>
            <a:ext cx="1103947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当前挑战（一）：感知与规划挑战</a:t>
            </a:r>
            <a:endParaRPr lang="zh-CN" altLang="en-US" sz="3200" dirty="0">
              <a:solidFill>
                <a:schemeClr val="accent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锐字奥运精神拼搏简免费-闪" panose="02010604000000000000" charset="-122"/>
              <a:ea typeface="锐字奥运精神拼搏简免费-闪" panose="02010604000000000000" charset="-122"/>
              <a:cs typeface="锐字奥运精神拼搏简免费-闪" panose="02010604000000000000" charset="-122"/>
            </a:endParaRPr>
          </a:p>
        </p:txBody>
      </p:sp>
      <p:pic>
        <p:nvPicPr>
          <p:cNvPr id="12" name="图片 11"/>
          <p:cNvPicPr/>
          <p:nvPr/>
        </p:nvPicPr>
        <p:blipFill>
          <a:blip r:embed="rId7"/>
          <a:stretch>
            <a:fillRect/>
          </a:stretch>
        </p:blipFill>
        <p:spPr>
          <a:xfrm>
            <a:off x="1090295" y="2056130"/>
            <a:ext cx="1989455" cy="1235710"/>
          </a:xfrm>
          <a:prstGeom prst="rect">
            <a:avLst/>
          </a:prstGeom>
          <a:ln w="28575" cmpd="sng">
            <a:solidFill>
              <a:schemeClr val="accent3">
                <a:alpha val="0"/>
              </a:schemeClr>
            </a:solidFill>
          </a:ln>
        </p:spPr>
      </p:pic>
      <p:pic>
        <p:nvPicPr>
          <p:cNvPr id="13" name="图片 12"/>
          <p:cNvPicPr/>
          <p:nvPr/>
        </p:nvPicPr>
        <p:blipFill>
          <a:blip r:embed="rId8"/>
          <a:stretch>
            <a:fillRect/>
          </a:stretch>
        </p:blipFill>
        <p:spPr>
          <a:xfrm>
            <a:off x="3192145" y="3362960"/>
            <a:ext cx="2032635" cy="116078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0295" y="3362960"/>
            <a:ext cx="1989455" cy="1161415"/>
          </a:xfrm>
          <a:prstGeom prst="rect">
            <a:avLst/>
          </a:prstGeom>
        </p:spPr>
      </p:pic>
      <p:pic>
        <p:nvPicPr>
          <p:cNvPr id="28" name="图片 27"/>
          <p:cNvPicPr/>
          <p:nvPr/>
        </p:nvPicPr>
        <p:blipFill>
          <a:blip r:embed="rId10"/>
          <a:stretch>
            <a:fillRect/>
          </a:stretch>
        </p:blipFill>
        <p:spPr>
          <a:xfrm>
            <a:off x="3192145" y="2056130"/>
            <a:ext cx="2032635" cy="1224915"/>
          </a:xfrm>
          <a:prstGeom prst="rect">
            <a:avLst/>
          </a:prstGeom>
        </p:spPr>
      </p:pic>
      <p:pic>
        <p:nvPicPr>
          <p:cNvPr id="51" name="图片 50"/>
          <p:cNvPicPr/>
          <p:nvPr/>
        </p:nvPicPr>
        <p:blipFill>
          <a:blip r:embed="rId11"/>
          <a:srcRect t="11806" b="11806"/>
          <a:stretch>
            <a:fillRect/>
          </a:stretch>
        </p:blipFill>
        <p:spPr>
          <a:xfrm>
            <a:off x="6762750" y="2074545"/>
            <a:ext cx="1947545" cy="1170940"/>
          </a:xfrm>
          <a:prstGeom prst="rect">
            <a:avLst/>
          </a:prstGeom>
          <a:ln w="28575" cmpd="sng">
            <a:solidFill>
              <a:schemeClr val="accent3">
                <a:alpha val="0"/>
              </a:schemeClr>
            </a:solidFill>
          </a:ln>
        </p:spPr>
      </p:pic>
      <p:pic>
        <p:nvPicPr>
          <p:cNvPr id="52" name="图片 51"/>
          <p:cNvPicPr/>
          <p:nvPr/>
        </p:nvPicPr>
        <p:blipFill>
          <a:blip r:embed="rId12"/>
          <a:srcRect t="19697" b="19697"/>
          <a:stretch>
            <a:fillRect/>
          </a:stretch>
        </p:blipFill>
        <p:spPr>
          <a:xfrm>
            <a:off x="8837295" y="3363595"/>
            <a:ext cx="1989455" cy="1186815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13"/>
          <a:srcRect t="3154" b="3154"/>
          <a:stretch>
            <a:fillRect/>
          </a:stretch>
        </p:blipFill>
        <p:spPr>
          <a:xfrm>
            <a:off x="6762750" y="3334385"/>
            <a:ext cx="1947545" cy="1216025"/>
          </a:xfrm>
          <a:prstGeom prst="rect">
            <a:avLst/>
          </a:prstGeom>
        </p:spPr>
      </p:pic>
      <p:pic>
        <p:nvPicPr>
          <p:cNvPr id="54" name="图片 53"/>
          <p:cNvPicPr/>
          <p:nvPr/>
        </p:nvPicPr>
        <p:blipFill>
          <a:blip r:embed="rId14"/>
          <a:srcRect t="7378" b="7378"/>
          <a:stretch>
            <a:fillRect/>
          </a:stretch>
        </p:blipFill>
        <p:spPr>
          <a:xfrm>
            <a:off x="8837930" y="2087245"/>
            <a:ext cx="1989455" cy="1160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3"/>
          <p:cNvCxnSpPr/>
          <p:nvPr/>
        </p:nvCxnSpPr>
        <p:spPr>
          <a:xfrm rot="-57290">
            <a:off x="762053" y="1136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0505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762000" y="1316355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系统级挑战</a:t>
            </a:r>
            <a:endParaRPr lang="en-US" sz="2800" b="1" i="0" u="none" strike="noStrike">
              <a:solidFill>
                <a:schemeClr val="accent1">
                  <a:lumMod val="60000"/>
                  <a:lumOff val="4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517525" y="2146300"/>
            <a:ext cx="3585845" cy="38525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  <a:defRPr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误差累积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模块化pipeline上游误差逐层传播</a:t>
            </a:r>
            <a:endParaRPr lang="en-US" sz="1600"/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负迁移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多任务学习中任务间相互冲突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Sim-to-Real Gap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仿真到现实的性能差距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样本效率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RL训练样本需求量大、代价高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计算资源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BEV/Transformer/占用预测算力需求大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8209915" y="1316355"/>
            <a:ext cx="3496310" cy="4406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安全与验证挑战</a:t>
            </a:r>
            <a:endParaRPr lang="en-US" sz="2800" b="1" i="0" u="none" strike="noStrike">
              <a:solidFill>
                <a:schemeClr val="accent1">
                  <a:lumMod val="60000"/>
                  <a:lumOff val="4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8130540" y="1956435"/>
            <a:ext cx="3495675" cy="37160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  <a:defRPr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RL 安全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约束MDP、安全策略、负向避让函数</a:t>
            </a:r>
            <a:endParaRPr lang="en-US" sz="1600"/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可解释性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端到端黑盒模型难以解释和调试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闭环测试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CARLA、nuPlan等仿真测试平台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对抗场景</a:t>
            </a:r>
            <a:r>
              <a:rPr lang="en-US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失败场景自动生成与回归测试</a:t>
            </a:r>
            <a:endParaRPr lang="en-US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517625" y="292500"/>
            <a:ext cx="3429000" cy="1663700"/>
            <a:chOff x="508000" y="254000"/>
            <a:chExt cx="3429000" cy="1663700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8000" y="379580"/>
              <a:ext cx="3429000" cy="0"/>
            </a:xfrm>
            <a:prstGeom prst="line">
              <a:avLst/>
            </a:prstGeom>
            <a:ln w="19050">
              <a:gradFill>
                <a:gsLst>
                  <a:gs pos="3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660400" y="254000"/>
              <a:ext cx="0" cy="166370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4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文本框 73"/>
          <p:cNvSpPr txBox="1"/>
          <p:nvPr/>
        </p:nvSpPr>
        <p:spPr>
          <a:xfrm>
            <a:off x="666750" y="455930"/>
            <a:ext cx="1103947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当前挑战（二）：系统级、安全与验证挑战</a:t>
            </a:r>
            <a:endParaRPr lang="zh-CN" altLang="en-US" sz="3200" dirty="0">
              <a:solidFill>
                <a:schemeClr val="accent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锐字奥运精神拼搏简免费-闪" panose="02010604000000000000" charset="-122"/>
              <a:ea typeface="锐字奥运精神拼搏简免费-闪" panose="02010604000000000000" charset="-122"/>
              <a:cs typeface="锐字奥运精神拼搏简免费-闪" panose="02010604000000000000" charset="-122"/>
            </a:endParaRPr>
          </a:p>
        </p:txBody>
      </p:sp>
      <p:pic>
        <p:nvPicPr>
          <p:cNvPr id="30" name="图片 29"/>
          <p:cNvPicPr/>
          <p:nvPr/>
        </p:nvPicPr>
        <p:blipFill>
          <a:blip r:embed="rId1"/>
          <a:srcRect l="15393" r="17474"/>
          <a:stretch>
            <a:fillRect/>
          </a:stretch>
        </p:blipFill>
        <p:spPr>
          <a:xfrm>
            <a:off x="4565650" y="2332355"/>
            <a:ext cx="3242310" cy="2919095"/>
          </a:xfrm>
          <a:prstGeom prst="rect">
            <a:avLst/>
          </a:prstGeom>
          <a:effectLst>
            <a:outerShdw blurRad="50800" dist="444500" dir="7800000" algn="ctr" rotWithShape="0">
              <a:srgbClr val="000000">
                <a:alpha val="39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蓝色的高楼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76171" cy="6858000"/>
          </a:xfrm>
          <a:prstGeom prst="rect">
            <a:avLst/>
          </a:prstGeom>
        </p:spPr>
      </p:pic>
      <p:sp>
        <p:nvSpPr>
          <p:cNvPr id="4" name="任意多边形: 形状 3"/>
          <p:cNvSpPr/>
          <p:nvPr/>
        </p:nvSpPr>
        <p:spPr>
          <a:xfrm>
            <a:off x="1" y="0"/>
            <a:ext cx="12276171" cy="6858000"/>
          </a:xfrm>
          <a:custGeom>
            <a:avLst/>
            <a:gdLst>
              <a:gd name="connsiteX0" fmla="*/ 9083451 w 12276171"/>
              <a:gd name="connsiteY0" fmla="*/ 0 h 6858000"/>
              <a:gd name="connsiteX1" fmla="*/ 12276171 w 12276171"/>
              <a:gd name="connsiteY1" fmla="*/ 0 h 6858000"/>
              <a:gd name="connsiteX2" fmla="*/ 12276171 w 12276171"/>
              <a:gd name="connsiteY2" fmla="*/ 6858000 h 6858000"/>
              <a:gd name="connsiteX3" fmla="*/ 9083453 w 12276171"/>
              <a:gd name="connsiteY3" fmla="*/ 6858000 h 6858000"/>
              <a:gd name="connsiteX4" fmla="*/ 9154685 w 12276171"/>
              <a:gd name="connsiteY4" fmla="*/ 6796298 h 6858000"/>
              <a:gd name="connsiteX5" fmla="*/ 10645060 w 12276171"/>
              <a:gd name="connsiteY5" fmla="*/ 3429001 h 6858000"/>
              <a:gd name="connsiteX6" fmla="*/ 9154685 w 12276171"/>
              <a:gd name="connsiteY6" fmla="*/ 61705 h 6858000"/>
              <a:gd name="connsiteX7" fmla="*/ 0 w 12276171"/>
              <a:gd name="connsiteY7" fmla="*/ 0 h 6858000"/>
              <a:gd name="connsiteX8" fmla="*/ 3108549 w 12276171"/>
              <a:gd name="connsiteY8" fmla="*/ 0 h 6858000"/>
              <a:gd name="connsiteX9" fmla="*/ 3037315 w 12276171"/>
              <a:gd name="connsiteY9" fmla="*/ 61705 h 6858000"/>
              <a:gd name="connsiteX10" fmla="*/ 1546940 w 12276171"/>
              <a:gd name="connsiteY10" fmla="*/ 3429001 h 6858000"/>
              <a:gd name="connsiteX11" fmla="*/ 3037315 w 12276171"/>
              <a:gd name="connsiteY11" fmla="*/ 6796298 h 6858000"/>
              <a:gd name="connsiteX12" fmla="*/ 3108547 w 12276171"/>
              <a:gd name="connsiteY12" fmla="*/ 6858000 h 6858000"/>
              <a:gd name="connsiteX13" fmla="*/ 0 w 12276171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76171" h="6858000">
                <a:moveTo>
                  <a:pt x="9083451" y="0"/>
                </a:moveTo>
                <a:lnTo>
                  <a:pt x="12276171" y="0"/>
                </a:lnTo>
                <a:lnTo>
                  <a:pt x="12276171" y="6858000"/>
                </a:lnTo>
                <a:lnTo>
                  <a:pt x="9083453" y="6858000"/>
                </a:lnTo>
                <a:lnTo>
                  <a:pt x="9154685" y="6796298"/>
                </a:lnTo>
                <a:cubicBezTo>
                  <a:pt x="10070254" y="5964148"/>
                  <a:pt x="10645060" y="4763701"/>
                  <a:pt x="10645060" y="3429001"/>
                </a:cubicBezTo>
                <a:cubicBezTo>
                  <a:pt x="10645060" y="2094301"/>
                  <a:pt x="10070254" y="893855"/>
                  <a:pt x="9154685" y="61705"/>
                </a:cubicBezTo>
                <a:close/>
                <a:moveTo>
                  <a:pt x="0" y="0"/>
                </a:moveTo>
                <a:lnTo>
                  <a:pt x="3108549" y="0"/>
                </a:lnTo>
                <a:lnTo>
                  <a:pt x="3037315" y="61705"/>
                </a:lnTo>
                <a:cubicBezTo>
                  <a:pt x="2121747" y="893855"/>
                  <a:pt x="1546940" y="2094301"/>
                  <a:pt x="1546940" y="3429001"/>
                </a:cubicBezTo>
                <a:cubicBezTo>
                  <a:pt x="1546940" y="4763701"/>
                  <a:pt x="2121747" y="5964148"/>
                  <a:pt x="3037315" y="6796298"/>
                </a:cubicBezTo>
                <a:lnTo>
                  <a:pt x="3108547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3306000" y="639000"/>
            <a:ext cx="5580000" cy="5580000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44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953801" y="4832060"/>
            <a:ext cx="428440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 </a:t>
            </a:r>
            <a:endParaRPr lang="en-US" altLang="zh-CN" sz="140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648328" y="2754480"/>
            <a:ext cx="8895347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+mj-ea"/>
                <a:ea typeface="+mj-ea"/>
              </a:rPr>
              <a:t>未来展望</a:t>
            </a:r>
            <a:endParaRPr lang="zh-CN" altLang="en-US" sz="6000" b="1" dirty="0">
              <a:solidFill>
                <a:schemeClr val="bg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48328" y="747370"/>
            <a:ext cx="8895347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gradFill>
                  <a:gsLst>
                    <a:gs pos="72000">
                      <a:schemeClr val="bg1">
                        <a:alpha val="0"/>
                      </a:schemeClr>
                    </a:gs>
                    <a:gs pos="0">
                      <a:schemeClr val="accent2">
                        <a:lumMod val="20000"/>
                        <a:lumOff val="80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+mj-ea"/>
                <a:ea typeface="+mj-ea"/>
              </a:rPr>
              <a:t>05</a:t>
            </a:r>
            <a:endParaRPr lang="zh-CN" altLang="en-US" sz="13800" dirty="0">
              <a:gradFill>
                <a:gsLst>
                  <a:gs pos="72000">
                    <a:schemeClr val="bg1">
                      <a:alpha val="0"/>
                    </a:schemeClr>
                  </a:gs>
                  <a:gs pos="0">
                    <a:schemeClr val="accent2">
                      <a:lumMod val="20000"/>
                      <a:lumOff val="80000"/>
                    </a:schemeClr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0894369" y="6060244"/>
            <a:ext cx="819753" cy="262630"/>
            <a:chOff x="10894368" y="6060244"/>
            <a:chExt cx="819753" cy="262630"/>
          </a:xfrm>
        </p:grpSpPr>
        <p:sp>
          <p:nvSpPr>
            <p:cNvPr id="14" name="半闭框 25"/>
            <p:cNvSpPr/>
            <p:nvPr/>
          </p:nvSpPr>
          <p:spPr>
            <a:xfrm rot="8100000">
              <a:off x="11451491" y="6060244"/>
              <a:ext cx="262630" cy="262630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半闭框 25"/>
            <p:cNvSpPr/>
            <p:nvPr/>
          </p:nvSpPr>
          <p:spPr>
            <a:xfrm rot="8100000">
              <a:off x="11172929" y="6060244"/>
              <a:ext cx="262630" cy="262630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半闭框 25"/>
            <p:cNvSpPr/>
            <p:nvPr/>
          </p:nvSpPr>
          <p:spPr>
            <a:xfrm rot="8100000">
              <a:off x="10894368" y="6060244"/>
              <a:ext cx="262630" cy="262630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4130407" y="4055337"/>
            <a:ext cx="401373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outlook</a:t>
            </a:r>
            <a:endParaRPr lang="en-US" altLang="zh-CN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5795187" y="5613401"/>
            <a:ext cx="685800" cy="0"/>
          </a:xfrm>
          <a:prstGeom prst="line">
            <a:avLst/>
          </a:prstGeom>
          <a:ln w="3492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3"/>
          <p:cNvCxnSpPr/>
          <p:nvPr/>
        </p:nvCxnSpPr>
        <p:spPr>
          <a:xfrm rot="-57290">
            <a:off x="762053" y="1136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19D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1524000"/>
            <a:ext cx="5080000" cy="635000"/>
          </a:xfrm>
          <a:prstGeom prst="roundRect">
            <a:avLst>
              <a:gd name="adj" fmla="val 12000"/>
            </a:avLst>
          </a:prstGeom>
          <a:solidFill>
            <a:srgbClr val="519D78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1016000" y="164338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519D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更高级的感知技术</a:t>
            </a:r>
            <a:endParaRPr lang="en-US" sz="2400" b="1" i="0" u="none" strike="noStrike">
              <a:solidFill>
                <a:srgbClr val="519D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666750" y="2159000"/>
            <a:ext cx="5563235" cy="342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  <a:defRPr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BEV + Transformer 成为主流范式</a:t>
            </a:r>
            <a:endParaRPr lang="en-US"/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多模态深度融合</a:t>
            </a: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LiDAR + Camera + Radar</a:t>
            </a:r>
            <a:endParaRPr lang="en-US" sz="20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Occupancy / 4D 时序感知</a:t>
            </a: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细粒度动态建模</a:t>
            </a:r>
            <a:endParaRPr lang="en-US" sz="20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大模型 / 世界模型 / 自监督学习</a:t>
            </a:r>
            <a:endParaRPr lang="en-US" sz="2000" b="1" i="0" u="none" strike="noStrike">
              <a:solidFill>
                <a:srgbClr val="1826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350000" y="1524000"/>
            <a:ext cx="5080000" cy="635000"/>
          </a:xfrm>
          <a:prstGeom prst="roundRect">
            <a:avLst>
              <a:gd name="adj" fmla="val 12000"/>
            </a:avLst>
          </a:prstGeom>
          <a:solidFill>
            <a:srgbClr val="1E3C78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6604000" y="164338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更高级的规划技术</a:t>
            </a:r>
            <a:endParaRPr lang="en-US" sz="2400" b="1" i="0" u="none" strike="noStrike">
              <a:solidFill>
                <a:srgbClr val="1E3C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6544945" y="2159000"/>
            <a:ext cx="5012690" cy="342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  <a:defRPr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端到端规划</a:t>
            </a: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UniAD 范式持续演进</a:t>
            </a:r>
            <a:endParaRPr lang="en-US"/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规划导向设计</a:t>
            </a: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所有任务服务于规划目标</a:t>
            </a:r>
            <a:endParaRPr lang="en-US" sz="20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安全强化学习</a:t>
            </a: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约束RL、多目标RL</a:t>
            </a:r>
            <a:endParaRPr lang="en-US" sz="20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多智能体协同</a:t>
            </a: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V2X、车路协同</a:t>
            </a:r>
            <a:endParaRPr lang="en-US" sz="20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517625" y="292500"/>
            <a:ext cx="3429000" cy="1663700"/>
            <a:chOff x="508000" y="254000"/>
            <a:chExt cx="3429000" cy="1663700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8000" y="379580"/>
              <a:ext cx="3429000" cy="0"/>
            </a:xfrm>
            <a:prstGeom prst="line">
              <a:avLst/>
            </a:prstGeom>
            <a:ln w="19050">
              <a:gradFill>
                <a:gsLst>
                  <a:gs pos="3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660400" y="254000"/>
              <a:ext cx="0" cy="166370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4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文本框 73"/>
          <p:cNvSpPr txBox="1"/>
          <p:nvPr/>
        </p:nvSpPr>
        <p:spPr>
          <a:xfrm>
            <a:off x="666750" y="455930"/>
            <a:ext cx="1103947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未来展望（一）：更高级的感知与规划技术</a:t>
            </a:r>
            <a:endParaRPr lang="zh-CN" altLang="en-US" sz="3200" dirty="0">
              <a:solidFill>
                <a:schemeClr val="accent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锐字奥运精神拼搏简免费-闪" panose="02010604000000000000" charset="-122"/>
              <a:ea typeface="锐字奥运精神拼搏简免费-闪" panose="02010604000000000000" charset="-122"/>
              <a:cs typeface="锐字奥运精神拼搏简免费-闪" panose="02010604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3"/>
          <p:cNvCxnSpPr/>
          <p:nvPr/>
        </p:nvCxnSpPr>
        <p:spPr>
          <a:xfrm rot="-57290">
            <a:off x="762053" y="1136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19D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524000"/>
            <a:ext cx="5080000" cy="635000"/>
          </a:xfrm>
          <a:prstGeom prst="roundRect">
            <a:avLst>
              <a:gd name="adj" fmla="val 12000"/>
            </a:avLst>
          </a:prstGeom>
          <a:solidFill>
            <a:srgbClr val="519D78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>
            <p:custDataLst>
              <p:tags r:id="rId2"/>
            </p:custDataLst>
          </p:nvPr>
        </p:nvSpPr>
        <p:spPr>
          <a:xfrm>
            <a:off x="1016000" y="1602105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519D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更安全的驾驶环境</a:t>
            </a:r>
            <a:endParaRPr lang="en-US" sz="2800" b="1" i="0" u="none" strike="noStrike">
              <a:solidFill>
                <a:srgbClr val="519D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 txBox="1"/>
          <p:nvPr>
            <p:custDataLst>
              <p:tags r:id="rId3"/>
            </p:custDataLst>
          </p:nvPr>
        </p:nvSpPr>
        <p:spPr>
          <a:xfrm>
            <a:off x="669925" y="2197100"/>
            <a:ext cx="5180965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  <a:defRPr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冗余感知与失败恢复</a:t>
            </a: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多传感器冗余设计</a:t>
            </a:r>
            <a:endParaRPr lang="en-US"/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形式化验证与安全保证</a:t>
            </a: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数学化安全证明</a:t>
            </a:r>
            <a:endParaRPr lang="en-US" sz="20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闭环仿真与场景测试</a:t>
            </a: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大规模场景验证</a:t>
            </a:r>
            <a:endParaRPr lang="en-US" sz="20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可解释性与人机共驾</a:t>
            </a: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人机协作、相互信任</a:t>
            </a:r>
            <a:endParaRPr lang="en-US" sz="20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6350000" y="1524000"/>
            <a:ext cx="5080000" cy="635000"/>
          </a:xfrm>
          <a:prstGeom prst="roundRect">
            <a:avLst>
              <a:gd name="adj" fmla="val 12000"/>
            </a:avLst>
          </a:prstGeom>
          <a:solidFill>
            <a:srgbClr val="1E3C78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>
            <p:custDataLst>
              <p:tags r:id="rId5"/>
            </p:custDataLst>
          </p:nvPr>
        </p:nvSpPr>
        <p:spPr>
          <a:xfrm>
            <a:off x="6604000" y="1602105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更广泛的应用场景</a:t>
            </a:r>
            <a:endParaRPr lang="en-US" sz="2800" b="1" i="0" u="none" strike="noStrike">
              <a:solidFill>
                <a:srgbClr val="1E3C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>
            <p:custDataLst>
              <p:tags r:id="rId6"/>
            </p:custDataLst>
          </p:nvPr>
        </p:nvSpPr>
        <p:spPr>
          <a:xfrm>
            <a:off x="6257925" y="2197100"/>
            <a:ext cx="5180965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  <a:defRPr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城市道路</a:t>
            </a: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Robotaxi、智能公交</a:t>
            </a:r>
            <a:endParaRPr lang="en-US"/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园区物流</a:t>
            </a: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仓储、港口、厂区物流</a:t>
            </a:r>
            <a:endParaRPr lang="en-US" sz="20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特种场景</a:t>
            </a: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智能矿山、农业自动化</a:t>
            </a:r>
            <a:endParaRPr lang="en-US" sz="20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8000"/>
              </a:lnSpc>
              <a:buClr>
                <a:srgbClr val="18263A"/>
              </a:buClr>
              <a:buChar char="•"/>
            </a:pPr>
            <a:r>
              <a:rPr lang="en-US" sz="2000" b="1" i="0" u="none" strike="noStrike">
                <a:solidFill>
                  <a:srgbClr val="1826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特殊任务</a:t>
            </a: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救援、隧道搜索、野生动物保护</a:t>
            </a:r>
            <a:endParaRPr lang="en-US" sz="20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762000" y="59055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引用：Milestones Part II、DRL Survey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762000" y="64135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24 / 25</a:t>
            </a:r>
            <a:endParaRPr lang="en-US" sz="1100"/>
          </a:p>
        </p:txBody>
      </p:sp>
      <p:grpSp>
        <p:nvGrpSpPr>
          <p:cNvPr id="76" name="组合 75"/>
          <p:cNvGrpSpPr/>
          <p:nvPr/>
        </p:nvGrpSpPr>
        <p:grpSpPr>
          <a:xfrm>
            <a:off x="517625" y="292500"/>
            <a:ext cx="3429000" cy="1663700"/>
            <a:chOff x="508000" y="254000"/>
            <a:chExt cx="3429000" cy="1663700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8000" y="379580"/>
              <a:ext cx="3429000" cy="0"/>
            </a:xfrm>
            <a:prstGeom prst="line">
              <a:avLst/>
            </a:prstGeom>
            <a:ln w="19050">
              <a:gradFill>
                <a:gsLst>
                  <a:gs pos="3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660400" y="254000"/>
              <a:ext cx="0" cy="166370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4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文本框 73"/>
          <p:cNvSpPr txBox="1"/>
          <p:nvPr/>
        </p:nvSpPr>
        <p:spPr>
          <a:xfrm>
            <a:off x="666750" y="455930"/>
            <a:ext cx="1103947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未来展望（二）：更安全的环境与更广泛的应用</a:t>
            </a:r>
            <a:endParaRPr lang="zh-CN" altLang="en-US" sz="3200" dirty="0">
              <a:solidFill>
                <a:schemeClr val="accent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锐字奥运精神拼搏简免费-闪" panose="02010604000000000000" charset="-122"/>
              <a:ea typeface="锐字奥运精神拼搏简免费-闪" panose="02010604000000000000" charset="-122"/>
              <a:cs typeface="锐字奥运精神拼搏简免费-闪" panose="02010604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蓝色的高楼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76171" cy="6858000"/>
          </a:xfrm>
          <a:prstGeom prst="rect">
            <a:avLst/>
          </a:prstGeom>
        </p:spPr>
      </p:pic>
      <p:sp>
        <p:nvSpPr>
          <p:cNvPr id="4" name="任意多边形: 形状 3"/>
          <p:cNvSpPr/>
          <p:nvPr/>
        </p:nvSpPr>
        <p:spPr>
          <a:xfrm>
            <a:off x="1" y="0"/>
            <a:ext cx="12276171" cy="6858000"/>
          </a:xfrm>
          <a:custGeom>
            <a:avLst/>
            <a:gdLst>
              <a:gd name="connsiteX0" fmla="*/ 9083451 w 12276171"/>
              <a:gd name="connsiteY0" fmla="*/ 0 h 6858000"/>
              <a:gd name="connsiteX1" fmla="*/ 12276171 w 12276171"/>
              <a:gd name="connsiteY1" fmla="*/ 0 h 6858000"/>
              <a:gd name="connsiteX2" fmla="*/ 12276171 w 12276171"/>
              <a:gd name="connsiteY2" fmla="*/ 6858000 h 6858000"/>
              <a:gd name="connsiteX3" fmla="*/ 9083453 w 12276171"/>
              <a:gd name="connsiteY3" fmla="*/ 6858000 h 6858000"/>
              <a:gd name="connsiteX4" fmla="*/ 9154685 w 12276171"/>
              <a:gd name="connsiteY4" fmla="*/ 6796298 h 6858000"/>
              <a:gd name="connsiteX5" fmla="*/ 10645060 w 12276171"/>
              <a:gd name="connsiteY5" fmla="*/ 3429001 h 6858000"/>
              <a:gd name="connsiteX6" fmla="*/ 9154685 w 12276171"/>
              <a:gd name="connsiteY6" fmla="*/ 61705 h 6858000"/>
              <a:gd name="connsiteX7" fmla="*/ 0 w 12276171"/>
              <a:gd name="connsiteY7" fmla="*/ 0 h 6858000"/>
              <a:gd name="connsiteX8" fmla="*/ 3108549 w 12276171"/>
              <a:gd name="connsiteY8" fmla="*/ 0 h 6858000"/>
              <a:gd name="connsiteX9" fmla="*/ 3037315 w 12276171"/>
              <a:gd name="connsiteY9" fmla="*/ 61705 h 6858000"/>
              <a:gd name="connsiteX10" fmla="*/ 1546940 w 12276171"/>
              <a:gd name="connsiteY10" fmla="*/ 3429001 h 6858000"/>
              <a:gd name="connsiteX11" fmla="*/ 3037315 w 12276171"/>
              <a:gd name="connsiteY11" fmla="*/ 6796298 h 6858000"/>
              <a:gd name="connsiteX12" fmla="*/ 3108547 w 12276171"/>
              <a:gd name="connsiteY12" fmla="*/ 6858000 h 6858000"/>
              <a:gd name="connsiteX13" fmla="*/ 0 w 12276171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76171" h="6858000">
                <a:moveTo>
                  <a:pt x="9083451" y="0"/>
                </a:moveTo>
                <a:lnTo>
                  <a:pt x="12276171" y="0"/>
                </a:lnTo>
                <a:lnTo>
                  <a:pt x="12276171" y="6858000"/>
                </a:lnTo>
                <a:lnTo>
                  <a:pt x="9083453" y="6858000"/>
                </a:lnTo>
                <a:lnTo>
                  <a:pt x="9154685" y="6796298"/>
                </a:lnTo>
                <a:cubicBezTo>
                  <a:pt x="10070254" y="5964148"/>
                  <a:pt x="10645060" y="4763701"/>
                  <a:pt x="10645060" y="3429001"/>
                </a:cubicBezTo>
                <a:cubicBezTo>
                  <a:pt x="10645060" y="2094301"/>
                  <a:pt x="10070254" y="893855"/>
                  <a:pt x="9154685" y="61705"/>
                </a:cubicBezTo>
                <a:close/>
                <a:moveTo>
                  <a:pt x="0" y="0"/>
                </a:moveTo>
                <a:lnTo>
                  <a:pt x="3108549" y="0"/>
                </a:lnTo>
                <a:lnTo>
                  <a:pt x="3037315" y="61705"/>
                </a:lnTo>
                <a:cubicBezTo>
                  <a:pt x="2121747" y="893855"/>
                  <a:pt x="1546940" y="2094301"/>
                  <a:pt x="1546940" y="3429001"/>
                </a:cubicBezTo>
                <a:cubicBezTo>
                  <a:pt x="1546940" y="4763701"/>
                  <a:pt x="2121747" y="5964148"/>
                  <a:pt x="3037315" y="6796298"/>
                </a:cubicBezTo>
                <a:lnTo>
                  <a:pt x="3108547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3306000" y="639000"/>
            <a:ext cx="5580000" cy="5580000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44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953801" y="4832060"/>
            <a:ext cx="428440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 </a:t>
            </a:r>
            <a:endParaRPr lang="en-US" altLang="zh-CN" sz="140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648328" y="2754480"/>
            <a:ext cx="8895347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+mj-ea"/>
                <a:ea typeface="+mj-ea"/>
              </a:rPr>
              <a:t>总结</a:t>
            </a:r>
            <a:endParaRPr lang="zh-CN" altLang="en-US" sz="6000" b="1" dirty="0">
              <a:solidFill>
                <a:schemeClr val="bg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+mj-ea"/>
              <a:ea typeface="+mj-ea"/>
            </a:endParaRPr>
          </a:p>
          <a:p>
            <a:pPr algn="ctr"/>
            <a:r>
              <a:rPr lang="zh-CN" altLang="en-US" sz="60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+mj-ea"/>
                <a:ea typeface="+mj-ea"/>
              </a:rPr>
              <a:t>与</a:t>
            </a:r>
            <a:r>
              <a:rPr lang="zh-CN" altLang="en-US" sz="60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+mj-ea"/>
                <a:ea typeface="+mj-ea"/>
              </a:rPr>
              <a:t>参考文献</a:t>
            </a:r>
            <a:endParaRPr lang="zh-CN" altLang="en-US" sz="6000" b="1" dirty="0">
              <a:solidFill>
                <a:schemeClr val="bg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48328" y="747370"/>
            <a:ext cx="8895347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gradFill>
                  <a:gsLst>
                    <a:gs pos="72000">
                      <a:schemeClr val="bg1">
                        <a:alpha val="0"/>
                      </a:schemeClr>
                    </a:gs>
                    <a:gs pos="0">
                      <a:schemeClr val="accent2">
                        <a:lumMod val="20000"/>
                        <a:lumOff val="80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+mj-ea"/>
                <a:ea typeface="+mj-ea"/>
              </a:rPr>
              <a:t>06</a:t>
            </a:r>
            <a:endParaRPr lang="zh-CN" altLang="en-US" sz="13800" dirty="0">
              <a:gradFill>
                <a:gsLst>
                  <a:gs pos="72000">
                    <a:schemeClr val="bg1">
                      <a:alpha val="0"/>
                    </a:schemeClr>
                  </a:gs>
                  <a:gs pos="0">
                    <a:schemeClr val="accent2">
                      <a:lumMod val="20000"/>
                      <a:lumOff val="80000"/>
                    </a:schemeClr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0894369" y="6060244"/>
            <a:ext cx="819753" cy="262630"/>
            <a:chOff x="10894368" y="6060244"/>
            <a:chExt cx="819753" cy="262630"/>
          </a:xfrm>
        </p:grpSpPr>
        <p:sp>
          <p:nvSpPr>
            <p:cNvPr id="14" name="半闭框 25"/>
            <p:cNvSpPr/>
            <p:nvPr/>
          </p:nvSpPr>
          <p:spPr>
            <a:xfrm rot="8100000">
              <a:off x="11451491" y="6060244"/>
              <a:ext cx="262630" cy="262630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半闭框 25"/>
            <p:cNvSpPr/>
            <p:nvPr/>
          </p:nvSpPr>
          <p:spPr>
            <a:xfrm rot="8100000">
              <a:off x="11172929" y="6060244"/>
              <a:ext cx="262630" cy="262630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半闭框 25"/>
            <p:cNvSpPr/>
            <p:nvPr/>
          </p:nvSpPr>
          <p:spPr>
            <a:xfrm rot="8100000">
              <a:off x="10894368" y="6060244"/>
              <a:ext cx="262630" cy="262630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9" name="直接连接符 18"/>
          <p:cNvCxnSpPr/>
          <p:nvPr/>
        </p:nvCxnSpPr>
        <p:spPr>
          <a:xfrm>
            <a:off x="5795187" y="5613401"/>
            <a:ext cx="685800" cy="0"/>
          </a:xfrm>
          <a:prstGeom prst="line">
            <a:avLst/>
          </a:prstGeom>
          <a:ln w="3492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3"/>
          <p:cNvCxnSpPr/>
          <p:nvPr/>
        </p:nvCxnSpPr>
        <p:spPr>
          <a:xfrm rot="-57290">
            <a:off x="762053" y="1136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E3C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762000" y="1410335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核心总结</a:t>
            </a:r>
            <a:endParaRPr lang="en-US" sz="2800" b="1" i="0" u="none" strike="noStrike">
              <a:solidFill>
                <a:srgbClr val="1E3C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666750" y="2162175"/>
            <a:ext cx="5080000" cy="33604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-152400" algn="l">
              <a:lnSpc>
                <a:spcPct val="150000"/>
              </a:lnSpc>
              <a:buClr>
                <a:srgbClr val="519D78"/>
              </a:buClr>
              <a:buChar char="•"/>
              <a:defRPr/>
            </a:pPr>
            <a:r>
              <a:rPr lang="en-US" sz="2000" b="1" i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感知演进</a:t>
            </a:r>
            <a:r>
              <a:rPr lang="en-US" sz="2000" b="0" i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单传感器 → 多模态 → BEV → Occupancy → 端到端</a:t>
            </a:r>
            <a:endParaRPr lang="en-US"/>
          </a:p>
          <a:p>
            <a:pPr marL="152400" indent="-152400" algn="l">
              <a:lnSpc>
                <a:spcPct val="150000"/>
              </a:lnSpc>
              <a:buClr>
                <a:srgbClr val="1E3C78"/>
              </a:buClr>
              <a:buChar char="•"/>
            </a:pPr>
            <a:r>
              <a:rPr lang="en-US" sz="2000" b="1" i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规划演进</a:t>
            </a:r>
            <a:r>
              <a:rPr lang="en-US" sz="2000" b="0" i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规则/图搜索 → 最优控制 → 学习型 → 端到端规划</a:t>
            </a:r>
            <a:endParaRPr lang="en-US" sz="20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-152400" algn="l">
              <a:lnSpc>
                <a:spcPct val="150000"/>
              </a:lnSpc>
              <a:buClr>
                <a:srgbClr val="C05050"/>
              </a:buClr>
              <a:buChar char="•"/>
            </a:pPr>
            <a:r>
              <a:rPr lang="en-US" sz="2000" b="1" i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挑战</a:t>
            </a:r>
            <a:r>
              <a:rPr lang="en-US" sz="2000" b="0" i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环境、交通、传感器、安全、验证</a:t>
            </a:r>
            <a:endParaRPr lang="en-US" sz="20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-152400" algn="l">
              <a:lnSpc>
                <a:spcPct val="150000"/>
              </a:lnSpc>
              <a:buClr>
                <a:srgbClr val="519D78"/>
              </a:buClr>
              <a:buChar char="•"/>
            </a:pPr>
            <a:r>
              <a:rPr lang="en-US" sz="2000" b="1" i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</a:t>
            </a:r>
            <a:r>
              <a:rPr lang="en-US" sz="2000" b="0" i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20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更高级感知、更安全规划、更广泛应用</a:t>
            </a:r>
            <a:endParaRPr lang="en-US" sz="20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6350000" y="136017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3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主要参考文献</a:t>
            </a:r>
            <a:endParaRPr lang="en-US" sz="2800" b="1" i="0" u="none" strike="noStrike">
              <a:solidFill>
                <a:srgbClr val="1E3C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6350000" y="1889760"/>
            <a:ext cx="5355590" cy="42513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[1] Chen L, et al. Milestones in Autonomous Driving and Intelligent Vehicles — Part II: Perception and Planning. IEEE TSMC, 2023.</a:t>
            </a:r>
            <a:endParaRPr sz="24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[2] Ren S, et al. Faster R-CNN: Towards Real-Time Object Detection with Region Proposal Networks. NIPS 2015 / TPAMI 2017.</a:t>
            </a:r>
            <a:endParaRPr sz="24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[3] Li Z, et al. BEVFormer: Learning Bird's-Eye-View Representation from Multi-Camera Images via Spatiotemporal Transformers. ECCV 2022 / TPAMI 2025.</a:t>
            </a:r>
            <a:endParaRPr sz="24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[4] Kiran B R, et al. Deep Reinforcement Learning for Autonomous Driving: A Survey. IEEE T-ITS.</a:t>
            </a:r>
            <a:endParaRPr sz="24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[5] Werling M, et al. Optimal Trajectory Generation for Dynamic Street Scenarios in a Frenet Frame. ICRA 2010.</a:t>
            </a:r>
            <a:endParaRPr sz="24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6978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[6] Hu Y, et al. Planning-oriented Autonomous Driving (UniAD). CVPR 2023.</a:t>
            </a:r>
            <a:endParaRPr lang="en-US" sz="1400" b="0" i="0" u="none" strike="noStrike">
              <a:solidFill>
                <a:srgbClr val="69788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517625" y="292500"/>
            <a:ext cx="3429000" cy="1663700"/>
            <a:chOff x="508000" y="254000"/>
            <a:chExt cx="3429000" cy="1663700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8000" y="379580"/>
              <a:ext cx="3429000" cy="0"/>
            </a:xfrm>
            <a:prstGeom prst="line">
              <a:avLst/>
            </a:prstGeom>
            <a:ln w="19050">
              <a:gradFill>
                <a:gsLst>
                  <a:gs pos="3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660400" y="254000"/>
              <a:ext cx="0" cy="166370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4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文本框 73"/>
          <p:cNvSpPr txBox="1"/>
          <p:nvPr/>
        </p:nvSpPr>
        <p:spPr>
          <a:xfrm>
            <a:off x="666750" y="455930"/>
            <a:ext cx="1103947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r>
              <a:rPr lang="zh-CN" altLang="en-US" sz="3200" dirty="0">
                <a:solidFill>
                  <a:schemeClr val="accent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锐字奥运精神拼搏简免费-闪" panose="02010604000000000000" charset="-122"/>
                <a:ea typeface="锐字奥运精神拼搏简免费-闪" panose="02010604000000000000" charset="-122"/>
                <a:cs typeface="锐字奥运精神拼搏简免费-闪" panose="02010604000000000000" charset="-122"/>
              </a:rPr>
              <a:t>总结、参考文献</a:t>
            </a:r>
            <a:endParaRPr lang="zh-CN" altLang="en-US" sz="3200" dirty="0">
              <a:solidFill>
                <a:schemeClr val="accent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锐字奥运精神拼搏简免费-闪" panose="02010604000000000000" charset="-122"/>
              <a:ea typeface="锐字奥运精神拼搏简免费-闪" panose="02010604000000000000" charset="-122"/>
              <a:cs typeface="锐字奥运精神拼搏简免费-闪" panose="02010604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蓝色的高楼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4" name="任意多边形: 形状 3"/>
          <p:cNvSpPr/>
          <p:nvPr/>
        </p:nvSpPr>
        <p:spPr>
          <a:xfrm>
            <a:off x="2" y="0"/>
            <a:ext cx="12191999" cy="6858000"/>
          </a:xfrm>
          <a:custGeom>
            <a:avLst/>
            <a:gdLst>
              <a:gd name="connsiteX0" fmla="*/ 9083451 w 12276171"/>
              <a:gd name="connsiteY0" fmla="*/ 0 h 6858000"/>
              <a:gd name="connsiteX1" fmla="*/ 12276171 w 12276171"/>
              <a:gd name="connsiteY1" fmla="*/ 0 h 6858000"/>
              <a:gd name="connsiteX2" fmla="*/ 12276171 w 12276171"/>
              <a:gd name="connsiteY2" fmla="*/ 6858000 h 6858000"/>
              <a:gd name="connsiteX3" fmla="*/ 9083453 w 12276171"/>
              <a:gd name="connsiteY3" fmla="*/ 6858000 h 6858000"/>
              <a:gd name="connsiteX4" fmla="*/ 9154685 w 12276171"/>
              <a:gd name="connsiteY4" fmla="*/ 6796298 h 6858000"/>
              <a:gd name="connsiteX5" fmla="*/ 10645060 w 12276171"/>
              <a:gd name="connsiteY5" fmla="*/ 3429001 h 6858000"/>
              <a:gd name="connsiteX6" fmla="*/ 9154685 w 12276171"/>
              <a:gd name="connsiteY6" fmla="*/ 61705 h 6858000"/>
              <a:gd name="connsiteX7" fmla="*/ 0 w 12276171"/>
              <a:gd name="connsiteY7" fmla="*/ 0 h 6858000"/>
              <a:gd name="connsiteX8" fmla="*/ 3108549 w 12276171"/>
              <a:gd name="connsiteY8" fmla="*/ 0 h 6858000"/>
              <a:gd name="connsiteX9" fmla="*/ 3037315 w 12276171"/>
              <a:gd name="connsiteY9" fmla="*/ 61705 h 6858000"/>
              <a:gd name="connsiteX10" fmla="*/ 1546940 w 12276171"/>
              <a:gd name="connsiteY10" fmla="*/ 3429001 h 6858000"/>
              <a:gd name="connsiteX11" fmla="*/ 3037315 w 12276171"/>
              <a:gd name="connsiteY11" fmla="*/ 6796298 h 6858000"/>
              <a:gd name="connsiteX12" fmla="*/ 3108547 w 12276171"/>
              <a:gd name="connsiteY12" fmla="*/ 6858000 h 6858000"/>
              <a:gd name="connsiteX13" fmla="*/ 0 w 12276171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76171" h="6858000">
                <a:moveTo>
                  <a:pt x="9083451" y="0"/>
                </a:moveTo>
                <a:lnTo>
                  <a:pt x="12276171" y="0"/>
                </a:lnTo>
                <a:lnTo>
                  <a:pt x="12276171" y="6858000"/>
                </a:lnTo>
                <a:lnTo>
                  <a:pt x="9083453" y="6858000"/>
                </a:lnTo>
                <a:lnTo>
                  <a:pt x="9154685" y="6796298"/>
                </a:lnTo>
                <a:cubicBezTo>
                  <a:pt x="10070254" y="5964148"/>
                  <a:pt x="10645060" y="4763701"/>
                  <a:pt x="10645060" y="3429001"/>
                </a:cubicBezTo>
                <a:cubicBezTo>
                  <a:pt x="10645060" y="2094301"/>
                  <a:pt x="10070254" y="893855"/>
                  <a:pt x="9154685" y="61705"/>
                </a:cubicBezTo>
                <a:close/>
                <a:moveTo>
                  <a:pt x="0" y="0"/>
                </a:moveTo>
                <a:lnTo>
                  <a:pt x="3108549" y="0"/>
                </a:lnTo>
                <a:lnTo>
                  <a:pt x="3037315" y="61705"/>
                </a:lnTo>
                <a:cubicBezTo>
                  <a:pt x="2121747" y="893855"/>
                  <a:pt x="1546940" y="2094301"/>
                  <a:pt x="1546940" y="3429001"/>
                </a:cubicBezTo>
                <a:cubicBezTo>
                  <a:pt x="1546940" y="4763701"/>
                  <a:pt x="2121747" y="5964148"/>
                  <a:pt x="3037315" y="6796298"/>
                </a:cubicBezTo>
                <a:lnTo>
                  <a:pt x="3108547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3306000" y="639000"/>
            <a:ext cx="5580000" cy="5580000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44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648328" y="2644027"/>
            <a:ext cx="8895347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谢谢您的观看</a:t>
            </a:r>
            <a:endParaRPr lang="zh-CN" altLang="en-US" sz="9600" b="1" dirty="0">
              <a:solidFill>
                <a:schemeClr val="bg1"/>
              </a:soli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48328" y="1508319"/>
            <a:ext cx="889534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600" dirty="0">
                <a:gradFill>
                  <a:gsLst>
                    <a:gs pos="72000">
                      <a:schemeClr val="bg1">
                        <a:alpha val="0"/>
                      </a:schemeClr>
                    </a:gs>
                    <a:gs pos="0">
                      <a:schemeClr val="accent2">
                        <a:lumMod val="20000"/>
                        <a:lumOff val="80000"/>
                        <a:alpha val="65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F1D2F">
                      <a:alpha val="30000"/>
                    </a:srgbClr>
                  </a:outerShdw>
                </a:effectLst>
                <a:latin typeface="+mj-ea"/>
                <a:ea typeface="+mj-ea"/>
              </a:rPr>
              <a:t>Thanks</a:t>
            </a:r>
            <a:endParaRPr lang="zh-CN" altLang="en-US" sz="7600" dirty="0">
              <a:gradFill>
                <a:gsLst>
                  <a:gs pos="72000">
                    <a:schemeClr val="bg1">
                      <a:alpha val="0"/>
                    </a:schemeClr>
                  </a:gs>
                  <a:gs pos="0">
                    <a:schemeClr val="accent2">
                      <a:lumMod val="20000"/>
                      <a:lumOff val="80000"/>
                      <a:alpha val="65000"/>
                    </a:schemeClr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srgbClr val="0F1D2F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0894369" y="6060244"/>
            <a:ext cx="819753" cy="262630"/>
            <a:chOff x="10894368" y="6060244"/>
            <a:chExt cx="819753" cy="262630"/>
          </a:xfrm>
        </p:grpSpPr>
        <p:sp>
          <p:nvSpPr>
            <p:cNvPr id="14" name="半闭框 25"/>
            <p:cNvSpPr/>
            <p:nvPr/>
          </p:nvSpPr>
          <p:spPr>
            <a:xfrm rot="8100000">
              <a:off x="11451491" y="6060244"/>
              <a:ext cx="262630" cy="262630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半闭框 25"/>
            <p:cNvSpPr/>
            <p:nvPr/>
          </p:nvSpPr>
          <p:spPr>
            <a:xfrm rot="8100000">
              <a:off x="11172929" y="6060244"/>
              <a:ext cx="262630" cy="262630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半闭框 25"/>
            <p:cNvSpPr/>
            <p:nvPr/>
          </p:nvSpPr>
          <p:spPr>
            <a:xfrm rot="8100000">
              <a:off x="10894368" y="6060244"/>
              <a:ext cx="262630" cy="262630"/>
            </a:xfrm>
            <a:custGeom>
              <a:avLst/>
              <a:gdLst>
                <a:gd name="connsiteX0" fmla="*/ 36000 w 359030"/>
                <a:gd name="connsiteY0" fmla="*/ 0 h 359030"/>
                <a:gd name="connsiteX1" fmla="*/ 322959 w 359030"/>
                <a:gd name="connsiteY1" fmla="*/ 0 h 359030"/>
                <a:gd name="connsiteX2" fmla="*/ 348415 w 359030"/>
                <a:gd name="connsiteY2" fmla="*/ 61456 h 359030"/>
                <a:gd name="connsiteX3" fmla="*/ 283794 w 359030"/>
                <a:gd name="connsiteY3" fmla="*/ 126078 h 359030"/>
                <a:gd name="connsiteX4" fmla="*/ 258338 w 359030"/>
                <a:gd name="connsiteY4" fmla="*/ 136622 h 359030"/>
                <a:gd name="connsiteX5" fmla="*/ 172622 w 359030"/>
                <a:gd name="connsiteY5" fmla="*/ 136622 h 359030"/>
                <a:gd name="connsiteX6" fmla="*/ 136622 w 359030"/>
                <a:gd name="connsiteY6" fmla="*/ 172622 h 359030"/>
                <a:gd name="connsiteX7" fmla="*/ 136622 w 359030"/>
                <a:gd name="connsiteY7" fmla="*/ 258337 h 359030"/>
                <a:gd name="connsiteX8" fmla="*/ 126078 w 359030"/>
                <a:gd name="connsiteY8" fmla="*/ 283793 h 359030"/>
                <a:gd name="connsiteX9" fmla="*/ 61456 w 359030"/>
                <a:gd name="connsiteY9" fmla="*/ 348415 h 359030"/>
                <a:gd name="connsiteX10" fmla="*/ 0 w 359030"/>
                <a:gd name="connsiteY10" fmla="*/ 322959 h 359030"/>
                <a:gd name="connsiteX11" fmla="*/ 0 w 359030"/>
                <a:gd name="connsiteY11" fmla="*/ 36000 h 359030"/>
                <a:gd name="connsiteX12" fmla="*/ 36000 w 359030"/>
                <a:gd name="connsiteY12" fmla="*/ 0 h 35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030" h="359030">
                  <a:moveTo>
                    <a:pt x="36000" y="0"/>
                  </a:moveTo>
                  <a:lnTo>
                    <a:pt x="322959" y="0"/>
                  </a:lnTo>
                  <a:cubicBezTo>
                    <a:pt x="355030" y="0"/>
                    <a:pt x="371093" y="38779"/>
                    <a:pt x="348415" y="61456"/>
                  </a:cubicBezTo>
                  <a:lnTo>
                    <a:pt x="283794" y="126078"/>
                  </a:lnTo>
                  <a:cubicBezTo>
                    <a:pt x="277045" y="132826"/>
                    <a:pt x="267881" y="136622"/>
                    <a:pt x="258338" y="136622"/>
                  </a:cubicBezTo>
                  <a:lnTo>
                    <a:pt x="172622" y="136622"/>
                  </a:lnTo>
                  <a:cubicBezTo>
                    <a:pt x="152750" y="136622"/>
                    <a:pt x="136622" y="152750"/>
                    <a:pt x="136622" y="172622"/>
                  </a:cubicBezTo>
                  <a:lnTo>
                    <a:pt x="136622" y="258337"/>
                  </a:lnTo>
                  <a:cubicBezTo>
                    <a:pt x="136622" y="267881"/>
                    <a:pt x="132826" y="277045"/>
                    <a:pt x="126078" y="283793"/>
                  </a:cubicBezTo>
                  <a:lnTo>
                    <a:pt x="61456" y="348415"/>
                  </a:lnTo>
                  <a:cubicBezTo>
                    <a:pt x="38778" y="371092"/>
                    <a:pt x="0" y="355030"/>
                    <a:pt x="0" y="322959"/>
                  </a:cubicBezTo>
                  <a:lnTo>
                    <a:pt x="0" y="36000"/>
                  </a:lnTo>
                  <a:cubicBezTo>
                    <a:pt x="0" y="16128"/>
                    <a:pt x="16128" y="0"/>
                    <a:pt x="36000" y="0"/>
                  </a:cubicBezTo>
                </a:path>
              </a:pathLst>
            </a:custGeom>
            <a:noFill/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2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3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4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5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6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7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8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9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10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11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12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13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14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15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16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17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18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19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20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21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22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23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24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25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26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27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28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29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30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31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32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33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34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35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36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37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38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39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40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41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42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43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44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45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46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47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48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49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50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51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52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53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54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55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56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57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58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59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60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61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62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63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64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65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66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67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68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69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70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71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72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73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74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75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76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77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78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79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80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81.xml><?xml version="1.0" encoding="utf-8"?>
<p:tagLst xmlns:p="http://schemas.openxmlformats.org/presentationml/2006/main">
  <p:tag name="KSO_WM_DIAGRAM_VIRTUALLY_FRAME" val="{&quot;height&quot;:288.57163949830374,&quot;left&quot;:13.1,&quot;top&quot;:165.35,&quot;width&quot;:689.558976377953}"/>
</p:tagLst>
</file>

<file path=ppt/tags/tag82.xml><?xml version="1.0" encoding="utf-8"?>
<p:tagLst xmlns:p="http://schemas.openxmlformats.org/presentationml/2006/main">
  <p:tag name="KSO_WM_DIAGRAM_VIRTUALLY_FRAME" val="{&quot;height&quot;:420.7,&quot;left&quot;:-43.15,&quot;top&quot;:100.75,&quot;width&quot;:991.5}"/>
</p:tagLst>
</file>

<file path=ppt/tags/tag83.xml><?xml version="1.0" encoding="utf-8"?>
<p:tagLst xmlns:p="http://schemas.openxmlformats.org/presentationml/2006/main">
  <p:tag name="KSO_WM_DIAGRAM_VIRTUALLY_FRAME" val="{&quot;height&quot;:420.7,&quot;left&quot;:-43.15,&quot;top&quot;:100.75,&quot;width&quot;:991.5}"/>
</p:tagLst>
</file>

<file path=ppt/tags/tag84.xml><?xml version="1.0" encoding="utf-8"?>
<p:tagLst xmlns:p="http://schemas.openxmlformats.org/presentationml/2006/main">
  <p:tag name="KSO_WM_DIAGRAM_VIRTUALLY_FRAME" val="{&quot;height&quot;:420.7,&quot;left&quot;:-43.15,&quot;top&quot;:100.75,&quot;width&quot;:991.5}"/>
</p:tagLst>
</file>

<file path=ppt/tags/tag85.xml><?xml version="1.0" encoding="utf-8"?>
<p:tagLst xmlns:p="http://schemas.openxmlformats.org/presentationml/2006/main">
  <p:tag name="KSO_WM_DIAGRAM_VIRTUALLY_FRAME" val="{&quot;height&quot;:420.7,&quot;left&quot;:-43.15,&quot;top&quot;:100.75,&quot;width&quot;:991.5}"/>
</p:tagLst>
</file>

<file path=ppt/tags/tag86.xml><?xml version="1.0" encoding="utf-8"?>
<p:tagLst xmlns:p="http://schemas.openxmlformats.org/presentationml/2006/main">
  <p:tag name="KSO_WM_DIAGRAM_VIRTUALLY_FRAME" val="{&quot;height&quot;:420.7,&quot;left&quot;:-43.15,&quot;top&quot;:100.75,&quot;width&quot;:991.5}"/>
</p:tagLst>
</file>

<file path=ppt/tags/tag87.xml><?xml version="1.0" encoding="utf-8"?>
<p:tagLst xmlns:p="http://schemas.openxmlformats.org/presentationml/2006/main">
  <p:tag name="KSO_WM_DIAGRAM_VIRTUALLY_FRAME" val="{&quot;height&quot;:420.7,&quot;left&quot;:-43.15,&quot;top&quot;:100.75,&quot;width&quot;:991.5}"/>
</p:tagLst>
</file>

<file path=ppt/tags/tag88.xml><?xml version="1.0" encoding="utf-8"?>
<p:tagLst xmlns:p="http://schemas.openxmlformats.org/presentationml/2006/main">
  <p:tag name="KSO_WM_DIAGRAM_VIRTUALLY_FRAME" val="{&quot;height&quot;:420.7,&quot;left&quot;:-43.15,&quot;top&quot;:100.75,&quot;width&quot;:991.5}"/>
</p:tagLst>
</file>

<file path=ppt/tags/tag89.xml><?xml version="1.0" encoding="utf-8"?>
<p:tagLst xmlns:p="http://schemas.openxmlformats.org/presentationml/2006/main">
  <p:tag name="KSO_WM_DIAGRAM_VIRTUALLY_FRAME" val="{&quot;height&quot;:420.7,&quot;left&quot;:-43.15,&quot;top&quot;:100.75,&quot;width&quot;:991.5}"/>
</p:tagLst>
</file>

<file path=ppt/tags/tag90.xml><?xml version="1.0" encoding="utf-8"?>
<p:tagLst xmlns:p="http://schemas.openxmlformats.org/presentationml/2006/main">
  <p:tag name="KSO_WM_DIAGRAM_VIRTUALLY_FRAME" val="{&quot;height&quot;:420.7,&quot;left&quot;:-43.15,&quot;top&quot;:100.75,&quot;width&quot;:991.5}"/>
</p:tagLst>
</file>

<file path=ppt/tags/tag91.xml><?xml version="1.0" encoding="utf-8"?>
<p:tagLst xmlns:p="http://schemas.openxmlformats.org/presentationml/2006/main">
  <p:tag name="KSO_WM_DIAGRAM_VIRTUALLY_FRAME" val="{&quot;height&quot;:420.7,&quot;left&quot;:-43.15,&quot;top&quot;:100.75,&quot;width&quot;:991.5}"/>
</p:tagLst>
</file>

<file path=ppt/tags/tag92.xml><?xml version="1.0" encoding="utf-8"?>
<p:tagLst xmlns:p="http://schemas.openxmlformats.org/presentationml/2006/main">
  <p:tag name="KSO_WM_DIAGRAM_VIRTUALLY_FRAME" val="{&quot;height&quot;:420.7,&quot;left&quot;:-43.15,&quot;top&quot;:100.75,&quot;width&quot;:991.5}"/>
</p:tagLst>
</file>

<file path=ppt/tags/tag93.xml><?xml version="1.0" encoding="utf-8"?>
<p:tagLst xmlns:p="http://schemas.openxmlformats.org/presentationml/2006/main">
  <p:tag name="KSO_WM_DIAGRAM_VIRTUALLY_FRAME" val="{&quot;height&quot;:420.7,&quot;left&quot;:-43.15,&quot;top&quot;:100.75,&quot;width&quot;:991.5}"/>
</p:tagLst>
</file>

<file path=ppt/tags/tag94.xml><?xml version="1.0" encoding="utf-8"?>
<p:tagLst xmlns:p="http://schemas.openxmlformats.org/presentationml/2006/main">
  <p:tag name="KSO_WM_DIAGRAM_VIRTUALLY_FRAME" val="{&quot;height&quot;:420.7,&quot;left&quot;:-43.15,&quot;top&quot;:100.75,&quot;width&quot;:991.5}"/>
</p:tagLst>
</file>

<file path=ppt/tags/tag95.xml><?xml version="1.0" encoding="utf-8"?>
<p:tagLst xmlns:p="http://schemas.openxmlformats.org/presentationml/2006/main">
  <p:tag name="KSO_WM_DIAGRAM_VIRTUALLY_FRAME" val="{&quot;height&quot;:420.7,&quot;left&quot;:-43.15,&quot;top&quot;:100.75,&quot;width&quot;:991.5}"/>
</p:tagLst>
</file>

<file path=ppt/tags/tag96.xml><?xml version="1.0" encoding="utf-8"?>
<p:tagLst xmlns:p="http://schemas.openxmlformats.org/presentationml/2006/main">
  <p:tag name="KSO_WM_DIAGRAM_VIRTUALLY_FRAME" val="{&quot;height&quot;:420.7,&quot;left&quot;:-43.15,&quot;top&quot;:100.75,&quot;width&quot;:991.5}"/>
</p:tagLst>
</file>

<file path=ppt/tags/tag97.xml><?xml version="1.0" encoding="utf-8"?>
<p:tagLst xmlns:p="http://schemas.openxmlformats.org/presentationml/2006/main">
  <p:tag name="KSO_WM_DIAGRAM_VIRTUALLY_FRAME" val="{&quot;height&quot;:420.7,&quot;left&quot;:-43.15,&quot;top&quot;:100.75,&quot;width&quot;:991.5}"/>
</p:tagLst>
</file>

<file path=ppt/tags/tag98.xml><?xml version="1.0" encoding="utf-8"?>
<p:tagLst xmlns:p="http://schemas.openxmlformats.org/presentationml/2006/main">
  <p:tag name="KSO_WM_DIAGRAM_VIRTUALLY_FRAME" val="{&quot;height&quot;:420.7,&quot;left&quot;:-43.15,&quot;top&quot;:100.75,&quot;width&quot;:991.5}"/>
</p:tagLst>
</file>

<file path=ppt/tags/tag99.xml><?xml version="1.0" encoding="utf-8"?>
<p:tagLst xmlns:p="http://schemas.openxmlformats.org/presentationml/2006/main">
  <p:tag name="KSO_WM_DIAGRAM_VIRTUALLY_FRAME" val="{&quot;height&quot;:420.7,&quot;left&quot;:-43.15,&quot;top&quot;:100.75,&quot;width&quot;:991.5}"/>
</p:tagLst>
</file>

<file path=ppt/tags/tag100.xml><?xml version="1.0" encoding="utf-8"?>
<p:tagLst xmlns:p="http://schemas.openxmlformats.org/presentationml/2006/main">
  <p:tag name="KSO_WM_DIAGRAM_VIRTUALLY_FRAME" val="{&quot;height&quot;:420.7,&quot;left&quot;:-43.15,&quot;top&quot;:100.75,&quot;width&quot;:991.5}"/>
</p:tagLst>
</file>

<file path=ppt/tags/tag101.xml><?xml version="1.0" encoding="utf-8"?>
<p:tagLst xmlns:p="http://schemas.openxmlformats.org/presentationml/2006/main">
  <p:tag name="KSO_WM_DIAGRAM_VIRTUALLY_FRAME" val="{&quot;height&quot;:420.7,&quot;left&quot;:-43.15,&quot;top&quot;:100.75,&quot;width&quot;:991.5}"/>
</p:tagLst>
</file>

<file path=ppt/tags/tag102.xml><?xml version="1.0" encoding="utf-8"?>
<p:tagLst xmlns:p="http://schemas.openxmlformats.org/presentationml/2006/main">
  <p:tag name="KSO_WM_DIAGRAM_VIRTUALLY_FRAME" val="{&quot;height&quot;:420.7,&quot;left&quot;:26.95,&quot;top&quot;:100.75,&quot;width&quot;:921.4}"/>
</p:tagLst>
</file>

<file path=ppt/tags/tag103.xml><?xml version="1.0" encoding="utf-8"?>
<p:tagLst xmlns:p="http://schemas.openxmlformats.org/presentationml/2006/main">
  <p:tag name="KSO_WM_DIAGRAM_VIRTUALLY_FRAME" val="{&quot;height&quot;:420.7,&quot;left&quot;:26.95,&quot;top&quot;:100.75,&quot;width&quot;:921.4}"/>
</p:tagLst>
</file>

<file path=ppt/tags/tag104.xml><?xml version="1.0" encoding="utf-8"?>
<p:tagLst xmlns:p="http://schemas.openxmlformats.org/presentationml/2006/main">
  <p:tag name="KSO_WM_DIAGRAM_VIRTUALLY_FRAME" val="{&quot;height&quot;:420.7,&quot;left&quot;:26.95,&quot;top&quot;:100.75,&quot;width&quot;:921.4}"/>
</p:tagLst>
</file>

<file path=ppt/tags/tag105.xml><?xml version="1.0" encoding="utf-8"?>
<p:tagLst xmlns:p="http://schemas.openxmlformats.org/presentationml/2006/main">
  <p:tag name="KSO_WM_DIAGRAM_VIRTUALLY_FRAME" val="{&quot;height&quot;:420.7,&quot;left&quot;:26.95,&quot;top&quot;:100.75,&quot;width&quot;:921.4}"/>
</p:tagLst>
</file>

<file path=ppt/tags/tag106.xml><?xml version="1.0" encoding="utf-8"?>
<p:tagLst xmlns:p="http://schemas.openxmlformats.org/presentationml/2006/main">
  <p:tag name="KSO_WM_DIAGRAM_VIRTUALLY_FRAME" val="{&quot;height&quot;:420.7,&quot;left&quot;:26.95,&quot;top&quot;:100.75,&quot;width&quot;:921.4}"/>
</p:tagLst>
</file>

<file path=ppt/tags/tag107.xml><?xml version="1.0" encoding="utf-8"?>
<p:tagLst xmlns:p="http://schemas.openxmlformats.org/presentationml/2006/main">
  <p:tag name="KSO_WM_DIAGRAM_VIRTUALLY_FRAME" val="{&quot;height&quot;:317.1436220472441,&quot;left&quot;:53.984724409448816,&quot;top&quot;:145.70614173228347,&quot;width&quot;:852.0305511811023}"/>
</p:tagLst>
</file>

<file path=ppt/tags/tag108.xml><?xml version="1.0" encoding="utf-8"?>
<p:tagLst xmlns:p="http://schemas.openxmlformats.org/presentationml/2006/main">
  <p:tag name="KSO_WM_DIAGRAM_VIRTUALLY_FRAME" val="{&quot;height&quot;:317.1436220472441,&quot;left&quot;:53.984724409448816,&quot;top&quot;:145.70614173228347,&quot;width&quot;:852.0305511811023}"/>
</p:tagLst>
</file>

<file path=ppt/tags/tag109.xml><?xml version="1.0" encoding="utf-8"?>
<p:tagLst xmlns:p="http://schemas.openxmlformats.org/presentationml/2006/main">
  <p:tag name="KSO_WM_DIAGRAM_VIRTUALLY_FRAME" val="{&quot;height&quot;:317.1436220472441,&quot;left&quot;:53.984724409448816,&quot;top&quot;:145.70614173228347,&quot;width&quot;:852.0305511811023}"/>
</p:tagLst>
</file>

<file path=ppt/tags/tag110.xml><?xml version="1.0" encoding="utf-8"?>
<p:tagLst xmlns:p="http://schemas.openxmlformats.org/presentationml/2006/main">
  <p:tag name="KSO_WM_DIAGRAM_VIRTUALLY_FRAME" val="{&quot;height&quot;:317.1436220472441,&quot;left&quot;:53.984724409448816,&quot;top&quot;:145.70614173228347,&quot;width&quot;:852.0305511811023}"/>
</p:tagLst>
</file>

<file path=ppt/tags/tag111.xml><?xml version="1.0" encoding="utf-8"?>
<p:tagLst xmlns:p="http://schemas.openxmlformats.org/presentationml/2006/main">
  <p:tag name="KSO_WM_DIAGRAM_VIRTUALLY_FRAME" val="{&quot;height&quot;:317.1436220472441,&quot;left&quot;:53.984724409448816,&quot;top&quot;:145.70614173228347,&quot;width&quot;:852.0305511811023}"/>
</p:tagLst>
</file>

<file path=ppt/tags/tag112.xml><?xml version="1.0" encoding="utf-8"?>
<p:tagLst xmlns:p="http://schemas.openxmlformats.org/presentationml/2006/main">
  <p:tag name="KSO_WM_DIAGRAM_VIRTUALLY_FRAME" val="{&quot;height&quot;:317.1436220472441,&quot;left&quot;:53.984724409448816,&quot;top&quot;:145.70614173228347,&quot;width&quot;:852.0305511811023}"/>
</p:tagLst>
</file>

<file path=ppt/tags/tag113.xml><?xml version="1.0" encoding="utf-8"?>
<p:tagLst xmlns:p="http://schemas.openxmlformats.org/presentationml/2006/main">
  <p:tag name="KSO_WM_DIAGRAM_VIRTUALLY_FRAME" val="{&quot;height&quot;:317.1436220472441,&quot;left&quot;:53.984724409448816,&quot;top&quot;:145.70614173228347,&quot;width&quot;:852.0305511811023}"/>
</p:tagLst>
</file>

<file path=ppt/tags/tag114.xml><?xml version="1.0" encoding="utf-8"?>
<p:tagLst xmlns:p="http://schemas.openxmlformats.org/presentationml/2006/main">
  <p:tag name="KSO_WM_DIAGRAM_VIRTUALLY_FRAME" val="{&quot;height&quot;:317.1436220472441,&quot;left&quot;:53.984724409448816,&quot;top&quot;:145.70614173228347,&quot;width&quot;:852.0305511811023}"/>
</p:tagLst>
</file>

<file path=ppt/tags/tag115.xml><?xml version="1.0" encoding="utf-8"?>
<p:tagLst xmlns:p="http://schemas.openxmlformats.org/presentationml/2006/main">
  <p:tag name="KSO_WM_DIAGRAM_VIRTUALLY_FRAME" val="{&quot;height&quot;:317.1436220472441,&quot;left&quot;:53.984724409448816,&quot;top&quot;:145.70614173228347,&quot;width&quot;:852.0305511811023}"/>
</p:tagLst>
</file>

<file path=ppt/tags/tag116.xml><?xml version="1.0" encoding="utf-8"?>
<p:tagLst xmlns:p="http://schemas.openxmlformats.org/presentationml/2006/main">
  <p:tag name="KSO_WM_DIAGRAM_VIRTUALLY_FRAME" val="{&quot;height&quot;:317.1436220472441,&quot;left&quot;:53.984724409448816,&quot;top&quot;:145.70614173228347,&quot;width&quot;:852.0305511811023}"/>
</p:tagLst>
</file>

<file path=ppt/tags/tag117.xml><?xml version="1.0" encoding="utf-8"?>
<p:tagLst xmlns:p="http://schemas.openxmlformats.org/presentationml/2006/main">
  <p:tag name="KSO_WM_DIAGRAM_VIRTUALLY_FRAME" val="{&quot;height&quot;:317.1436220472441,&quot;left&quot;:53.984724409448816,&quot;top&quot;:145.70614173228347,&quot;width&quot;:852.0305511811023}"/>
</p:tagLst>
</file>

<file path=ppt/tags/tag118.xml><?xml version="1.0" encoding="utf-8"?>
<p:tagLst xmlns:p="http://schemas.openxmlformats.org/presentationml/2006/main">
  <p:tag name="KSO_WM_DIAGRAM_VIRTUALLY_FRAME" val="{&quot;height&quot;:317.1436220472441,&quot;left&quot;:53.984724409448816,&quot;top&quot;:145.70614173228347,&quot;width&quot;:852.0305511811023}"/>
</p:tagLst>
</file>

<file path=ppt/tags/tag119.xml><?xml version="1.0" encoding="utf-8"?>
<p:tagLst xmlns:p="http://schemas.openxmlformats.org/presentationml/2006/main">
  <p:tag name="KSO_WM_DIAGRAM_VIRTUALLY_FRAME" val="{&quot;height&quot;:317.1436220472441,&quot;left&quot;:53.984724409448816,&quot;top&quot;:145.70614173228347,&quot;width&quot;:852.0305511811023}"/>
</p:tagLst>
</file>

<file path=ppt/tags/tag120.xml><?xml version="1.0" encoding="utf-8"?>
<p:tagLst xmlns:p="http://schemas.openxmlformats.org/presentationml/2006/main">
  <p:tag name="KSO_WM_DIAGRAM_VIRTUALLY_FRAME" val="{&quot;height&quot;:317.1436220472441,&quot;left&quot;:53.984724409448816,&quot;top&quot;:145.70614173228347,&quot;width&quot;:852.0305511811023}"/>
</p:tagLst>
</file>

<file path=ppt/tags/tag121.xml><?xml version="1.0" encoding="utf-8"?>
<p:tagLst xmlns:p="http://schemas.openxmlformats.org/presentationml/2006/main">
  <p:tag name="KSO_WM_DIAGRAM_VIRTUALLY_FRAME" val="{&quot;height&quot;:317.1436220472441,&quot;left&quot;:53.984724409448816,&quot;top&quot;:145.70614173228347,&quot;width&quot;:852.0305511811023}"/>
</p:tagLst>
</file>

<file path=ppt/tags/tag122.xml><?xml version="1.0" encoding="utf-8"?>
<p:tagLst xmlns:p="http://schemas.openxmlformats.org/presentationml/2006/main">
  <p:tag name="KSO_WM_DIAGRAM_VIRTUALLY_FRAME" val="{&quot;height&quot;:317.1436220472441,&quot;left&quot;:53.984724409448816,&quot;top&quot;:145.70614173228347,&quot;width&quot;:852.0305511811023}"/>
</p:tagLst>
</file>

<file path=ppt/tags/tag123.xml><?xml version="1.0" encoding="utf-8"?>
<p:tagLst xmlns:p="http://schemas.openxmlformats.org/presentationml/2006/main">
  <p:tag name="KSO_WM_DIAGRAM_VIRTUALLY_FRAME" val="{&quot;height&quot;:317.1436220472441,&quot;left&quot;:53.984724409448816,&quot;top&quot;:145.70614173228347,&quot;width&quot;:852.0305511811023}"/>
</p:tagLst>
</file>

<file path=ppt/tags/tag124.xml><?xml version="1.0" encoding="utf-8"?>
<p:tagLst xmlns:p="http://schemas.openxmlformats.org/presentationml/2006/main">
  <p:tag name="KSO_WM_DIAGRAM_VIRTUALLY_FRAME" val="{&quot;height&quot;:317.1436220472441,&quot;left&quot;:53.984724409448816,&quot;top&quot;:145.70614173228347,&quot;width&quot;:852.0305511811023}"/>
</p:tagLst>
</file>

<file path=ppt/tags/tag125.xml><?xml version="1.0" encoding="utf-8"?>
<p:tagLst xmlns:p="http://schemas.openxmlformats.org/presentationml/2006/main">
  <p:tag name="KSO_WM_DIAGRAM_VIRTUALLY_FRAME" val="{&quot;height&quot;:340.6363779527559,&quot;left&quot;:40.75,&quot;top&quot;:130.0136220472441,&quot;width&quot;:875}"/>
</p:tagLst>
</file>

<file path=ppt/tags/tag126.xml><?xml version="1.0" encoding="utf-8"?>
<p:tagLst xmlns:p="http://schemas.openxmlformats.org/presentationml/2006/main">
  <p:tag name="KSO_WM_DIAGRAM_VIRTUALLY_FRAME" val="{&quot;height&quot;:340.6363779527559,&quot;left&quot;:40.75,&quot;top&quot;:130.0136220472441,&quot;width&quot;:875}"/>
</p:tagLst>
</file>

<file path=ppt/tags/tag127.xml><?xml version="1.0" encoding="utf-8"?>
<p:tagLst xmlns:p="http://schemas.openxmlformats.org/presentationml/2006/main">
  <p:tag name="KSO_WM_DIAGRAM_VIRTUALLY_FRAME" val="{&quot;height&quot;:340.6363779527559,&quot;left&quot;:40.75,&quot;top&quot;:130.0136220472441,&quot;width&quot;:875}"/>
</p:tagLst>
</file>

<file path=ppt/tags/tag128.xml><?xml version="1.0" encoding="utf-8"?>
<p:tagLst xmlns:p="http://schemas.openxmlformats.org/presentationml/2006/main">
  <p:tag name="KSO_WM_DIAGRAM_VIRTUALLY_FRAME" val="{&quot;height&quot;:260,&quot;left&quot;:150,&quot;top&quot;:130,&quot;width&quot;:660}"/>
</p:tagLst>
</file>

<file path=ppt/tags/tag129.xml><?xml version="1.0" encoding="utf-8"?>
<p:tagLst xmlns:p="http://schemas.openxmlformats.org/presentationml/2006/main">
  <p:tag name="KSO_WM_DIAGRAM_VIRTUALLY_FRAME" val="{&quot;height&quot;:260,&quot;left&quot;:150,&quot;top&quot;:130,&quot;width&quot;:660}"/>
</p:tagLst>
</file>

<file path=ppt/tags/tag130.xml><?xml version="1.0" encoding="utf-8"?>
<p:tagLst xmlns:p="http://schemas.openxmlformats.org/presentationml/2006/main">
  <p:tag name="KSO_WM_DIAGRAM_VIRTUALLY_FRAME" val="{&quot;height&quot;:260,&quot;left&quot;:150,&quot;top&quot;:130,&quot;width&quot;:660}"/>
</p:tagLst>
</file>

<file path=ppt/tags/tag131.xml><?xml version="1.0" encoding="utf-8"?>
<p:tagLst xmlns:p="http://schemas.openxmlformats.org/presentationml/2006/main">
  <p:tag name="KSO_WM_DIAGRAM_VIRTUALLY_FRAME" val="{&quot;height&quot;:260,&quot;left&quot;:150,&quot;top&quot;:130,&quot;width&quot;:660}"/>
</p:tagLst>
</file>

<file path=ppt/tags/tag132.xml><?xml version="1.0" encoding="utf-8"?>
<p:tagLst xmlns:p="http://schemas.openxmlformats.org/presentationml/2006/main">
  <p:tag name="KSO_WM_DIAGRAM_VIRTUALLY_FRAME" val="{&quot;height&quot;:260,&quot;left&quot;:150,&quot;top&quot;:130,&quot;width&quot;:660}"/>
</p:tagLst>
</file>

<file path=ppt/tags/tag133.xml><?xml version="1.0" encoding="utf-8"?>
<p:tagLst xmlns:p="http://schemas.openxmlformats.org/presentationml/2006/main">
  <p:tag name="KSO_WM_DIAGRAM_VIRTUALLY_FRAME" val="{&quot;height&quot;:260,&quot;left&quot;:150,&quot;top&quot;:130,&quot;width&quot;:660}"/>
</p:tagLst>
</file>

<file path=ppt/tags/tag134.xml><?xml version="1.0" encoding="utf-8"?>
<p:tagLst xmlns:p="http://schemas.openxmlformats.org/presentationml/2006/main">
  <p:tag name="KSO_WM_DIAGRAM_VIRTUALLY_FRAME" val="{&quot;height&quot;:260,&quot;left&quot;:150,&quot;top&quot;:130,&quot;width&quot;:660}"/>
</p:tagLst>
</file>

<file path=ppt/tags/tag135.xml><?xml version="1.0" encoding="utf-8"?>
<p:tagLst xmlns:p="http://schemas.openxmlformats.org/presentationml/2006/main">
  <p:tag name="KSO_WM_DIAGRAM_VIRTUALLY_FRAME" val="{&quot;height&quot;:260,&quot;left&quot;:150,&quot;top&quot;:130,&quot;width&quot;:660}"/>
</p:tagLst>
</file>

<file path=ppt/tags/tag136.xml><?xml version="1.0" encoding="utf-8"?>
<p:tagLst xmlns:p="http://schemas.openxmlformats.org/presentationml/2006/main">
  <p:tag name="KSO_WM_DIAGRAM_VIRTUALLY_FRAME" val="{&quot;height&quot;:260,&quot;left&quot;:150,&quot;top&quot;:130,&quot;width&quot;:660}"/>
</p:tagLst>
</file>

<file path=ppt/tags/tag137.xml><?xml version="1.0" encoding="utf-8"?>
<p:tagLst xmlns:p="http://schemas.openxmlformats.org/presentationml/2006/main">
  <p:tag name="KSO_WM_DIAGRAM_VIRTUALLY_FRAME" val="{&quot;height&quot;:260,&quot;left&quot;:150,&quot;top&quot;:130,&quot;width&quot;:660}"/>
</p:tagLst>
</file>

<file path=ppt/tags/tag138.xml><?xml version="1.0" encoding="utf-8"?>
<p:tagLst xmlns:p="http://schemas.openxmlformats.org/presentationml/2006/main">
  <p:tag name="KSO_WM_DIAGRAM_VIRTUALLY_FRAME" val="{&quot;height&quot;:260,&quot;left&quot;:150,&quot;top&quot;:130,&quot;width&quot;:660}"/>
</p:tagLst>
</file>

<file path=ppt/tags/tag139.xml><?xml version="1.0" encoding="utf-8"?>
<p:tagLst xmlns:p="http://schemas.openxmlformats.org/presentationml/2006/main">
  <p:tag name="KSO_WM_DIAGRAM_VIRTUALLY_FRAME" val="{&quot;height&quot;:317.1436220472441,&quot;left&quot;:53.984724409448816,&quot;top&quot;:145.70614173228347,&quot;width&quot;:852.0305511811023}"/>
</p:tagLst>
</file>

<file path=ppt/tags/tag140.xml><?xml version="1.0" encoding="utf-8"?>
<p:tagLst xmlns:p="http://schemas.openxmlformats.org/presentationml/2006/main">
  <p:tag name="KSO_WM_DIAGRAM_VIRTUALLY_FRAME" val="{&quot;height&quot;:317.1436220472441,&quot;left&quot;:53.984724409448816,&quot;top&quot;:145.70614173228347,&quot;width&quot;:852.0305511811023}"/>
</p:tagLst>
</file>

<file path=ppt/tags/tag141.xml><?xml version="1.0" encoding="utf-8"?>
<p:tagLst xmlns:p="http://schemas.openxmlformats.org/presentationml/2006/main">
  <p:tag name="KSO_WM_DIAGRAM_VIRTUALLY_FRAME" val="{&quot;height&quot;:317.1436220472441,&quot;left&quot;:53.984724409448816,&quot;top&quot;:145.70614173228347,&quot;width&quot;:852.0305511811023}"/>
</p:tagLst>
</file>

<file path=ppt/tags/tag142.xml><?xml version="1.0" encoding="utf-8"?>
<p:tagLst xmlns:p="http://schemas.openxmlformats.org/presentationml/2006/main">
  <p:tag name="KSO_WM_DIAGRAM_VIRTUALLY_FRAME" val="{&quot;height&quot;:317.1436220472441,&quot;left&quot;:53.984724409448816,&quot;top&quot;:145.70614173228347,&quot;width&quot;:852.0305511811023}"/>
</p:tagLst>
</file>

<file path=ppt/tags/tag143.xml><?xml version="1.0" encoding="utf-8"?>
<p:tagLst xmlns:p="http://schemas.openxmlformats.org/presentationml/2006/main">
  <p:tag name="KSO_WM_DIAGRAM_VIRTUALLY_FRAME" val="{&quot;height&quot;:317.1436220472441,&quot;left&quot;:53.984724409448816,&quot;top&quot;:145.70614173228347,&quot;width&quot;:852.0305511811023}"/>
</p:tagLst>
</file>

<file path=ppt/tags/tag144.xml><?xml version="1.0" encoding="utf-8"?>
<p:tagLst xmlns:p="http://schemas.openxmlformats.org/presentationml/2006/main">
  <p:tag name="KSO_WM_DIAGRAM_VIRTUALLY_FRAME" val="{&quot;height&quot;:317.1436220472441,&quot;left&quot;:53.984724409448816,&quot;top&quot;:145.70614173228347,&quot;width&quot;:852.0305511811023}"/>
</p:tagLst>
</file>

<file path=ppt/tags/tag145.xml><?xml version="1.0" encoding="utf-8"?>
<p:tagLst xmlns:p="http://schemas.openxmlformats.org/presentationml/2006/main">
  <p:tag name="KSO_WM_DIAGRAM_VIRTUALLY_FRAME" val="{&quot;height&quot;:287.3,&quot;left&quot;:55.45,&quot;top&quot;:102.7,&quot;width&quot;:844.55}"/>
</p:tagLst>
</file>

<file path=ppt/tags/tag146.xml><?xml version="1.0" encoding="utf-8"?>
<p:tagLst xmlns:p="http://schemas.openxmlformats.org/presentationml/2006/main">
  <p:tag name="KSO_WM_DIAGRAM_VIRTUALLY_FRAME" val="{&quot;height&quot;:287.3,&quot;left&quot;:55.45,&quot;top&quot;:102.7,&quot;width&quot;:844.55}"/>
</p:tagLst>
</file>

<file path=ppt/tags/tag147.xml><?xml version="1.0" encoding="utf-8"?>
<p:tagLst xmlns:p="http://schemas.openxmlformats.org/presentationml/2006/main">
  <p:tag name="KSO_WM_DIAGRAM_VIRTUALLY_FRAME" val="{&quot;height&quot;:287.3,&quot;left&quot;:55.45,&quot;top&quot;:102.7,&quot;width&quot;:844.55}"/>
</p:tagLst>
</file>

<file path=ppt/tags/tag148.xml><?xml version="1.0" encoding="utf-8"?>
<p:tagLst xmlns:p="http://schemas.openxmlformats.org/presentationml/2006/main">
  <p:tag name="KSO_WM_DIAGRAM_VIRTUALLY_FRAME" val="{&quot;height&quot;:287.3,&quot;left&quot;:55.45,&quot;top&quot;:102.7,&quot;width&quot;:844.55}"/>
</p:tagLst>
</file>

<file path=ppt/tags/tag149.xml><?xml version="1.0" encoding="utf-8"?>
<p:tagLst xmlns:p="http://schemas.openxmlformats.org/presentationml/2006/main">
  <p:tag name="KSO_WM_DIAGRAM_VIRTUALLY_FRAME" val="{&quot;height&quot;:287.3,&quot;left&quot;:55.45,&quot;top&quot;:102.7,&quot;width&quot;:844.55}"/>
</p:tagLst>
</file>

<file path=ppt/tags/tag150.xml><?xml version="1.0" encoding="utf-8"?>
<p:tagLst xmlns:p="http://schemas.openxmlformats.org/presentationml/2006/main">
  <p:tag name="KSO_WM_DIAGRAM_VIRTUALLY_FRAME" val="{&quot;height&quot;:287.3,&quot;left&quot;:55.45,&quot;top&quot;:102.7,&quot;width&quot;:844.55}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DIAGRAM_VIRTUALLY_FRAME" val="{&quot;height&quot;:60,&quot;left&quot;:200.0000039968034,&quot;top&quot;:190,&quot;width&quot;:679.9999960031967}"/>
</p:tagLst>
</file>

<file path=ppt/tags/tag153.xml><?xml version="1.0" encoding="utf-8"?>
<p:tagLst xmlns:p="http://schemas.openxmlformats.org/presentationml/2006/main">
  <p:tag name="KSO_WM_DIAGRAM_VIRTUALLY_FRAME" val="{&quot;height&quot;:60,&quot;left&quot;:200.0000039968034,&quot;top&quot;:190,&quot;width&quot;:679.9999960031967}"/>
</p:tagLst>
</file>

<file path=ppt/tags/tag154.xml><?xml version="1.0" encoding="utf-8"?>
<p:tagLst xmlns:p="http://schemas.openxmlformats.org/presentationml/2006/main">
  <p:tag name="KSO_WM_DIAGRAM_VIRTUALLY_FRAME" val="{&quot;height&quot;:60,&quot;left&quot;:200.0000039968034,&quot;top&quot;:190,&quot;width&quot;:679.9999960031967}"/>
</p:tagLst>
</file>

<file path=ppt/tags/tag155.xml><?xml version="1.0" encoding="utf-8"?>
<p:tagLst xmlns:p="http://schemas.openxmlformats.org/presentationml/2006/main">
  <p:tag name="KSO_WM_DIAGRAM_VIRTUALLY_FRAME" val="{&quot;height&quot;:60,&quot;left&quot;:200.0000039968034,&quot;top&quot;:190,&quot;width&quot;:679.9999960031967}"/>
</p:tagLst>
</file>

<file path=ppt/tags/tag156.xml><?xml version="1.0" encoding="utf-8"?>
<p:tagLst xmlns:p="http://schemas.openxmlformats.org/presentationml/2006/main">
  <p:tag name="KSO_WM_DIAGRAM_VIRTUALLY_FRAME" val="{&quot;height&quot;:60,&quot;left&quot;:200.0000039968034,&quot;top&quot;:190,&quot;width&quot;:679.9999960031967}"/>
</p:tagLst>
</file>

<file path=ppt/tags/tag157.xml><?xml version="1.0" encoding="utf-8"?>
<p:tagLst xmlns:p="http://schemas.openxmlformats.org/presentationml/2006/main">
  <p:tag name="KSO_WM_DIAGRAM_VIRTUALLY_FRAME" val="{&quot;height&quot;:60,&quot;left&quot;:200.0000039968034,&quot;top&quot;:190,&quot;width&quot;:679.9999960031967}"/>
</p:tagLst>
</file>

<file path=ppt/tags/tag158.xml><?xml version="1.0" encoding="utf-8"?>
<p:tagLst xmlns:p="http://schemas.openxmlformats.org/presentationml/2006/main">
  <p:tag name="KSO_WM_DIAGRAM_VIRTUALLY_FRAME" val="{&quot;height&quot;:60,&quot;left&quot;:200.0000039968034,&quot;top&quot;:190,&quot;width&quot;:679.9999960031967}"/>
</p:tagLst>
</file>

<file path=ppt/tags/tag159.xml><?xml version="1.0" encoding="utf-8"?>
<p:tagLst xmlns:p="http://schemas.openxmlformats.org/presentationml/2006/main">
  <p:tag name="KSO_WM_DIAGRAM_VIRTUALLY_FRAME" val="{&quot;height&quot;:60,&quot;left&quot;:200.0000039968034,&quot;top&quot;:190,&quot;width&quot;:679.9999960031967}"/>
</p:tagLst>
</file>

<file path=ppt/tags/tag160.xml><?xml version="1.0" encoding="utf-8"?>
<p:tagLst xmlns:p="http://schemas.openxmlformats.org/presentationml/2006/main">
  <p:tag name="KSO_WM_DIAGRAM_VIRTUALLY_FRAME" val="{&quot;height&quot;:60,&quot;left&quot;:200.0000039968034,&quot;top&quot;:190,&quot;width&quot;:679.9999960031967}"/>
</p:tagLst>
</file>

<file path=ppt/tags/tag161.xml><?xml version="1.0" encoding="utf-8"?>
<p:tagLst xmlns:p="http://schemas.openxmlformats.org/presentationml/2006/main">
  <p:tag name="KSO_WM_DIAGRAM_VIRTUALLY_FRAME" val="{&quot;height&quot;:60,&quot;left&quot;:200.0000039968034,&quot;top&quot;:190,&quot;width&quot;:679.9999960031967}"/>
</p:tagLst>
</file>

<file path=ppt/tags/tag162.xml><?xml version="1.0" encoding="utf-8"?>
<p:tagLst xmlns:p="http://schemas.openxmlformats.org/presentationml/2006/main">
  <p:tag name="KSO_WM_DIAGRAM_VIRTUALLY_FRAME" val="{&quot;height&quot;:60,&quot;left&quot;:200.0000039968034,&quot;top&quot;:190,&quot;width&quot;:679.9999960031967}"/>
</p:tagLst>
</file>

<file path=ppt/tags/tag163.xml><?xml version="1.0" encoding="utf-8"?>
<p:tagLst xmlns:p="http://schemas.openxmlformats.org/presentationml/2006/main">
  <p:tag name="KSO_WM_DIAGRAM_VIRTUALLY_FRAME" val="{&quot;height&quot;:60,&quot;left&quot;:200.0000039968034,&quot;top&quot;:190,&quot;width&quot;:679.9999960031967}"/>
</p:tagLst>
</file>

<file path=ppt/tags/tag164.xml><?xml version="1.0" encoding="utf-8"?>
<p:tagLst xmlns:p="http://schemas.openxmlformats.org/presentationml/2006/main">
  <p:tag name="KSO_WM_DIAGRAM_VIRTUALLY_FRAME" val="{&quot;height&quot;:180,&quot;left&quot;:40.75,&quot;top&quot;:130,&quot;width&quot;:859.3}"/>
</p:tagLst>
</file>

<file path=ppt/tags/tag165.xml><?xml version="1.0" encoding="utf-8"?>
<p:tagLst xmlns:p="http://schemas.openxmlformats.org/presentationml/2006/main">
  <p:tag name="KSO_WM_DIAGRAM_VIRTUALLY_FRAME" val="{&quot;height&quot;:180,&quot;left&quot;:40.75,&quot;top&quot;:130,&quot;width&quot;:859.3}"/>
</p:tagLst>
</file>

<file path=ppt/tags/tag166.xml><?xml version="1.0" encoding="utf-8"?>
<p:tagLst xmlns:p="http://schemas.openxmlformats.org/presentationml/2006/main">
  <p:tag name="KSO_WM_DIAGRAM_VIRTUALLY_FRAME" val="{&quot;height&quot;:180,&quot;left&quot;:40.75,&quot;top&quot;:130,&quot;width&quot;:859.3}"/>
</p:tagLst>
</file>

<file path=ppt/tags/tag167.xml><?xml version="1.0" encoding="utf-8"?>
<p:tagLst xmlns:p="http://schemas.openxmlformats.org/presentationml/2006/main">
  <p:tag name="KSO_WM_DIAGRAM_VIRTUALLY_FRAME" val="{&quot;height&quot;:180,&quot;left&quot;:40.75,&quot;top&quot;:130,&quot;width&quot;:859.3}"/>
</p:tagLst>
</file>

<file path=ppt/tags/tag168.xml><?xml version="1.0" encoding="utf-8"?>
<p:tagLst xmlns:p="http://schemas.openxmlformats.org/presentationml/2006/main">
  <p:tag name="KSO_WM_DIAGRAM_VIRTUALLY_FRAME" val="{&quot;height&quot;:180,&quot;left&quot;:40.75,&quot;top&quot;:130,&quot;width&quot;:859.3}"/>
</p:tagLst>
</file>

<file path=ppt/tags/tag169.xml><?xml version="1.0" encoding="utf-8"?>
<p:tagLst xmlns:p="http://schemas.openxmlformats.org/presentationml/2006/main">
  <p:tag name="KSO_WM_DIAGRAM_VIRTUALLY_FRAME" val="{&quot;height&quot;:180,&quot;left&quot;:40.75,&quot;top&quot;:130,&quot;width&quot;:859.3}"/>
</p:tagLst>
</file>

<file path=ppt/tags/tag170.xml><?xml version="1.0" encoding="utf-8"?>
<p:tagLst xmlns:p="http://schemas.openxmlformats.org/presentationml/2006/main">
  <p:tag name="KSO_WM_DIAGRAM_VIRTUALLY_FRAME" val="{&quot;height&quot;:180,&quot;left&quot;:40.75,&quot;top&quot;:130,&quot;width&quot;:859.3}"/>
</p:tagLst>
</file>

<file path=ppt/tags/tag171.xml><?xml version="1.0" encoding="utf-8"?>
<p:tagLst xmlns:p="http://schemas.openxmlformats.org/presentationml/2006/main">
  <p:tag name="KSO_WM_DIAGRAM_VIRTUALLY_FRAME" val="{&quot;height&quot;:180,&quot;left&quot;:40.75,&quot;top&quot;:130,&quot;width&quot;:859.3}"/>
</p:tagLst>
</file>

<file path=ppt/tags/tag172.xml><?xml version="1.0" encoding="utf-8"?>
<p:tagLst xmlns:p="http://schemas.openxmlformats.org/presentationml/2006/main">
  <p:tag name="KSO_WM_DIAGRAM_VIRTUALLY_FRAME" val="{&quot;height&quot;:425.75,&quot;left&quot;:60,&quot;top&quot;:120,&quot;width&quot;:840}"/>
</p:tagLst>
</file>

<file path=ppt/tags/tag173.xml><?xml version="1.0" encoding="utf-8"?>
<p:tagLst xmlns:p="http://schemas.openxmlformats.org/presentationml/2006/main">
  <p:tag name="KSO_WM_DIAGRAM_VIRTUALLY_FRAME" val="{&quot;height&quot;:425.75,&quot;left&quot;:60,&quot;top&quot;:120,&quot;width&quot;:840}"/>
</p:tagLst>
</file>

<file path=ppt/tags/tag174.xml><?xml version="1.0" encoding="utf-8"?>
<p:tagLst xmlns:p="http://schemas.openxmlformats.org/presentationml/2006/main">
  <p:tag name="KSO_WM_DIAGRAM_VIRTUALLY_FRAME" val="{&quot;height&quot;:425.75,&quot;left&quot;:60,&quot;top&quot;:120,&quot;width&quot;:840}"/>
</p:tagLst>
</file>

<file path=ppt/tags/tag175.xml><?xml version="1.0" encoding="utf-8"?>
<p:tagLst xmlns:p="http://schemas.openxmlformats.org/presentationml/2006/main">
  <p:tag name="KSO_WM_DIAGRAM_VIRTUALLY_FRAME" val="{&quot;height&quot;:425.75,&quot;left&quot;:60,&quot;top&quot;:120,&quot;width&quot;:840}"/>
</p:tagLst>
</file>

<file path=ppt/tags/tag176.xml><?xml version="1.0" encoding="utf-8"?>
<p:tagLst xmlns:p="http://schemas.openxmlformats.org/presentationml/2006/main">
  <p:tag name="KSO_WM_DIAGRAM_VIRTUALLY_FRAME" val="{&quot;height&quot;:425.75,&quot;left&quot;:60,&quot;top&quot;:120,&quot;width&quot;:840}"/>
</p:tagLst>
</file>

<file path=ppt/tags/tag177.xml><?xml version="1.0" encoding="utf-8"?>
<p:tagLst xmlns:p="http://schemas.openxmlformats.org/presentationml/2006/main">
  <p:tag name="KSO_WM_DIAGRAM_VIRTUALLY_FRAME" val="{&quot;height&quot;:425.75,&quot;left&quot;:60,&quot;top&quot;:120,&quot;width&quot;:840}"/>
</p:tagLst>
</file>

<file path=ppt/tags/tag178.xml><?xml version="1.0" encoding="utf-8"?>
<p:tagLst xmlns:p="http://schemas.openxmlformats.org/presentationml/2006/main">
  <p:tag name="KSO_WM_DIAGRAM_VIRTUALLY_FRAME" val="{&quot;height&quot;:320,&quot;left&quot;:46.65,&quot;top&quot;:120,&quot;width&quot;:861.3}"/>
</p:tagLst>
</file>

<file path=ppt/tags/tag179.xml><?xml version="1.0" encoding="utf-8"?>
<p:tagLst xmlns:p="http://schemas.openxmlformats.org/presentationml/2006/main">
  <p:tag name="KSO_WM_DIAGRAM_VIRTUALLY_FRAME" val="{&quot;height&quot;:320,&quot;left&quot;:46.65,&quot;top&quot;:120,&quot;width&quot;:861.3}"/>
</p:tagLst>
</file>

<file path=ppt/tags/tag180.xml><?xml version="1.0" encoding="utf-8"?>
<p:tagLst xmlns:p="http://schemas.openxmlformats.org/presentationml/2006/main">
  <p:tag name="KSO_WM_DIAGRAM_VIRTUALLY_FRAME" val="{&quot;height&quot;:320,&quot;left&quot;:46.65,&quot;top&quot;:120,&quot;width&quot;:861.3}"/>
</p:tagLst>
</file>

<file path=ppt/tags/tag181.xml><?xml version="1.0" encoding="utf-8"?>
<p:tagLst xmlns:p="http://schemas.openxmlformats.org/presentationml/2006/main">
  <p:tag name="KSO_WM_DIAGRAM_VIRTUALLY_FRAME" val="{&quot;height&quot;:320,&quot;left&quot;:46.65,&quot;top&quot;:120,&quot;width&quot;:861.3}"/>
</p:tagLst>
</file>

<file path=ppt/tags/tag182.xml><?xml version="1.0" encoding="utf-8"?>
<p:tagLst xmlns:p="http://schemas.openxmlformats.org/presentationml/2006/main">
  <p:tag name="KSO_WM_DIAGRAM_VIRTUALLY_FRAME" val="{&quot;height&quot;:320,&quot;left&quot;:46.65,&quot;top&quot;:120,&quot;width&quot;:861.3}"/>
</p:tagLst>
</file>

<file path=ppt/tags/tag183.xml><?xml version="1.0" encoding="utf-8"?>
<p:tagLst xmlns:p="http://schemas.openxmlformats.org/presentationml/2006/main">
  <p:tag name="KSO_WM_DIAGRAM_VIRTUALLY_FRAME" val="{&quot;height&quot;:320,&quot;left&quot;:46.65,&quot;top&quot;:120,&quot;width&quot;:861.3}"/>
</p:tagLst>
</file>

<file path=ppt/tags/tag184.xml><?xml version="1.0" encoding="utf-8"?>
<p:tagLst xmlns:p="http://schemas.openxmlformats.org/presentationml/2006/main">
  <p:tag name="resource_record_key" val="{&quot;10&quot;:[19983986]}"/>
</p:tagLst>
</file>

<file path=ppt/theme/theme1.xml><?xml version="1.0" encoding="utf-8"?>
<a:theme xmlns:a="http://schemas.openxmlformats.org/drawingml/2006/main" name="第一PPT，www.1ppt.com">
  <a:themeElements>
    <a:clrScheme name="自定义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84B7A"/>
      </a:accent1>
      <a:accent2>
        <a:srgbClr val="6B92C4"/>
      </a:accent2>
      <a:accent3>
        <a:srgbClr val="284B7A"/>
      </a:accent3>
      <a:accent4>
        <a:srgbClr val="6B92C4"/>
      </a:accent4>
      <a:accent5>
        <a:srgbClr val="284B7A"/>
      </a:accent5>
      <a:accent6>
        <a:srgbClr val="6B92C4"/>
      </a:accent6>
      <a:hlink>
        <a:srgbClr val="CC6600"/>
      </a:hlink>
      <a:folHlink>
        <a:srgbClr val="CC3300"/>
      </a:folHlink>
    </a:clrScheme>
    <a:fontScheme name="自定义 8">
      <a:majorFont>
        <a:latin typeface="等线 Light"/>
        <a:ea typeface="思源宋体 CN Heavy"/>
        <a:cs typeface=""/>
      </a:majorFont>
      <a:minorFont>
        <a:latin typeface="等线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第一PPT，www.1ppt.com">
  <a:themeElements>
    <a:clrScheme name="自定义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84B7A"/>
      </a:accent1>
      <a:accent2>
        <a:srgbClr val="6B92C4"/>
      </a:accent2>
      <a:accent3>
        <a:srgbClr val="284B7A"/>
      </a:accent3>
      <a:accent4>
        <a:srgbClr val="6B92C4"/>
      </a:accent4>
      <a:accent5>
        <a:srgbClr val="284B7A"/>
      </a:accent5>
      <a:accent6>
        <a:srgbClr val="6B92C4"/>
      </a:accent6>
      <a:hlink>
        <a:srgbClr val="CC6600"/>
      </a:hlink>
      <a:folHlink>
        <a:srgbClr val="CC3300"/>
      </a:folHlink>
    </a:clrScheme>
    <a:fontScheme name="自定义 8">
      <a:majorFont>
        <a:latin typeface="等线 Light"/>
        <a:ea typeface="思源宋体 CN Heavy"/>
        <a:cs typeface=""/>
      </a:majorFont>
      <a:minorFont>
        <a:latin typeface="等线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6895</Words>
  <Application>WPS 演示</Application>
  <PresentationFormat>自定义</PresentationFormat>
  <Paragraphs>727</Paragraphs>
  <Slides>33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33</vt:i4>
      </vt:variant>
    </vt:vector>
  </HeadingPairs>
  <TitlesOfParts>
    <vt:vector size="79" baseType="lpstr">
      <vt:lpstr>Arial</vt:lpstr>
      <vt:lpstr>宋体</vt:lpstr>
      <vt:lpstr>Wingdings</vt:lpstr>
      <vt:lpstr>微软雅黑</vt:lpstr>
      <vt:lpstr>黑体</vt:lpstr>
      <vt:lpstr>锐字奥运精神拼搏简免费-闪</vt:lpstr>
      <vt:lpstr>阿里巴巴普惠体 Heavy</vt:lpstr>
      <vt:lpstr>思源黑体</vt:lpstr>
      <vt:lpstr>FontAwesome</vt:lpstr>
      <vt:lpstr>Kozuka Mincho Pro H</vt:lpstr>
      <vt:lpstr>Adobe Myungjo Std M</vt:lpstr>
      <vt:lpstr>Arial</vt:lpstr>
      <vt:lpstr>阿里巴巴普惠体 Medium</vt:lpstr>
      <vt:lpstr>等线</vt:lpstr>
      <vt:lpstr>阿里巴巴普惠体</vt:lpstr>
      <vt:lpstr>AMGDT</vt:lpstr>
      <vt:lpstr>Arial Unicode MS</vt:lpstr>
      <vt:lpstr>Calibri</vt:lpstr>
      <vt:lpstr>思源黑体 CN Regular</vt:lpstr>
      <vt:lpstr>思源宋体 CN Heavy</vt:lpstr>
      <vt:lpstr>阿里巴巴普惠体</vt:lpstr>
      <vt:lpstr>字魂105号-简雅黑</vt:lpstr>
      <vt:lpstr>KSOFE22CBF3B</vt:lpstr>
      <vt:lpstr>字魂105号-简雅黑</vt:lpstr>
      <vt:lpstr>思源宋体 CN Heavy</vt:lpstr>
      <vt:lpstr>思源黑体</vt:lpstr>
      <vt:lpstr>思源黑体 CN Regular</vt:lpstr>
      <vt:lpstr>阿里巴巴普惠体 Heavy</vt:lpstr>
      <vt:lpstr>阿里巴巴普惠体 Medium</vt:lpstr>
      <vt:lpstr>方正健力体 简 Heavy</vt:lpstr>
      <vt:lpstr>方正悠黑体</vt:lpstr>
      <vt:lpstr>Blues</vt:lpstr>
      <vt:lpstr>方正非凡体简体 Medium</vt:lpstr>
      <vt:lpstr>阿里巴巴和七个小矮人</vt:lpstr>
      <vt:lpstr>锦绣宋体</vt:lpstr>
      <vt:lpstr>字小魂简雅黑</vt:lpstr>
      <vt:lpstr>Noto Sans SC</vt:lpstr>
      <vt:lpstr>思源黑体 CN Bold</vt:lpstr>
      <vt:lpstr>思源黑体 CN Normal</vt:lpstr>
      <vt:lpstr>KSOFD723FC5D</vt:lpstr>
      <vt:lpstr>KSOFD72470BC</vt:lpstr>
      <vt:lpstr>Cambria Math</vt:lpstr>
      <vt:lpstr>KSOFE22D339A</vt:lpstr>
      <vt:lpstr>第一PPT，www.1ppt.com</vt:lpstr>
      <vt:lpstr>自定义设计方案</vt:lpstr>
      <vt:lpstr>1_第一PPT，www.1ppt.com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年中总结</dc:title>
  <dc:creator>第一PPT，www.1ppt.com</dc:creator>
  <cp:keywords>www.1ppt.com</cp:keywords>
  <dc:description>第一PPT</dc:description>
  <cp:lastModifiedBy>WPS_1650204670</cp:lastModifiedBy>
  <cp:revision>20</cp:revision>
  <dcterms:created xsi:type="dcterms:W3CDTF">2025-06-09T03:16:00Z</dcterms:created>
  <dcterms:modified xsi:type="dcterms:W3CDTF">2026-10-16T02:13:17Z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9555C693266048D6A977B5625D12A7E3_13</vt:lpwstr>
  </property>
  <property fmtid="{D5CDD505-2E9C-101B-9397-08002B2CF9AE}" pid="3" name="KSOProductBuildVer">
    <vt:lpwstr>2052-12.1.0.28505</vt:lpwstr>
  </property>
</Properties>
</file>